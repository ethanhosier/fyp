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Divergence points per session (per participant)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(per participant)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5.67</c:v>
                </c:pt>
                <c:pt idx="2">
                  <c:v>3.67</c:v>
                </c:pt>
                <c:pt idx="3">
                  <c:v>0</c:v>
                </c:pt>
                <c:pt idx="4">
                  <c:v>2.33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(per participant)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7.5</c:v>
                </c:pt>
                <c:pt idx="2">
                  <c:v>9.5</c:v>
                </c:pt>
                <c:pt idx="3">
                  <c:v>0</c:v>
                </c:pt>
                <c:pt idx="4">
                  <c:v>6.5</c:v>
                </c:pt>
                <c:pt idx="5">
                  <c:v>7.5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Production-weighted process score (with cleanliness gain)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13.7</c:v>
                </c:pt>
                <c:pt idx="1">
                  <c:v>66.7</c:v>
                </c:pt>
                <c:pt idx="2">
                  <c:v>33</c:v>
                </c:pt>
                <c:pt idx="3">
                  <c:v>89.7</c:v>
                </c:pt>
                <c:pt idx="4">
                  <c:v>32</c:v>
                </c:pt>
                <c:pt idx="5">
                  <c:v>48.3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11.5</c:v>
                </c:pt>
                <c:pt idx="1">
                  <c:v>20</c:v>
                </c:pt>
                <c:pt idx="2">
                  <c:v>15.5</c:v>
                </c:pt>
                <c:pt idx="3">
                  <c:v>76.5</c:v>
                </c:pt>
                <c:pt idx="4">
                  <c:v>44.5</c:v>
                </c:pt>
                <c:pt idx="5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33333"/>
                </a:solidFill>
                <a:latin typeface="Arial"/>
              </a:rPr>
              <a:t>Gain-stripped process score (W_g = W_lag = 0)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</c:v>
                </c:pt>
              </c:strCache>
            </c:strRef>
          </c:tx>
          <c:spPr>
            <a:solidFill>
              <a:srgbClr val="1F3F6F"/>
            </a:solidFill>
            <a:ln w="3810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26.7</c:v>
                </c:pt>
                <c:pt idx="1">
                  <c:v>22</c:v>
                </c:pt>
                <c:pt idx="2">
                  <c:v>38.7</c:v>
                </c:pt>
                <c:pt idx="3">
                  <c:v>47.7</c:v>
                </c:pt>
                <c:pt idx="4">
                  <c:v>36.7</c:v>
                </c:pt>
                <c:pt idx="5">
                  <c:v>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</c:v>
                </c:pt>
              </c:strCache>
            </c:strRef>
          </c:tx>
          <c:spPr>
            <a:solidFill>
              <a:srgbClr val="B25500"/>
            </a:solidFill>
            <a:ln w="3810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22.5</c:v>
                </c:pt>
                <c:pt idx="1">
                  <c:v>17.5</c:v>
                </c:pt>
                <c:pt idx="2">
                  <c:v>11</c:v>
                </c:pt>
                <c:pt idx="3">
                  <c:v>39</c:v>
                </c:pt>
                <c:pt idx="4">
                  <c:v>16.5</c:v>
                </c:pt>
                <c:pt idx="5">
                  <c:v>20.5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3333"/>
                </a:solidFill>
                <a:latin typeface="Arial"/>
              </a:rPr>
              <a:t>Gain-stripped score (same scale as user study)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Feedback mean (n=6)</c:v>
                </c:pt>
              </c:strCache>
            </c:strRef>
          </c:tx>
          <c:spPr>
            <a:solidFill>
              <a:srgbClr val="1F3F6F"/>
            </a:solidFill>
            <a:ln w="31750" cap="flat">
              <a:solidFill>
                <a:srgbClr val="1F3F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F6F"/>
              </a:solidFill>
              <a:ln w="9525" cap="flat">
                <a:solidFill>
                  <a:srgbClr val="1F3F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36.7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42</c:v>
                </c:pt>
                <c:pt idx="5">
                  <c:v>39.7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Baseline mean (n=2)</c:v>
                </c:pt>
              </c:strCache>
            </c:strRef>
          </c:tx>
          <c:spPr>
            <a:solidFill>
              <a:srgbClr val="B25500"/>
            </a:solidFill>
            <a:ln w="31750" cap="flat">
              <a:solidFill>
                <a:srgbClr val="B255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25500"/>
              </a:solidFill>
              <a:ln w="9525" cap="flat">
                <a:solidFill>
                  <a:srgbClr val="B255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  <c:pt idx="4">
                    <c:v>S5</c:v>
                  </c:pt>
                  <c:pt idx="5">
                    <c:v>S6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34.5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42</c:v>
                </c:pt>
                <c:pt idx="5">
                  <c:v>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one number per trajectory so sessions can be compared.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Builds on composite quality models (Quamoco, QMOOD), adapted from snapshot- to trajectory-level.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zero extra developer effort to use the tool.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IDE-event logging is a known-feasible approach (Damevski et al., CodeWatcher).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point to a specific moment AND a "what you could have done instead" alternative.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Inverts prior refactoring recommenders (ReSynth, Refactoring Navigator, search-based refactoring): the synthesised sequence becomes the comparison point against an observed trace.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28016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gain*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* cleanliness gain = mean of 6 normalised signals: complexity, coupling, duplication, readability, smells, cohesion.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All 6 weighted equally - no trajectory-level calibration data exists, so equal weights are the least-assumptive choice.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cleanliness sub-score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Six equally-weighted code-quality signals.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Cognitive complexity, coupling (CBO), duplication (CPD), readability, code smells (PMD), cohesion (TCC).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Normalised against the trajectory's own range, so different sessions are comparable.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Equal weights are justified: no trajectory-level calibration data exists, so equal weights are the least-assumptive choice.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-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Comparable divergence magnitudes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Magnitude = J(τ*_final) − J(τ_final).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score gap when the alternative is substituted at the divergence point but the rest of the user's trajectory is left unchanged.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Makes magnitudes comparable across all four divergence kinds.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Lets the dashboard surface each divergence point alongside its score impact, so the highest-impact moments are easy to spot in the session summary.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number the demo will point at.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Are the synthesised alternatives actually better than what the user did?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sessions: per-kind precision and recall (Slides 16-17) plus beat/tie/lose breakdown across all 66 detected divergence points (Slide 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Sensitivity sweep + ablation, headline on the 25-session user-study rankable subset (Slides 19-20).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5 participants split between feedback and no-feedback arms (Slide 21).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tool accurate?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45 hand-labelled injection sessions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on a Java codebase.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3 raters (author + 2 external MEng cohort members)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inter-rater Cohen's κ = 1.00 (Ordering, Manual-Refactor), 0.86–1.00 (Rework), 0.72–0.86 (Hygiene).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Disagreements predominantly surrounding hygiene + rework labels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differences in opinion of what constitutes a step.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Track all divergence points detected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not only ones with a higher process score than the user.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Measure precision + recall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precision guards against FPs that waste the developer's attention. Recall guards against FNs that miss real opportunities. F1 averages the two - so a high score can hide a detector that's annoying users (lots of FPs) or one that's quietly missing things (lots of FNs). Accuracy is dominated by true negatives.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Decision matrix per divergence kind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</a:rPr>
              <a:t>Session-level (45 injection sessions).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Manual-Refactor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31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0.76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Ordering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46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548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0.36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31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9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7548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Hygiene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303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46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548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548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8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47548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Ordering recall is the outlier: the reorder synthesiser's splitOnInvalid validator rejects any window containing a step it cannot safely.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Are the alternatives actually better?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41 of 66 synthesised alternatives strictly beat the user's trajectory (~62%). Quality varies sharply by kind.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"/>
                <a:gridCol w="1005840"/>
                <a:gridCol w="914400"/>
                <a:gridCol w="1005840"/>
                <a:gridCol w="10972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DPs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Beats ✓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Ties =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Loses ✗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 rate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Max Δ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Hygiene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Manual-Refactor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75%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+23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Rework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46%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+8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Ordering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42%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Ordering alternatives share the end state, so only W_lag (intermediate cleanliness) can separate them. They tie when intermediate cleanliness is identical - often when build/tests broke and cleanliness stats are frozen at the last trustworthy value. </a:t>
            </a:r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Manual-Refactor's 3 ties + 1 loss come from the [0,100] score clamp - the user's score is pinned at the floor, so the IDE alternative can't score lower either.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process score reliable?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Two perturbation sweeps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single-knob (one weight scaled ×0.1 to ×10) + multi-knob Monte Carlo (200 samples, σ = ln 2, so ~×0.25 to ×4 of production).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Stability metrics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top-1 hit rate (does the top-ranked DP stay on top?) + Kendall's τ-b on per-session rankings.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Process-side ablation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enumerate all 2⁷ = 128 subsets of the 7 process weights → 5,760 cases per session set.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Recovery metrics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sum-over-sum magnitude recovery (does the term carry signal?) + leave-one-out Kendall's τ-b (does removing it reshuffle rankings?).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is locally robust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Single-knob: 96.5% top-1 preserved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top-ranked DP rarely changes under any one-weight perturbation. Only 1.8% of cases are clamp-frozen, so this is genuine response - not a clamp artefact.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Multi-knob: 84.6% top-1 preserved (τ-b = 0.586)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when all weights move at once, top-1 holds in ~85% of cases and ~79% of pairs still rank in the same order. Meaningful correlation, not full preservation.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Length is the rank-carrier (LOO τ-b = 0.527)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removing length reshuffles the per-session ranking more than removing any other process term - the most influential term.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Cleanliness sub-weights: ≤ 0.9% top-1 disruption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perturbing any single one of the 6 cleanliness signals barely shifts the ranking (~10× less than process weights), so equal-weights for the sub-signals is defensible.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Does dashboard feedback change developer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did we design the study?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5 MEng Computing participants, 6 sessions each, on an order-processing codebase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- 30 sessions total on user-study-fixture/ (separate from the labelled-injection codebase).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Randomised into 2 arms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P1, P2, P3 see dashboard feedback between sessions; P4 and P5 don't. Same playbook, codebase, instrumentation.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What did we measure?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Divergence-point count per session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does the detector still surface the same kinds of friction over time?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Process score across the arc, two views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the production score, plus a gain-stripped variant (W_g = W_lag = 0) that isolates how the participant worked from how much cleaner the code ended up.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Random assignment, n = 3 vs n = 2. Treated as a directional finding, not a hypothesis test.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Fewer divergences with feedback - but the raw score is noisy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274320" y="86868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86868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4069080"/>
            <a:ext cx="82296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DP rate separates clearly: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2.7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(feedback) vs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6.0</a:t>
            </a:r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 DPs per session per participant - 2.2× difference.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But the production-weighted score is dominated by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</a:rPr>
              <a:t>task difficulty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- both groups peak at S4 (a short, mechanical task) and dip together at S2/S5. The behavioural signal is buried in the cleanliness gain.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Strip the task signal - process discipline emerges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1554480" y="77724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069080"/>
            <a:ext cx="822960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Once cleanliness gain is removed, the score reflects </a:t>
            </a:r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</a:rPr>
              <a:t>how disciplined the process was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- tests run, IDE refactorings used, commits at sensible points. The feedback group climbs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+22.3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across the arc; the baseline group moves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−2.0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n = 3 vs n = 2 - directional finding, not a hypothesis test.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Tool doesn't transfer cleanly to agent traces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48 sessions, 8 agents (Claude / GPT / Gemini × Claude Code / OpenCode / Cursor CLI), same playbook as the user study.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51560"/>
          <a:ext cx="42062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251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2331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under-fires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Manual-Refactor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edits, not IDE menu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Hygiene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batched commits don't trip threshold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bursts collapse to 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burst-collapse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3931920"/>
            <a:ext cx="822960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Score is blind to the difference: 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feedback ΔJ </a:t>
            </a:r>
            <a:pPr algn="ctr" indent="0" marL="0">
              <a:buNone/>
            </a:pPr>
            <a:r>
              <a:rPr lang="en-US" sz="1200" b="1" dirty="0">
                <a:solidFill>
                  <a:srgbClr val="1F3F6F"/>
                </a:solidFill>
              </a:rPr>
              <a:t>+3.0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vs baseline </a:t>
            </a:r>
            <a:pPr algn="ctr" indent="0" marL="0">
              <a:buNone/>
            </a:pPr>
            <a:r>
              <a:rPr lang="en-US" sz="1200" b="1" dirty="0">
                <a:solidFill>
                  <a:srgbClr val="B25500"/>
                </a:solidFill>
              </a:rPr>
              <a:t>+6.5</a:t>
            </a:r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000000"/>
                </a:solidFill>
              </a:rPr>
              <a:t>. Yet 5 of 6 agents wrote explicit "I'll do X next session" plans citing prior warnings - the detectors just can't see those changes happen.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Scope limit by design - adapting detectors for agent traces is future work.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2026-06-20T19:12:42Z</dcterms:created>
  <dcterms:modified xsi:type="dcterms:W3CDTF">2026-06-20T19:12:42Z</dcterms:modified>
</cp:coreProperties>
</file>