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notesSlides/notesSlide25.xml" ContentType="application/vnd.openxmlformats-officedocument.presentationml.notesSlide+xml"/>
  <Override PartName="/ppt/charts/chart3.xml" ContentType="application/vnd.openxmlformats-officedocument.drawingml.chart+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charts/chart4.xml" ContentType="application/vnd.openxmlformats-officedocument.drawingml.chart+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53" d="100"/>
          <a:sy n="53" d="100"/>
        </p:scale>
        <p:origin x="-232" y="22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100" b="0" i="0" u="none" strike="noStrike">
                <a:solidFill>
                  <a:srgbClr val="333333"/>
                </a:solidFill>
                <a:latin typeface="Arial"/>
              </a:defRPr>
            </a:pPr>
            <a:r>
              <a:rPr lang="en-GB" sz="1100" b="0" i="0" u="none" strike="noStrike">
                <a:solidFill>
                  <a:srgbClr val="333333"/>
                </a:solidFill>
                <a:latin typeface="Arial"/>
              </a:rPr>
              <a:t>Divergence points per session (per participant)</a:t>
            </a:r>
          </a:p>
        </c:rich>
      </c:tx>
      <c:overlay val="0"/>
    </c:title>
    <c:autoTitleDeleted val="0"/>
    <c:plotArea>
      <c:layout/>
      <c:lineChart>
        <c:grouping val="standard"/>
        <c:varyColors val="0"/>
        <c:ser>
          <c:idx val="0"/>
          <c:order val="0"/>
          <c:tx>
            <c:strRef>
              <c:f>Sheet1!$B$1</c:f>
              <c:strCache>
                <c:ptCount val="1"/>
                <c:pt idx="0">
                  <c:v>Feedback (per participant)</c:v>
                </c:pt>
              </c:strCache>
            </c:strRef>
          </c:tx>
          <c:spPr>
            <a:ln w="31750" cap="flat">
              <a:solidFill>
                <a:srgbClr val="0000CD"/>
              </a:solidFill>
              <a:prstDash val="solid"/>
              <a:round/>
            </a:ln>
            <a:effectLst/>
          </c:spPr>
          <c:marker>
            <c:symbol val="circle"/>
            <c:size val="6"/>
            <c:spPr>
              <a:solidFill>
                <a:srgbClr val="0000CD"/>
              </a:solidFill>
              <a:ln w="9525" cap="flat">
                <a:solidFill>
                  <a:srgbClr val="0000CD"/>
                </a:solidFill>
                <a:prstDash val="solid"/>
                <a:round/>
              </a:ln>
              <a:effectLst/>
            </c:spPr>
          </c:marker>
          <c:cat>
            <c:strRef>
              <c:f>Sheet1!$A$2:$A$7</c:f>
              <c:strCache>
                <c:ptCount val="6"/>
                <c:pt idx="0">
                  <c:v>S1</c:v>
                </c:pt>
                <c:pt idx="1">
                  <c:v>S2</c:v>
                </c:pt>
                <c:pt idx="2">
                  <c:v>S3</c:v>
                </c:pt>
                <c:pt idx="3">
                  <c:v>S4</c:v>
                </c:pt>
                <c:pt idx="4">
                  <c:v>S5</c:v>
                </c:pt>
                <c:pt idx="5">
                  <c:v>S6</c:v>
                </c:pt>
              </c:strCache>
            </c:strRef>
          </c:cat>
          <c:val>
            <c:numRef>
              <c:f>Sheet1!$B$2:$B$7</c:f>
              <c:numCache>
                <c:formatCode>General</c:formatCode>
                <c:ptCount val="6"/>
                <c:pt idx="0">
                  <c:v>4</c:v>
                </c:pt>
                <c:pt idx="1">
                  <c:v>5.67</c:v>
                </c:pt>
                <c:pt idx="2">
                  <c:v>3.67</c:v>
                </c:pt>
                <c:pt idx="3">
                  <c:v>0</c:v>
                </c:pt>
                <c:pt idx="4">
                  <c:v>2.33</c:v>
                </c:pt>
                <c:pt idx="5">
                  <c:v>0.67</c:v>
                </c:pt>
              </c:numCache>
            </c:numRef>
          </c:val>
          <c:smooth val="0"/>
          <c:extLst>
            <c:ext xmlns:c16="http://schemas.microsoft.com/office/drawing/2014/chart" uri="{C3380CC4-5D6E-409C-BE32-E72D297353CC}">
              <c16:uniqueId val="{00000000-B386-AD4E-BD58-9F83B0D67BF5}"/>
            </c:ext>
          </c:extLst>
        </c:ser>
        <c:ser>
          <c:idx val="1"/>
          <c:order val="1"/>
          <c:tx>
            <c:strRef>
              <c:f>Sheet1!$C$1</c:f>
              <c:strCache>
                <c:ptCount val="1"/>
                <c:pt idx="0">
                  <c:v>Baseline (per participant)</c:v>
                </c:pt>
              </c:strCache>
            </c:strRef>
          </c:tx>
          <c:spPr>
            <a:ln w="31750" cap="flat">
              <a:solidFill>
                <a:srgbClr val="B25500"/>
              </a:solidFill>
              <a:prstDash val="solid"/>
              <a:round/>
            </a:ln>
            <a:effectLst/>
          </c:spPr>
          <c:marker>
            <c:symbol val="circle"/>
            <c:size val="6"/>
            <c:spPr>
              <a:solidFill>
                <a:srgbClr val="B25500"/>
              </a:solidFill>
              <a:ln w="9525" cap="flat">
                <a:solidFill>
                  <a:srgbClr val="B25500"/>
                </a:solidFill>
                <a:prstDash val="solid"/>
                <a:round/>
              </a:ln>
              <a:effectLst/>
            </c:spPr>
          </c:marker>
          <c:cat>
            <c:strRef>
              <c:f>Sheet1!$A$2:$A$7</c:f>
              <c:strCache>
                <c:ptCount val="6"/>
                <c:pt idx="0">
                  <c:v>S1</c:v>
                </c:pt>
                <c:pt idx="1">
                  <c:v>S2</c:v>
                </c:pt>
                <c:pt idx="2">
                  <c:v>S3</c:v>
                </c:pt>
                <c:pt idx="3">
                  <c:v>S4</c:v>
                </c:pt>
                <c:pt idx="4">
                  <c:v>S5</c:v>
                </c:pt>
                <c:pt idx="5">
                  <c:v>S6</c:v>
                </c:pt>
              </c:strCache>
            </c:strRef>
          </c:cat>
          <c:val>
            <c:numRef>
              <c:f>Sheet1!$C$2:$C$7</c:f>
              <c:numCache>
                <c:formatCode>General</c:formatCode>
                <c:ptCount val="6"/>
                <c:pt idx="0">
                  <c:v>5</c:v>
                </c:pt>
                <c:pt idx="1">
                  <c:v>7.5</c:v>
                </c:pt>
                <c:pt idx="2">
                  <c:v>9.5</c:v>
                </c:pt>
                <c:pt idx="3">
                  <c:v>0</c:v>
                </c:pt>
                <c:pt idx="4">
                  <c:v>6.5</c:v>
                </c:pt>
                <c:pt idx="5">
                  <c:v>7.5</c:v>
                </c:pt>
              </c:numCache>
            </c:numRef>
          </c:val>
          <c:smooth val="0"/>
          <c:extLst>
            <c:ext xmlns:c16="http://schemas.microsoft.com/office/drawing/2014/chart" uri="{C3380CC4-5D6E-409C-BE32-E72D297353CC}">
              <c16:uniqueId val="{00000001-B386-AD4E-BD58-9F83B0D67BF5}"/>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2"/>
        <c:crosses val="autoZero"/>
        <c:auto val="1"/>
        <c:lblAlgn val="ctr"/>
        <c:lblOffset val="100"/>
        <c:noMultiLvlLbl val="1"/>
      </c:catAx>
      <c:valAx>
        <c:axId val="2094734552"/>
        <c:scaling>
          <c:orientation val="minMax"/>
          <c:max val="10"/>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majorUnit val="2"/>
      </c:valAx>
      <c:spPr>
        <a:noFill/>
        <a:ln>
          <a:noFill/>
        </a:ln>
        <a:effectLst/>
      </c:spPr>
    </c:plotArea>
    <c:legend>
      <c:legendPos val="b"/>
      <c:overlay val="0"/>
      <c:txPr>
        <a:bodyPr/>
        <a:lstStyle/>
        <a:p>
          <a:pPr>
            <a:defRPr sz="900"/>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100" b="0" i="0" u="none" strike="noStrike">
                <a:solidFill>
                  <a:srgbClr val="333333"/>
                </a:solidFill>
                <a:latin typeface="Arial"/>
              </a:defRPr>
            </a:pPr>
            <a:r>
              <a:rPr lang="en-GB" sz="1100" b="0" i="0" u="none" strike="noStrike">
                <a:solidFill>
                  <a:srgbClr val="333333"/>
                </a:solidFill>
                <a:latin typeface="Arial"/>
              </a:rPr>
              <a:t>Production-weighted process score (with cleanliness gain)</a:t>
            </a:r>
          </a:p>
        </c:rich>
      </c:tx>
      <c:overlay val="0"/>
    </c:title>
    <c:autoTitleDeleted val="0"/>
    <c:plotArea>
      <c:layout/>
      <c:lineChart>
        <c:grouping val="standard"/>
        <c:varyColors val="0"/>
        <c:ser>
          <c:idx val="0"/>
          <c:order val="0"/>
          <c:tx>
            <c:strRef>
              <c:f>Sheet1!$B$1</c:f>
              <c:strCache>
                <c:ptCount val="1"/>
                <c:pt idx="0">
                  <c:v>Feedback mean</c:v>
                </c:pt>
              </c:strCache>
            </c:strRef>
          </c:tx>
          <c:spPr>
            <a:ln w="31750" cap="flat">
              <a:solidFill>
                <a:srgbClr val="0000CD"/>
              </a:solidFill>
              <a:prstDash val="solid"/>
              <a:round/>
            </a:ln>
            <a:effectLst/>
          </c:spPr>
          <c:marker>
            <c:symbol val="circle"/>
            <c:size val="6"/>
            <c:spPr>
              <a:solidFill>
                <a:srgbClr val="0000CD"/>
              </a:solidFill>
              <a:ln w="9525" cap="flat">
                <a:solidFill>
                  <a:srgbClr val="0000CD"/>
                </a:solidFill>
                <a:prstDash val="solid"/>
                <a:round/>
              </a:ln>
              <a:effectLst/>
            </c:spPr>
          </c:marker>
          <c:cat>
            <c:strRef>
              <c:f>Sheet1!$A$2:$A$7</c:f>
              <c:strCache>
                <c:ptCount val="6"/>
                <c:pt idx="0">
                  <c:v>S1</c:v>
                </c:pt>
                <c:pt idx="1">
                  <c:v>S2</c:v>
                </c:pt>
                <c:pt idx="2">
                  <c:v>S3</c:v>
                </c:pt>
                <c:pt idx="3">
                  <c:v>S4</c:v>
                </c:pt>
                <c:pt idx="4">
                  <c:v>S5</c:v>
                </c:pt>
                <c:pt idx="5">
                  <c:v>S6</c:v>
                </c:pt>
              </c:strCache>
            </c:strRef>
          </c:cat>
          <c:val>
            <c:numRef>
              <c:f>Sheet1!$B$2:$B$7</c:f>
              <c:numCache>
                <c:formatCode>General</c:formatCode>
                <c:ptCount val="6"/>
                <c:pt idx="0">
                  <c:v>13.7</c:v>
                </c:pt>
                <c:pt idx="1">
                  <c:v>66.7</c:v>
                </c:pt>
                <c:pt idx="2">
                  <c:v>33</c:v>
                </c:pt>
                <c:pt idx="3">
                  <c:v>89.7</c:v>
                </c:pt>
                <c:pt idx="4">
                  <c:v>32</c:v>
                </c:pt>
                <c:pt idx="5">
                  <c:v>48.3</c:v>
                </c:pt>
              </c:numCache>
            </c:numRef>
          </c:val>
          <c:smooth val="0"/>
          <c:extLst>
            <c:ext xmlns:c16="http://schemas.microsoft.com/office/drawing/2014/chart" uri="{C3380CC4-5D6E-409C-BE32-E72D297353CC}">
              <c16:uniqueId val="{00000000-6956-9C4F-AA1C-53C5D05B5B4C}"/>
            </c:ext>
          </c:extLst>
        </c:ser>
        <c:ser>
          <c:idx val="1"/>
          <c:order val="1"/>
          <c:tx>
            <c:strRef>
              <c:f>Sheet1!$C$1</c:f>
              <c:strCache>
                <c:ptCount val="1"/>
                <c:pt idx="0">
                  <c:v>Baseline mean</c:v>
                </c:pt>
              </c:strCache>
            </c:strRef>
          </c:tx>
          <c:spPr>
            <a:ln w="31750" cap="flat">
              <a:solidFill>
                <a:srgbClr val="B25500"/>
              </a:solidFill>
              <a:prstDash val="solid"/>
              <a:round/>
            </a:ln>
            <a:effectLst/>
          </c:spPr>
          <c:marker>
            <c:symbol val="circle"/>
            <c:size val="6"/>
            <c:spPr>
              <a:solidFill>
                <a:srgbClr val="B25500"/>
              </a:solidFill>
              <a:ln w="9525" cap="flat">
                <a:solidFill>
                  <a:srgbClr val="B25500"/>
                </a:solidFill>
                <a:prstDash val="solid"/>
                <a:round/>
              </a:ln>
              <a:effectLst/>
            </c:spPr>
          </c:marker>
          <c:cat>
            <c:strRef>
              <c:f>Sheet1!$A$2:$A$7</c:f>
              <c:strCache>
                <c:ptCount val="6"/>
                <c:pt idx="0">
                  <c:v>S1</c:v>
                </c:pt>
                <c:pt idx="1">
                  <c:v>S2</c:v>
                </c:pt>
                <c:pt idx="2">
                  <c:v>S3</c:v>
                </c:pt>
                <c:pt idx="3">
                  <c:v>S4</c:v>
                </c:pt>
                <c:pt idx="4">
                  <c:v>S5</c:v>
                </c:pt>
                <c:pt idx="5">
                  <c:v>S6</c:v>
                </c:pt>
              </c:strCache>
            </c:strRef>
          </c:cat>
          <c:val>
            <c:numRef>
              <c:f>Sheet1!$C$2:$C$7</c:f>
              <c:numCache>
                <c:formatCode>General</c:formatCode>
                <c:ptCount val="6"/>
                <c:pt idx="0">
                  <c:v>11.5</c:v>
                </c:pt>
                <c:pt idx="1">
                  <c:v>20</c:v>
                </c:pt>
                <c:pt idx="2">
                  <c:v>15.5</c:v>
                </c:pt>
                <c:pt idx="3">
                  <c:v>76.5</c:v>
                </c:pt>
                <c:pt idx="4">
                  <c:v>44.5</c:v>
                </c:pt>
                <c:pt idx="5">
                  <c:v>27</c:v>
                </c:pt>
              </c:numCache>
            </c:numRef>
          </c:val>
          <c:smooth val="0"/>
          <c:extLst>
            <c:ext xmlns:c16="http://schemas.microsoft.com/office/drawing/2014/chart" uri="{C3380CC4-5D6E-409C-BE32-E72D297353CC}">
              <c16:uniqueId val="{00000001-6956-9C4F-AA1C-53C5D05B5B4C}"/>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2"/>
        <c:crosses val="autoZero"/>
        <c:auto val="1"/>
        <c:lblAlgn val="ctr"/>
        <c:lblOffset val="100"/>
        <c:noMultiLvlLbl val="1"/>
      </c:catAx>
      <c:valAx>
        <c:axId val="2094734552"/>
        <c:scaling>
          <c:orientation val="minMax"/>
          <c:max val="100"/>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majorUnit val="25"/>
      </c:valAx>
      <c:spPr>
        <a:noFill/>
        <a:ln>
          <a:noFill/>
        </a:ln>
        <a:effectLst/>
      </c:spPr>
    </c:plotArea>
    <c:legend>
      <c:legendPos val="b"/>
      <c:overlay val="0"/>
      <c:txPr>
        <a:bodyPr/>
        <a:lstStyle/>
        <a:p>
          <a:pPr>
            <a:defRPr sz="900"/>
          </a:pPr>
          <a:endParaRPr lang="en-US"/>
        </a:p>
      </c:txPr>
    </c:legend>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200" b="0" i="0" u="none" strike="noStrike">
                <a:solidFill>
                  <a:srgbClr val="333333"/>
                </a:solidFill>
                <a:latin typeface="Arial"/>
              </a:defRPr>
            </a:pPr>
            <a:r>
              <a:rPr lang="en-GB" sz="1200" b="0" i="0" u="none" strike="noStrike">
                <a:solidFill>
                  <a:srgbClr val="333333"/>
                </a:solidFill>
                <a:latin typeface="Arial"/>
              </a:rPr>
              <a:t>Gain-stripped process score (W_g = W_lag = 0)</a:t>
            </a:r>
          </a:p>
        </c:rich>
      </c:tx>
      <c:overlay val="0"/>
    </c:title>
    <c:autoTitleDeleted val="0"/>
    <c:plotArea>
      <c:layout/>
      <c:lineChart>
        <c:grouping val="standard"/>
        <c:varyColors val="0"/>
        <c:ser>
          <c:idx val="0"/>
          <c:order val="0"/>
          <c:tx>
            <c:strRef>
              <c:f>Sheet1!$B$1</c:f>
              <c:strCache>
                <c:ptCount val="1"/>
                <c:pt idx="0">
                  <c:v>Feedback mean</c:v>
                </c:pt>
              </c:strCache>
            </c:strRef>
          </c:tx>
          <c:spPr>
            <a:ln w="38100" cap="flat">
              <a:solidFill>
                <a:srgbClr val="0000CD"/>
              </a:solidFill>
              <a:prstDash val="solid"/>
              <a:round/>
            </a:ln>
            <a:effectLst/>
          </c:spPr>
          <c:marker>
            <c:symbol val="circle"/>
            <c:size val="7"/>
            <c:spPr>
              <a:solidFill>
                <a:srgbClr val="0000CD"/>
              </a:solidFill>
              <a:ln w="9525" cap="flat">
                <a:solidFill>
                  <a:srgbClr val="0000CD"/>
                </a:solidFill>
                <a:prstDash val="solid"/>
                <a:round/>
              </a:ln>
              <a:effectLst/>
            </c:spPr>
          </c:marker>
          <c:cat>
            <c:strRef>
              <c:f>Sheet1!$A$2:$A$7</c:f>
              <c:strCache>
                <c:ptCount val="6"/>
                <c:pt idx="0">
                  <c:v>S1</c:v>
                </c:pt>
                <c:pt idx="1">
                  <c:v>S2</c:v>
                </c:pt>
                <c:pt idx="2">
                  <c:v>S3</c:v>
                </c:pt>
                <c:pt idx="3">
                  <c:v>S4</c:v>
                </c:pt>
                <c:pt idx="4">
                  <c:v>S5</c:v>
                </c:pt>
                <c:pt idx="5">
                  <c:v>S6</c:v>
                </c:pt>
              </c:strCache>
            </c:strRef>
          </c:cat>
          <c:val>
            <c:numRef>
              <c:f>Sheet1!$B$2:$B$7</c:f>
              <c:numCache>
                <c:formatCode>General</c:formatCode>
                <c:ptCount val="6"/>
                <c:pt idx="0">
                  <c:v>26.7</c:v>
                </c:pt>
                <c:pt idx="1">
                  <c:v>22</c:v>
                </c:pt>
                <c:pt idx="2">
                  <c:v>38.700000000000003</c:v>
                </c:pt>
                <c:pt idx="3">
                  <c:v>47.7</c:v>
                </c:pt>
                <c:pt idx="4">
                  <c:v>36.700000000000003</c:v>
                </c:pt>
                <c:pt idx="5">
                  <c:v>49</c:v>
                </c:pt>
              </c:numCache>
            </c:numRef>
          </c:val>
          <c:smooth val="0"/>
          <c:extLst>
            <c:ext xmlns:c16="http://schemas.microsoft.com/office/drawing/2014/chart" uri="{C3380CC4-5D6E-409C-BE32-E72D297353CC}">
              <c16:uniqueId val="{00000000-371D-014C-BD9B-FF670E22C464}"/>
            </c:ext>
          </c:extLst>
        </c:ser>
        <c:ser>
          <c:idx val="1"/>
          <c:order val="1"/>
          <c:tx>
            <c:strRef>
              <c:f>Sheet1!$C$1</c:f>
              <c:strCache>
                <c:ptCount val="1"/>
                <c:pt idx="0">
                  <c:v>Baseline mean</c:v>
                </c:pt>
              </c:strCache>
            </c:strRef>
          </c:tx>
          <c:spPr>
            <a:ln w="38100" cap="flat">
              <a:solidFill>
                <a:srgbClr val="B25500"/>
              </a:solidFill>
              <a:prstDash val="solid"/>
              <a:round/>
            </a:ln>
            <a:effectLst/>
          </c:spPr>
          <c:marker>
            <c:symbol val="circle"/>
            <c:size val="7"/>
            <c:spPr>
              <a:solidFill>
                <a:srgbClr val="B25500"/>
              </a:solidFill>
              <a:ln w="9525" cap="flat">
                <a:solidFill>
                  <a:srgbClr val="B25500"/>
                </a:solidFill>
                <a:prstDash val="solid"/>
                <a:round/>
              </a:ln>
              <a:effectLst/>
            </c:spPr>
          </c:marker>
          <c:cat>
            <c:strRef>
              <c:f>Sheet1!$A$2:$A$7</c:f>
              <c:strCache>
                <c:ptCount val="6"/>
                <c:pt idx="0">
                  <c:v>S1</c:v>
                </c:pt>
                <c:pt idx="1">
                  <c:v>S2</c:v>
                </c:pt>
                <c:pt idx="2">
                  <c:v>S3</c:v>
                </c:pt>
                <c:pt idx="3">
                  <c:v>S4</c:v>
                </c:pt>
                <c:pt idx="4">
                  <c:v>S5</c:v>
                </c:pt>
                <c:pt idx="5">
                  <c:v>S6</c:v>
                </c:pt>
              </c:strCache>
            </c:strRef>
          </c:cat>
          <c:val>
            <c:numRef>
              <c:f>Sheet1!$C$2:$C$7</c:f>
              <c:numCache>
                <c:formatCode>General</c:formatCode>
                <c:ptCount val="6"/>
                <c:pt idx="0">
                  <c:v>22.5</c:v>
                </c:pt>
                <c:pt idx="1">
                  <c:v>17.5</c:v>
                </c:pt>
                <c:pt idx="2">
                  <c:v>11</c:v>
                </c:pt>
                <c:pt idx="3">
                  <c:v>39</c:v>
                </c:pt>
                <c:pt idx="4">
                  <c:v>16.5</c:v>
                </c:pt>
                <c:pt idx="5">
                  <c:v>20.5</c:v>
                </c:pt>
              </c:numCache>
            </c:numRef>
          </c:val>
          <c:smooth val="0"/>
          <c:extLst>
            <c:ext xmlns:c16="http://schemas.microsoft.com/office/drawing/2014/chart" uri="{C3380CC4-5D6E-409C-BE32-E72D297353CC}">
              <c16:uniqueId val="{00000001-371D-014C-BD9B-FF670E22C464}"/>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2"/>
        <c:crosses val="autoZero"/>
        <c:auto val="1"/>
        <c:lblAlgn val="ctr"/>
        <c:lblOffset val="100"/>
        <c:noMultiLvlLbl val="1"/>
      </c:catAx>
      <c:valAx>
        <c:axId val="2094734552"/>
        <c:scaling>
          <c:orientation val="minMax"/>
          <c:max val="60"/>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4"/>
        <c:crosses val="autoZero"/>
        <c:crossBetween val="between"/>
        <c:majorUnit val="10"/>
      </c:valAx>
      <c:spPr>
        <a:noFill/>
        <a:ln>
          <a:noFill/>
        </a:ln>
        <a:effectLst/>
      </c:spPr>
    </c:plotArea>
    <c:legend>
      <c:legendPos val="b"/>
      <c:overlay val="0"/>
      <c:txPr>
        <a:bodyPr/>
        <a:lstStyle/>
        <a:p>
          <a:pPr>
            <a:defRPr sz="1000"/>
          </a:pPr>
          <a:endParaRPr lang="en-US"/>
        </a:p>
      </c:txPr>
    </c:legend>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100" b="0" i="0" u="none" strike="noStrike">
                <a:solidFill>
                  <a:srgbClr val="333333"/>
                </a:solidFill>
                <a:latin typeface="Arial"/>
              </a:defRPr>
            </a:pPr>
            <a:r>
              <a:rPr lang="en-GB" sz="1100" b="0" i="0" u="none" strike="noStrike">
                <a:solidFill>
                  <a:srgbClr val="333333"/>
                </a:solidFill>
                <a:latin typeface="Arial"/>
              </a:rPr>
              <a:t>Gain-stripped score (same scale as user study)</a:t>
            </a:r>
          </a:p>
        </c:rich>
      </c:tx>
      <c:overlay val="0"/>
    </c:title>
    <c:autoTitleDeleted val="0"/>
    <c:plotArea>
      <c:layout/>
      <c:lineChart>
        <c:grouping val="standard"/>
        <c:varyColors val="0"/>
        <c:ser>
          <c:idx val="0"/>
          <c:order val="0"/>
          <c:tx>
            <c:strRef>
              <c:f>Sheet1!$B$1</c:f>
              <c:strCache>
                <c:ptCount val="1"/>
                <c:pt idx="0">
                  <c:v>Feedback mean (n=6)</c:v>
                </c:pt>
              </c:strCache>
            </c:strRef>
          </c:tx>
          <c:spPr>
            <a:ln w="31750" cap="flat">
              <a:solidFill>
                <a:srgbClr val="0000CD"/>
              </a:solidFill>
              <a:prstDash val="solid"/>
              <a:round/>
            </a:ln>
            <a:effectLst/>
          </c:spPr>
          <c:marker>
            <c:symbol val="circle"/>
            <c:size val="6"/>
            <c:spPr>
              <a:solidFill>
                <a:srgbClr val="0000CD"/>
              </a:solidFill>
              <a:ln w="9525" cap="flat">
                <a:solidFill>
                  <a:srgbClr val="0000CD"/>
                </a:solidFill>
                <a:prstDash val="solid"/>
                <a:round/>
              </a:ln>
              <a:effectLst/>
            </c:spPr>
          </c:marker>
          <c:cat>
            <c:strRef>
              <c:f>Sheet1!$A$2:$A$7</c:f>
              <c:strCache>
                <c:ptCount val="6"/>
                <c:pt idx="0">
                  <c:v>S1</c:v>
                </c:pt>
                <c:pt idx="1">
                  <c:v>S2</c:v>
                </c:pt>
                <c:pt idx="2">
                  <c:v>S3</c:v>
                </c:pt>
                <c:pt idx="3">
                  <c:v>S4</c:v>
                </c:pt>
                <c:pt idx="4">
                  <c:v>S5</c:v>
                </c:pt>
                <c:pt idx="5">
                  <c:v>S6</c:v>
                </c:pt>
              </c:strCache>
            </c:strRef>
          </c:cat>
          <c:val>
            <c:numRef>
              <c:f>Sheet1!$B$2:$B$7</c:f>
              <c:numCache>
                <c:formatCode>General</c:formatCode>
                <c:ptCount val="6"/>
                <c:pt idx="0">
                  <c:v>36.700000000000003</c:v>
                </c:pt>
                <c:pt idx="1">
                  <c:v>40</c:v>
                </c:pt>
                <c:pt idx="2">
                  <c:v>40</c:v>
                </c:pt>
                <c:pt idx="3">
                  <c:v>50</c:v>
                </c:pt>
                <c:pt idx="4">
                  <c:v>42</c:v>
                </c:pt>
                <c:pt idx="5">
                  <c:v>39.700000000000003</c:v>
                </c:pt>
              </c:numCache>
            </c:numRef>
          </c:val>
          <c:smooth val="0"/>
          <c:extLst>
            <c:ext xmlns:c16="http://schemas.microsoft.com/office/drawing/2014/chart" uri="{C3380CC4-5D6E-409C-BE32-E72D297353CC}">
              <c16:uniqueId val="{00000000-9E8E-DF4A-8FEA-C3C7039BD15C}"/>
            </c:ext>
          </c:extLst>
        </c:ser>
        <c:ser>
          <c:idx val="1"/>
          <c:order val="1"/>
          <c:tx>
            <c:strRef>
              <c:f>Sheet1!$C$1</c:f>
              <c:strCache>
                <c:ptCount val="1"/>
                <c:pt idx="0">
                  <c:v>Baseline mean (n=2)</c:v>
                </c:pt>
              </c:strCache>
            </c:strRef>
          </c:tx>
          <c:spPr>
            <a:ln w="31750" cap="flat">
              <a:solidFill>
                <a:srgbClr val="B25500"/>
              </a:solidFill>
              <a:prstDash val="solid"/>
              <a:round/>
            </a:ln>
            <a:effectLst/>
          </c:spPr>
          <c:marker>
            <c:symbol val="circle"/>
            <c:size val="6"/>
            <c:spPr>
              <a:solidFill>
                <a:srgbClr val="B25500"/>
              </a:solidFill>
              <a:ln w="9525" cap="flat">
                <a:solidFill>
                  <a:srgbClr val="B25500"/>
                </a:solidFill>
                <a:prstDash val="solid"/>
                <a:round/>
              </a:ln>
              <a:effectLst/>
            </c:spPr>
          </c:marker>
          <c:cat>
            <c:strRef>
              <c:f>Sheet1!$A$2:$A$7</c:f>
              <c:strCache>
                <c:ptCount val="6"/>
                <c:pt idx="0">
                  <c:v>S1</c:v>
                </c:pt>
                <c:pt idx="1">
                  <c:v>S2</c:v>
                </c:pt>
                <c:pt idx="2">
                  <c:v>S3</c:v>
                </c:pt>
                <c:pt idx="3">
                  <c:v>S4</c:v>
                </c:pt>
                <c:pt idx="4">
                  <c:v>S5</c:v>
                </c:pt>
                <c:pt idx="5">
                  <c:v>S6</c:v>
                </c:pt>
              </c:strCache>
            </c:strRef>
          </c:cat>
          <c:val>
            <c:numRef>
              <c:f>Sheet1!$C$2:$C$7</c:f>
              <c:numCache>
                <c:formatCode>General</c:formatCode>
                <c:ptCount val="6"/>
                <c:pt idx="0">
                  <c:v>34.5</c:v>
                </c:pt>
                <c:pt idx="1">
                  <c:v>40</c:v>
                </c:pt>
                <c:pt idx="2">
                  <c:v>40</c:v>
                </c:pt>
                <c:pt idx="3">
                  <c:v>50</c:v>
                </c:pt>
                <c:pt idx="4">
                  <c:v>42</c:v>
                </c:pt>
                <c:pt idx="5">
                  <c:v>41</c:v>
                </c:pt>
              </c:numCache>
            </c:numRef>
          </c:val>
          <c:smooth val="0"/>
          <c:extLst>
            <c:ext xmlns:c16="http://schemas.microsoft.com/office/drawing/2014/chart" uri="{C3380CC4-5D6E-409C-BE32-E72D297353CC}">
              <c16:uniqueId val="{00000001-9E8E-DF4A-8FEA-C3C7039BD15C}"/>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2"/>
        <c:crosses val="autoZero"/>
        <c:auto val="1"/>
        <c:lblAlgn val="ctr"/>
        <c:lblOffset val="100"/>
        <c:noMultiLvlLbl val="1"/>
      </c:catAx>
      <c:valAx>
        <c:axId val="2094734552"/>
        <c:scaling>
          <c:orientation val="minMax"/>
          <c:max val="60"/>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majorUnit val="10"/>
      </c:valAx>
      <c:spPr>
        <a:noFill/>
        <a:ln>
          <a:noFill/>
        </a:ln>
        <a:effectLst/>
      </c:spPr>
    </c:plotArea>
    <c:legend>
      <c:legendPos val="b"/>
      <c:overlay val="0"/>
      <c:txPr>
        <a:bodyPr/>
        <a:lstStyle/>
        <a:p>
          <a:pPr>
            <a:defRPr sz="900"/>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330691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IN">
    <p:bg>
      <p:bgPr>
        <a:solidFill>
          <a:srgbClr val="FAFAFA"/>
        </a:solidFill>
        <a:effectLst/>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000CD"/>
          </a:solidFill>
          <a:ln/>
        </p:spPr>
        <p:txBody>
          <a:bodyPr/>
          <a:lstStyle/>
          <a:p>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chart" Target="../charts/chart2.xml"/></Relationships>
</file>

<file path=ppt/slides/_rels/slide25.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images/Imperial_College_London_new_logo.png"/>
          <p:cNvPicPr>
            <a:picLocks noChangeAspect="1"/>
          </p:cNvPicPr>
          <p:nvPr/>
        </p:nvPicPr>
        <p:blipFill>
          <a:blip r:embed="rId3"/>
          <a:stretch>
            <a:fillRect/>
          </a:stretch>
        </p:blipFill>
        <p:spPr>
          <a:xfrm>
            <a:off x="365760" y="274320"/>
            <a:ext cx="1645920" cy="181051"/>
          </a:xfrm>
          <a:prstGeom prst="rect">
            <a:avLst/>
          </a:prstGeom>
        </p:spPr>
      </p:pic>
      <p:sp>
        <p:nvSpPr>
          <p:cNvPr id="3" name="Text 0"/>
          <p:cNvSpPr/>
          <p:nvPr/>
        </p:nvSpPr>
        <p:spPr>
          <a:xfrm>
            <a:off x="457200" y="1234440"/>
            <a:ext cx="8229600" cy="365760"/>
          </a:xfrm>
          <a:prstGeom prst="rect">
            <a:avLst/>
          </a:prstGeom>
          <a:noFill/>
          <a:ln/>
        </p:spPr>
        <p:txBody>
          <a:bodyPr wrap="square" lIns="0" tIns="0" rIns="0" bIns="0" rtlCol="0" anchor="ctr"/>
          <a:lstStyle/>
          <a:p>
            <a:pPr marL="0" indent="0" algn="ctr">
              <a:buNone/>
            </a:pPr>
            <a:r>
              <a:rPr lang="en-US" sz="1800" i="1" dirty="0">
                <a:solidFill>
                  <a:srgbClr val="555555"/>
                </a:solidFill>
              </a:rPr>
              <a:t>Beyond Before-and-After:</a:t>
            </a:r>
            <a:endParaRPr lang="en-US" sz="1800" dirty="0"/>
          </a:p>
        </p:txBody>
      </p:sp>
      <p:sp>
        <p:nvSpPr>
          <p:cNvPr id="4" name="Text 1"/>
          <p:cNvSpPr/>
          <p:nvPr/>
        </p:nvSpPr>
        <p:spPr>
          <a:xfrm>
            <a:off x="457200" y="1783080"/>
            <a:ext cx="8229600" cy="822960"/>
          </a:xfrm>
          <a:prstGeom prst="rect">
            <a:avLst/>
          </a:prstGeom>
          <a:noFill/>
          <a:ln/>
        </p:spPr>
        <p:txBody>
          <a:bodyPr wrap="square" lIns="0" tIns="0" rIns="0" bIns="0" rtlCol="0" anchor="ctr"/>
          <a:lstStyle/>
          <a:p>
            <a:pPr marL="0" indent="0" algn="ctr">
              <a:buNone/>
            </a:pPr>
            <a:r>
              <a:rPr lang="en-US" sz="3200" b="1" dirty="0">
                <a:solidFill>
                  <a:srgbClr val="000000"/>
                </a:solidFill>
              </a:rPr>
              <a:t>Process-Quality Evaluation of Refactoring Sessions</a:t>
            </a:r>
            <a:endParaRPr lang="en-US" sz="3200" dirty="0"/>
          </a:p>
        </p:txBody>
      </p:sp>
      <p:sp>
        <p:nvSpPr>
          <p:cNvPr id="5" name="Text 2"/>
          <p:cNvSpPr/>
          <p:nvPr/>
        </p:nvSpPr>
        <p:spPr>
          <a:xfrm>
            <a:off x="457200" y="2788920"/>
            <a:ext cx="8229600" cy="822960"/>
          </a:xfrm>
          <a:prstGeom prst="rect">
            <a:avLst/>
          </a:prstGeom>
          <a:noFill/>
          <a:ln/>
        </p:spPr>
        <p:txBody>
          <a:bodyPr wrap="square" rtlCol="0" anchor="ctr"/>
          <a:lstStyle/>
          <a:p>
            <a:pPr marL="0" indent="0" algn="ctr">
              <a:buNone/>
            </a:pPr>
            <a:r>
              <a:rPr lang="en-US" sz="1800" i="1" dirty="0">
                <a:solidFill>
                  <a:srgbClr val="555555"/>
                </a:solidFill>
              </a:rPr>
              <a:t>Scoring the path a developer takes through a refactoring session, and pointing to where a better path existed.</a:t>
            </a:r>
            <a:endParaRPr lang="en-US" sz="1800" dirty="0"/>
          </a:p>
        </p:txBody>
      </p:sp>
      <p:sp>
        <p:nvSpPr>
          <p:cNvPr id="6" name="Text 3"/>
          <p:cNvSpPr/>
          <p:nvPr/>
        </p:nvSpPr>
        <p:spPr>
          <a:xfrm>
            <a:off x="457200" y="4023360"/>
            <a:ext cx="8229600" cy="365760"/>
          </a:xfrm>
          <a:prstGeom prst="rect">
            <a:avLst/>
          </a:prstGeom>
          <a:noFill/>
          <a:ln/>
        </p:spPr>
        <p:txBody>
          <a:bodyPr wrap="square" rtlCol="0" anchor="ctr"/>
          <a:lstStyle/>
          <a:p>
            <a:pPr marL="0" indent="0" algn="ctr">
              <a:buNone/>
            </a:pPr>
            <a:r>
              <a:rPr lang="en-US" sz="1400" dirty="0">
                <a:solidFill>
                  <a:srgbClr val="777777"/>
                </a:solidFill>
              </a:rPr>
              <a:t>Ethan Hosier  ·  Imperial College London  ·  Department of Computing</a:t>
            </a:r>
            <a:endParaRPr lang="en-US" sz="1400" dirty="0"/>
          </a:p>
        </p:txBody>
      </p:sp>
      <p:sp>
        <p:nvSpPr>
          <p:cNvPr id="7" name="Text 4"/>
          <p:cNvSpPr/>
          <p:nvPr/>
        </p:nvSpPr>
        <p:spPr>
          <a:xfrm>
            <a:off x="457200" y="4389120"/>
            <a:ext cx="8229600" cy="365760"/>
          </a:xfrm>
          <a:prstGeom prst="rect">
            <a:avLst/>
          </a:prstGeom>
          <a:noFill/>
          <a:ln/>
        </p:spPr>
        <p:txBody>
          <a:bodyPr wrap="square" rtlCol="0" anchor="ctr"/>
          <a:lstStyle/>
          <a:p>
            <a:pPr marL="0" indent="0" algn="ctr">
              <a:buNone/>
            </a:pPr>
            <a:r>
              <a:rPr lang="en-US" sz="1200" dirty="0">
                <a:solidFill>
                  <a:srgbClr val="777777"/>
                </a:solidFill>
              </a:rPr>
              <a:t>Supervisor: Dr Robert Chatley  ·  Second marker: Dr Cristian Cadar</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00000"/>
                </a:solidFill>
              </a:rPr>
              <a:t>Same destination, different journeys</a:t>
            </a:r>
            <a:endParaRPr lang="en-US" sz="2800" dirty="0"/>
          </a:p>
        </p:txBody>
      </p:sp>
      <p:sp>
        <p:nvSpPr>
          <p:cNvPr id="3" name="Text 1"/>
          <p:cNvSpPr/>
          <p:nvPr/>
        </p:nvSpPr>
        <p:spPr>
          <a:xfrm>
            <a:off x="457200" y="1097280"/>
            <a:ext cx="8229600" cy="2286000"/>
          </a:xfrm>
          <a:prstGeom prst="rect">
            <a:avLst/>
          </a:prstGeom>
          <a:noFill/>
          <a:ln/>
        </p:spPr>
        <p:txBody>
          <a:bodyPr wrap="square" rtlCol="0" anchor="t"/>
          <a:lstStyle/>
          <a:p>
            <a:pPr marL="342900" indent="-342900">
              <a:spcAft>
                <a:spcPts val="600"/>
              </a:spcAft>
              <a:buSzPct val="100000"/>
              <a:buChar char="•"/>
            </a:pPr>
            <a:r>
              <a:rPr lang="en-US" sz="1600" dirty="0">
                <a:solidFill>
                  <a:srgbClr val="000000"/>
                </a:solidFill>
              </a:rPr>
              <a:t>Two developers refactor the same code and arrive at the same final state.</a:t>
            </a:r>
            <a:endParaRPr lang="en-US" sz="1600" dirty="0"/>
          </a:p>
          <a:p>
            <a:pPr marL="342900" indent="-342900">
              <a:spcAft>
                <a:spcPts val="600"/>
              </a:spcAft>
              <a:buSzPct val="100000"/>
              <a:buChar char="•"/>
            </a:pPr>
            <a:r>
              <a:rPr lang="en-US" sz="1600" dirty="0">
                <a:solidFill>
                  <a:srgbClr val="000000"/>
                </a:solidFill>
              </a:rPr>
              <a:t>Developer A: ran tests, committed checkpoints, used IDE refactorings.</a:t>
            </a:r>
            <a:endParaRPr lang="en-US" sz="1600" dirty="0"/>
          </a:p>
          <a:p>
            <a:pPr marL="342900" indent="-342900">
              <a:spcAft>
                <a:spcPts val="600"/>
              </a:spcAft>
              <a:buSzPct val="100000"/>
              <a:buChar char="•"/>
            </a:pPr>
            <a:r>
              <a:rPr lang="en-US" sz="1600" dirty="0">
                <a:solidFill>
                  <a:srgbClr val="000000"/>
                </a:solidFill>
              </a:rPr>
              <a:t>Developer B: broke the build twice, added then removed 80 lines, hand-edited what the IDE could do safely.</a:t>
            </a:r>
            <a:endParaRPr lang="en-US" sz="1600" dirty="0"/>
          </a:p>
        </p:txBody>
      </p:sp>
      <p:sp>
        <p:nvSpPr>
          <p:cNvPr id="4" name="Text 2"/>
          <p:cNvSpPr/>
          <p:nvPr/>
        </p:nvSpPr>
        <p:spPr>
          <a:xfrm>
            <a:off x="457200" y="3840480"/>
            <a:ext cx="8229600" cy="1097280"/>
          </a:xfrm>
          <a:prstGeom prst="rect">
            <a:avLst/>
          </a:prstGeom>
          <a:noFill/>
          <a:ln/>
        </p:spPr>
        <p:txBody>
          <a:bodyPr wrap="square" rtlCol="0" anchor="t"/>
          <a:lstStyle/>
          <a:p>
            <a:pPr marL="342900" indent="-342900">
              <a:spcAft>
                <a:spcPts val="600"/>
              </a:spcAft>
              <a:buSzPct val="100000"/>
              <a:buChar char="•"/>
            </a:pPr>
            <a:r>
              <a:rPr lang="en-US" sz="1600" dirty="0">
                <a:solidFill>
                  <a:srgbClr val="000000"/>
                </a:solidFill>
              </a:rPr>
              <a:t>Which one would you want on your team?</a:t>
            </a:r>
            <a:endParaRPr lang="en-US" sz="1600" dirty="0"/>
          </a:p>
          <a:p>
            <a:pPr marL="342900" indent="-342900">
              <a:spcAft>
                <a:spcPts val="600"/>
              </a:spcAft>
              <a:buSzPct val="100000"/>
              <a:buChar char="•"/>
            </a:pPr>
            <a:r>
              <a:rPr lang="en-US" sz="1600" dirty="0">
                <a:solidFill>
                  <a:srgbClr val="000000"/>
                </a:solidFill>
              </a:rPr>
              <a:t>Endpoint-only evaluation cannot tell them apart.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640080"/>
            <a:ext cx="8229600" cy="640080"/>
          </a:xfrm>
          <a:prstGeom prst="rect">
            <a:avLst/>
          </a:prstGeom>
          <a:noFill/>
          <a:ln/>
        </p:spPr>
        <p:txBody>
          <a:bodyPr wrap="square" lIns="0" tIns="0" rIns="0" bIns="0" rtlCol="0" anchor="ctr"/>
          <a:lstStyle/>
          <a:p>
            <a:pPr marL="0" indent="0">
              <a:buNone/>
            </a:pPr>
            <a:r>
              <a:rPr lang="en-US" sz="2800" b="1" dirty="0">
                <a:solidFill>
                  <a:srgbClr val="000000"/>
                </a:solidFill>
              </a:rPr>
              <a:t>Evaluating the refactoring process: what's missing in prior work</a:t>
            </a:r>
            <a:endParaRPr lang="en-US" sz="2800" dirty="0"/>
          </a:p>
        </p:txBody>
      </p:sp>
      <p:sp>
        <p:nvSpPr>
          <p:cNvPr id="3" name="Text 1"/>
          <p:cNvSpPr/>
          <p:nvPr/>
        </p:nvSpPr>
        <p:spPr>
          <a:xfrm>
            <a:off x="457200" y="1783080"/>
            <a:ext cx="8229600" cy="3657600"/>
          </a:xfrm>
          <a:prstGeom prst="rect">
            <a:avLst/>
          </a:prstGeom>
          <a:noFill/>
          <a:ln/>
        </p:spPr>
        <p:txBody>
          <a:bodyPr wrap="square" rtlCol="0" anchor="t"/>
          <a:lstStyle/>
          <a:p>
            <a:pPr marL="342900" indent="-342900">
              <a:spcAft>
                <a:spcPts val="600"/>
              </a:spcAft>
              <a:buSzPct val="100000"/>
              <a:buChar char="•"/>
            </a:pPr>
            <a:r>
              <a:rPr lang="en-US" sz="1600" b="1" dirty="0">
                <a:solidFill>
                  <a:srgbClr val="000000"/>
                </a:solidFill>
              </a:rPr>
              <a:t>Endpoint quality metrics (CK, smells, readability):</a:t>
            </a:r>
            <a:r>
              <a:rPr lang="en-US" sz="1600" dirty="0">
                <a:solidFill>
                  <a:srgbClr val="000000"/>
                </a:solidFill>
              </a:rPr>
              <a:t> compare before vs after, ignore the path taken.</a:t>
            </a:r>
            <a:endParaRPr lang="en-US" sz="1600" dirty="0"/>
          </a:p>
          <a:p>
            <a:pPr marL="342900" indent="-342900">
              <a:spcAft>
                <a:spcPts val="600"/>
              </a:spcAft>
              <a:buSzPct val="100000"/>
              <a:buChar char="•"/>
            </a:pPr>
            <a:r>
              <a:rPr lang="en-US" sz="1600" b="1" dirty="0">
                <a:solidFill>
                  <a:srgbClr val="000000"/>
                </a:solidFill>
              </a:rPr>
              <a:t>Refactoring recommenders / sequence generators</a:t>
            </a:r>
            <a:r>
              <a:rPr lang="en-US" sz="1600" dirty="0">
                <a:solidFill>
                  <a:srgbClr val="000000"/>
                </a:solidFill>
              </a:rPr>
              <a:t>: produce new sequences (typically at small scale), but do not evaluate the one the developer actually walked.</a:t>
            </a:r>
            <a:endParaRPr lang="en-US" sz="1600" dirty="0"/>
          </a:p>
          <a:p>
            <a:pPr marL="342900" indent="-342900">
              <a:spcAft>
                <a:spcPts val="600"/>
              </a:spcAft>
              <a:buSzPct val="100000"/>
              <a:buChar char="•"/>
            </a:pPr>
            <a:r>
              <a:rPr lang="en-US" sz="1600" b="1" dirty="0">
                <a:solidFill>
                  <a:srgbClr val="000000"/>
                </a:solidFill>
              </a:rPr>
              <a:t>Exercise-scoped feedback tools:</a:t>
            </a:r>
            <a:r>
              <a:rPr lang="en-US" sz="1600" dirty="0">
                <a:solidFill>
                  <a:srgbClr val="000000"/>
                </a:solidFill>
              </a:rPr>
              <a:t> one or two look for explicit events inside predefined exercises - but don't generalise to arbitrary refactoring sessions.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00000"/>
                </a:solidFill>
              </a:rPr>
              <a:t>Closest Existing Tool...</a:t>
            </a:r>
            <a:r>
              <a:rPr lang="en-US" sz="2800" b="1" dirty="0">
                <a:solidFill>
                  <a:srgbClr val="888888"/>
                </a:solidFill>
              </a:rPr>
              <a:t>  Industrial Logic</a:t>
            </a:r>
            <a:endParaRPr lang="en-US" sz="2800" dirty="0"/>
          </a:p>
        </p:txBody>
      </p:sp>
      <p:pic>
        <p:nvPicPr>
          <p:cNvPr id="3" name="Image 0" descr="images/industrial-logic-score.png"/>
          <p:cNvPicPr>
            <a:picLocks noChangeAspect="1"/>
          </p:cNvPicPr>
          <p:nvPr/>
        </p:nvPicPr>
        <p:blipFill>
          <a:blip r:embed="rId3"/>
          <a:stretch>
            <a:fillRect/>
          </a:stretch>
        </p:blipFill>
        <p:spPr>
          <a:xfrm>
            <a:off x="320040" y="1188720"/>
            <a:ext cx="2743200" cy="2011680"/>
          </a:xfrm>
          <a:prstGeom prst="rect">
            <a:avLst/>
          </a:prstGeom>
        </p:spPr>
      </p:pic>
      <p:sp>
        <p:nvSpPr>
          <p:cNvPr id="4" name="Text 1"/>
          <p:cNvSpPr/>
          <p:nvPr/>
        </p:nvSpPr>
        <p:spPr>
          <a:xfrm>
            <a:off x="320040" y="3291840"/>
            <a:ext cx="2743200" cy="274320"/>
          </a:xfrm>
          <a:prstGeom prst="rect">
            <a:avLst/>
          </a:prstGeom>
          <a:noFill/>
          <a:ln/>
        </p:spPr>
        <p:txBody>
          <a:bodyPr wrap="square" lIns="0" tIns="0" rIns="0" bIns="0" rtlCol="0" anchor="ctr"/>
          <a:lstStyle/>
          <a:p>
            <a:pPr marL="0" indent="0" algn="ctr">
              <a:buNone/>
            </a:pPr>
            <a:r>
              <a:rPr lang="en-US" sz="1200" i="1" dirty="0">
                <a:solidFill>
                  <a:srgbClr val="555555"/>
                </a:solidFill>
              </a:rPr>
              <a:t>Score</a:t>
            </a:r>
            <a:endParaRPr lang="en-US" sz="1200" dirty="0"/>
          </a:p>
        </p:txBody>
      </p:sp>
      <p:pic>
        <p:nvPicPr>
          <p:cNvPr id="5" name="Image 1" descr="images/industrial-logic-compilation-tests.png"/>
          <p:cNvPicPr>
            <a:picLocks noChangeAspect="1"/>
          </p:cNvPicPr>
          <p:nvPr/>
        </p:nvPicPr>
        <p:blipFill>
          <a:blip r:embed="rId4"/>
          <a:stretch>
            <a:fillRect/>
          </a:stretch>
        </p:blipFill>
        <p:spPr>
          <a:xfrm>
            <a:off x="3200400" y="1188720"/>
            <a:ext cx="2743200" cy="1335024"/>
          </a:xfrm>
          <a:prstGeom prst="rect">
            <a:avLst/>
          </a:prstGeom>
        </p:spPr>
      </p:pic>
      <p:sp>
        <p:nvSpPr>
          <p:cNvPr id="6" name="Text 2"/>
          <p:cNvSpPr/>
          <p:nvPr/>
        </p:nvSpPr>
        <p:spPr>
          <a:xfrm>
            <a:off x="3200400" y="3291840"/>
            <a:ext cx="2743200" cy="274320"/>
          </a:xfrm>
          <a:prstGeom prst="rect">
            <a:avLst/>
          </a:prstGeom>
          <a:noFill/>
          <a:ln/>
        </p:spPr>
        <p:txBody>
          <a:bodyPr wrap="square" lIns="0" tIns="0" rIns="0" bIns="0" rtlCol="0" anchor="ctr"/>
          <a:lstStyle/>
          <a:p>
            <a:pPr marL="0" indent="0" algn="ctr">
              <a:buNone/>
            </a:pPr>
            <a:r>
              <a:rPr lang="en-US" sz="1200" i="1" dirty="0">
                <a:solidFill>
                  <a:srgbClr val="555555"/>
                </a:solidFill>
              </a:rPr>
              <a:t>Compilation + tests</a:t>
            </a:r>
            <a:endParaRPr lang="en-US" sz="1200" dirty="0"/>
          </a:p>
        </p:txBody>
      </p:sp>
      <p:pic>
        <p:nvPicPr>
          <p:cNvPr id="7" name="Image 2" descr="images/industrial-logic-refactorings.png"/>
          <p:cNvPicPr>
            <a:picLocks noChangeAspect="1"/>
          </p:cNvPicPr>
          <p:nvPr/>
        </p:nvPicPr>
        <p:blipFill>
          <a:blip r:embed="rId5"/>
          <a:stretch>
            <a:fillRect/>
          </a:stretch>
        </p:blipFill>
        <p:spPr>
          <a:xfrm>
            <a:off x="6080760" y="1188720"/>
            <a:ext cx="2743200" cy="1609344"/>
          </a:xfrm>
          <a:prstGeom prst="rect">
            <a:avLst/>
          </a:prstGeom>
        </p:spPr>
      </p:pic>
      <p:sp>
        <p:nvSpPr>
          <p:cNvPr id="8" name="Text 3"/>
          <p:cNvSpPr/>
          <p:nvPr/>
        </p:nvSpPr>
        <p:spPr>
          <a:xfrm>
            <a:off x="6080760" y="3291840"/>
            <a:ext cx="2743200" cy="274320"/>
          </a:xfrm>
          <a:prstGeom prst="rect">
            <a:avLst/>
          </a:prstGeom>
          <a:noFill/>
          <a:ln/>
        </p:spPr>
        <p:txBody>
          <a:bodyPr wrap="square" lIns="0" tIns="0" rIns="0" bIns="0" rtlCol="0" anchor="ctr"/>
          <a:lstStyle/>
          <a:p>
            <a:pPr marL="0" indent="0" algn="ctr">
              <a:buNone/>
            </a:pPr>
            <a:r>
              <a:rPr lang="en-US" sz="1200" i="1" dirty="0">
                <a:solidFill>
                  <a:srgbClr val="555555"/>
                </a:solidFill>
              </a:rPr>
              <a:t>Refactorings</a:t>
            </a:r>
            <a:endParaRPr lang="en-US" sz="1200" dirty="0"/>
          </a:p>
        </p:txBody>
      </p:sp>
      <p:sp>
        <p:nvSpPr>
          <p:cNvPr id="9" name="Text 4"/>
          <p:cNvSpPr/>
          <p:nvPr/>
        </p:nvSpPr>
        <p:spPr>
          <a:xfrm>
            <a:off x="457200" y="4023360"/>
            <a:ext cx="8229600" cy="914400"/>
          </a:xfrm>
          <a:prstGeom prst="rect">
            <a:avLst/>
          </a:prstGeom>
          <a:noFill/>
          <a:ln/>
        </p:spPr>
        <p:txBody>
          <a:bodyPr wrap="square" lIns="0" tIns="0" rIns="0" bIns="0" rtlCol="0" anchor="ctr"/>
          <a:lstStyle/>
          <a:p>
            <a:pPr marL="0" indent="0" algn="ctr">
              <a:buNone/>
            </a:pPr>
            <a:r>
              <a:rPr lang="en-US" sz="1400" b="1" i="1" dirty="0">
                <a:solidFill>
                  <a:srgbClr val="0000CD"/>
                </a:solidFill>
              </a:rPr>
              <a:t>Gap: </a:t>
            </a:r>
            <a:r>
              <a:rPr lang="en-US" sz="1400" i="1" dirty="0">
                <a:solidFill>
                  <a:srgbClr val="0000CD"/>
                </a:solidFill>
              </a:rPr>
              <a:t>no system scores an arbitrary observed refactoring session against an explicit process-quality metric, and shows where a better path was available.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00000"/>
                </a:solidFill>
              </a:rPr>
              <a:t>Narrowing the design space</a:t>
            </a:r>
            <a:endParaRPr lang="en-US" sz="2800" dirty="0"/>
          </a:p>
        </p:txBody>
      </p:sp>
      <p:sp>
        <p:nvSpPr>
          <p:cNvPr id="3" name="Text 1"/>
          <p:cNvSpPr/>
          <p:nvPr/>
        </p:nvSpPr>
        <p:spPr>
          <a:xfrm>
            <a:off x="457200" y="1097280"/>
            <a:ext cx="8229600" cy="457200"/>
          </a:xfrm>
          <a:prstGeom prst="rect">
            <a:avLst/>
          </a:prstGeom>
          <a:noFill/>
          <a:ln/>
        </p:spPr>
        <p:txBody>
          <a:bodyPr wrap="square" lIns="0" tIns="0" rIns="0" bIns="0" rtlCol="0" anchor="ctr"/>
          <a:lstStyle/>
          <a:p>
            <a:pPr marL="0" indent="0">
              <a:buNone/>
            </a:pPr>
            <a:r>
              <a:rPr lang="en-US" sz="1300" i="1" dirty="0">
                <a:solidFill>
                  <a:srgbClr val="555555"/>
                </a:solidFill>
              </a:rPr>
              <a:t>Evaluating refactoring as a process is a wide, mostly-unexplored design space. Four requirements shaped what we built.</a:t>
            </a:r>
            <a:endParaRPr lang="en-US" sz="1300" dirty="0"/>
          </a:p>
        </p:txBody>
      </p:sp>
      <p:sp>
        <p:nvSpPr>
          <p:cNvPr id="4" name="Text 2"/>
          <p:cNvSpPr/>
          <p:nvPr/>
        </p:nvSpPr>
        <p:spPr>
          <a:xfrm>
            <a:off x="457200" y="1645920"/>
            <a:ext cx="8229600" cy="2926080"/>
          </a:xfrm>
          <a:prstGeom prst="rect">
            <a:avLst/>
          </a:prstGeom>
          <a:noFill/>
          <a:ln/>
        </p:spPr>
        <p:txBody>
          <a:bodyPr wrap="square" rtlCol="0" anchor="t"/>
          <a:lstStyle/>
          <a:p>
            <a:pPr marL="342900" indent="-342900">
              <a:spcAft>
                <a:spcPts val="600"/>
              </a:spcAft>
              <a:buSzPct val="100000"/>
              <a:buChar char="•"/>
            </a:pPr>
            <a:r>
              <a:rPr lang="en-US" sz="1400" b="1" dirty="0">
                <a:solidFill>
                  <a:srgbClr val="000000"/>
                </a:solidFill>
              </a:rPr>
              <a:t>Quantifiable + comparable score </a:t>
            </a:r>
            <a:r>
              <a:rPr lang="en-US" sz="1400" dirty="0">
                <a:solidFill>
                  <a:srgbClr val="888888"/>
                </a:solidFill>
              </a:rPr>
              <a:t>- one number per trajectory so sessions can be compared. [1]</a:t>
            </a:r>
            <a:endParaRPr lang="en-US" sz="1400" dirty="0"/>
          </a:p>
          <a:p>
            <a:pPr marL="342900" indent="-342900">
              <a:spcAft>
                <a:spcPts val="600"/>
              </a:spcAft>
              <a:buSzPct val="100000"/>
              <a:buChar char="•"/>
            </a:pPr>
            <a:r>
              <a:rPr lang="en-US" sz="1400" b="1" dirty="0">
                <a:solidFill>
                  <a:srgbClr val="000000"/>
                </a:solidFill>
              </a:rPr>
              <a:t>Seamless, in-workflow capture </a:t>
            </a:r>
            <a:r>
              <a:rPr lang="en-US" sz="1400" dirty="0">
                <a:solidFill>
                  <a:srgbClr val="888888"/>
                </a:solidFill>
              </a:rPr>
              <a:t>- zero extra developer effort to use the tool. [2]</a:t>
            </a:r>
            <a:endParaRPr lang="en-US" sz="1400" dirty="0"/>
          </a:p>
          <a:p>
            <a:pPr marL="342900" indent="-342900">
              <a:spcAft>
                <a:spcPts val="600"/>
              </a:spcAft>
              <a:buSzPct val="100000"/>
              <a:buChar char="•"/>
            </a:pPr>
            <a:r>
              <a:rPr lang="en-US" sz="1400" b="1" dirty="0">
                <a:solidFill>
                  <a:srgbClr val="000000"/>
                </a:solidFill>
              </a:rPr>
              <a:t>Actionable, moment-specific feedback </a:t>
            </a:r>
            <a:r>
              <a:rPr lang="en-US" sz="1400" dirty="0">
                <a:solidFill>
                  <a:srgbClr val="888888"/>
                </a:solidFill>
              </a:rPr>
              <a:t>- point to a specific moment AND a "what you could have done instead" alternative. [3]</a:t>
            </a:r>
            <a:endParaRPr lang="en-US" sz="1400" dirty="0"/>
          </a:p>
          <a:p>
            <a:pPr marL="342900" indent="-342900">
              <a:spcAft>
                <a:spcPts val="600"/>
              </a:spcAft>
              <a:buSzPct val="100000"/>
              <a:buChar char="•"/>
            </a:pPr>
            <a:r>
              <a:rPr lang="en-US" sz="1400" b="1" dirty="0">
                <a:solidFill>
                  <a:srgbClr val="000000"/>
                </a:solidFill>
              </a:rPr>
              <a:t>Efficient alternative synthesis </a:t>
            </a:r>
            <a:r>
              <a:rPr lang="en-US" sz="1400" dirty="0">
                <a:solidFill>
                  <a:srgbClr val="888888"/>
                </a:solidFill>
              </a:rPr>
              <a:t>- the state-action space over a real codebase is too large to enumerate, so we must find efficient methods of identifying "better" alternatives.</a:t>
            </a:r>
            <a:endParaRPr lang="en-US" sz="1400" dirty="0"/>
          </a:p>
        </p:txBody>
      </p:sp>
      <p:sp>
        <p:nvSpPr>
          <p:cNvPr id="5" name="Text 3"/>
          <p:cNvSpPr/>
          <p:nvPr/>
        </p:nvSpPr>
        <p:spPr>
          <a:xfrm>
            <a:off x="457200" y="4663440"/>
            <a:ext cx="8229600" cy="411480"/>
          </a:xfrm>
          <a:prstGeom prst="rect">
            <a:avLst/>
          </a:prstGeom>
          <a:noFill/>
          <a:ln/>
        </p:spPr>
        <p:txBody>
          <a:bodyPr wrap="square" lIns="0" tIns="0" rIns="0" bIns="0" rtlCol="0" anchor="t"/>
          <a:lstStyle/>
          <a:p>
            <a:pPr marL="0" indent="0" algn="l">
              <a:buNone/>
            </a:pPr>
            <a:r>
              <a:rPr lang="en-US" sz="900" i="1" dirty="0">
                <a:solidFill>
                  <a:srgbClr val="888888"/>
                </a:solidFill>
              </a:rPr>
              <a:t>[1] Composite quality models (Quamoco, QMOOD), adapted from snapshot- to trajectory-level.   [2] IDE-event logging (Damevski et al., CodeWatcher).   [3] Inverts prior refactoring recommenders (ReSynth, Refactoring Navigator, search-based refactoring).</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1783080"/>
            <a:ext cx="8229600" cy="1097280"/>
          </a:xfrm>
          <a:prstGeom prst="rect">
            <a:avLst/>
          </a:prstGeom>
          <a:noFill/>
          <a:ln/>
        </p:spPr>
        <p:txBody>
          <a:bodyPr wrap="square" lIns="0" tIns="0" rIns="0" bIns="0" rtlCol="0" anchor="ctr"/>
          <a:lstStyle/>
          <a:p>
            <a:pPr marL="0" indent="0" algn="ctr">
              <a:buNone/>
            </a:pPr>
            <a:r>
              <a:rPr lang="en-US" sz="6000" b="1" dirty="0">
                <a:solidFill>
                  <a:srgbClr val="000000"/>
                </a:solidFill>
              </a:rPr>
              <a:t>Demo</a:t>
            </a:r>
            <a:endParaRPr lang="en-US" sz="6000" dirty="0"/>
          </a:p>
        </p:txBody>
      </p:sp>
      <p:sp>
        <p:nvSpPr>
          <p:cNvPr id="3" name="Text 1"/>
          <p:cNvSpPr/>
          <p:nvPr/>
        </p:nvSpPr>
        <p:spPr>
          <a:xfrm>
            <a:off x="457200" y="2971800"/>
            <a:ext cx="8229600" cy="457200"/>
          </a:xfrm>
          <a:prstGeom prst="rect">
            <a:avLst/>
          </a:prstGeom>
          <a:noFill/>
          <a:ln/>
        </p:spPr>
        <p:txBody>
          <a:bodyPr wrap="square" lIns="0" tIns="0" rIns="0" bIns="0" rtlCol="0" anchor="ctr"/>
          <a:lstStyle/>
          <a:p>
            <a:pPr marL="0" indent="0" algn="ctr">
              <a:buNone/>
            </a:pPr>
            <a:r>
              <a:rPr lang="en-US" sz="2000" i="1" dirty="0">
                <a:solidFill>
                  <a:srgbClr val="555555"/>
                </a:solidFill>
              </a:rPr>
              <a:t>OrderProcessor: Breaking up a long method into smaller methods</a:t>
            </a:r>
            <a:endParaRPr lang="en-US" sz="2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00000"/>
                </a:solidFill>
              </a:rPr>
              <a:t>What the tool does, end to end</a:t>
            </a:r>
            <a:endParaRPr lang="en-US" sz="2800" dirty="0"/>
          </a:p>
        </p:txBody>
      </p:sp>
      <p:sp>
        <p:nvSpPr>
          <p:cNvPr id="3" name="Shape 1"/>
          <p:cNvSpPr/>
          <p:nvPr/>
        </p:nvSpPr>
        <p:spPr>
          <a:xfrm>
            <a:off x="182880" y="1463040"/>
            <a:ext cx="2377440" cy="2377440"/>
          </a:xfrm>
          <a:prstGeom prst="rect">
            <a:avLst/>
          </a:prstGeom>
          <a:solidFill>
            <a:srgbClr val="FFFFFF"/>
          </a:solidFill>
          <a:ln w="12700">
            <a:solidFill>
              <a:srgbClr val="000000"/>
            </a:solidFill>
            <a:prstDash val="solid"/>
          </a:ln>
        </p:spPr>
        <p:txBody>
          <a:bodyPr/>
          <a:lstStyle/>
          <a:p>
            <a:endParaRPr lang="en-US"/>
          </a:p>
        </p:txBody>
      </p:sp>
      <p:sp>
        <p:nvSpPr>
          <p:cNvPr id="4" name="Text 2"/>
          <p:cNvSpPr/>
          <p:nvPr/>
        </p:nvSpPr>
        <p:spPr>
          <a:xfrm>
            <a:off x="274320" y="1645920"/>
            <a:ext cx="2194560" cy="457200"/>
          </a:xfrm>
          <a:prstGeom prst="rect">
            <a:avLst/>
          </a:prstGeom>
          <a:noFill/>
          <a:ln/>
        </p:spPr>
        <p:txBody>
          <a:bodyPr wrap="square" lIns="0" tIns="0" rIns="0" bIns="0" rtlCol="0" anchor="ctr"/>
          <a:lstStyle/>
          <a:p>
            <a:pPr marL="0" indent="0" algn="ctr">
              <a:buNone/>
            </a:pPr>
            <a:r>
              <a:rPr lang="en-US" sz="1600" b="1" dirty="0">
                <a:solidFill>
                  <a:srgbClr val="000000"/>
                </a:solidFill>
              </a:rPr>
              <a:t>IntelliJ Plugin</a:t>
            </a:r>
            <a:endParaRPr lang="en-US" sz="1600" dirty="0"/>
          </a:p>
        </p:txBody>
      </p:sp>
      <p:sp>
        <p:nvSpPr>
          <p:cNvPr id="5" name="Shape 3"/>
          <p:cNvSpPr/>
          <p:nvPr/>
        </p:nvSpPr>
        <p:spPr>
          <a:xfrm>
            <a:off x="457200" y="2194560"/>
            <a:ext cx="1828800" cy="0"/>
          </a:xfrm>
          <a:prstGeom prst="line">
            <a:avLst/>
          </a:prstGeom>
          <a:noFill/>
          <a:ln w="9525">
            <a:solidFill>
              <a:srgbClr val="999999"/>
            </a:solidFill>
            <a:prstDash val="solid"/>
          </a:ln>
        </p:spPr>
        <p:txBody>
          <a:bodyPr/>
          <a:lstStyle/>
          <a:p>
            <a:endParaRPr lang="en-US"/>
          </a:p>
        </p:txBody>
      </p:sp>
      <p:sp>
        <p:nvSpPr>
          <p:cNvPr id="6" name="Text 4"/>
          <p:cNvSpPr/>
          <p:nvPr/>
        </p:nvSpPr>
        <p:spPr>
          <a:xfrm>
            <a:off x="411480" y="2377440"/>
            <a:ext cx="2011680" cy="1371600"/>
          </a:xfrm>
          <a:prstGeom prst="rect">
            <a:avLst/>
          </a:prstGeom>
          <a:noFill/>
          <a:ln/>
        </p:spPr>
        <p:txBody>
          <a:bodyPr wrap="square" rtlCol="0" anchor="t"/>
          <a:lstStyle/>
          <a:p>
            <a:pPr marL="342900" indent="-342900">
              <a:spcAft>
                <a:spcPts val="800"/>
              </a:spcAft>
              <a:buSzPct val="100000"/>
              <a:buChar char="•"/>
            </a:pPr>
            <a:r>
              <a:rPr lang="en-US" sz="1200" dirty="0">
                <a:solidFill>
                  <a:srgbClr val="333333"/>
                </a:solidFill>
              </a:rPr>
              <a:t>Records developer events</a:t>
            </a:r>
            <a:endParaRPr lang="en-US" sz="1200" dirty="0"/>
          </a:p>
          <a:p>
            <a:pPr marL="342900" indent="-342900">
              <a:spcAft>
                <a:spcPts val="800"/>
              </a:spcAft>
              <a:buSzPct val="100000"/>
              <a:buChar char="•"/>
            </a:pPr>
            <a:r>
              <a:rPr lang="en-US" sz="1200" dirty="0">
                <a:solidFill>
                  <a:srgbClr val="333333"/>
                </a:solidFill>
              </a:rPr>
              <a:t>Captures initial codebase</a:t>
            </a:r>
            <a:endParaRPr lang="en-US" sz="1200" dirty="0"/>
          </a:p>
        </p:txBody>
      </p:sp>
      <p:sp>
        <p:nvSpPr>
          <p:cNvPr id="7" name="Shape 5"/>
          <p:cNvSpPr/>
          <p:nvPr/>
        </p:nvSpPr>
        <p:spPr>
          <a:xfrm>
            <a:off x="3383280" y="1463040"/>
            <a:ext cx="2377440" cy="2377440"/>
          </a:xfrm>
          <a:prstGeom prst="rect">
            <a:avLst/>
          </a:prstGeom>
          <a:solidFill>
            <a:srgbClr val="FFFFFF"/>
          </a:solidFill>
          <a:ln w="12700">
            <a:solidFill>
              <a:srgbClr val="000000"/>
            </a:solidFill>
            <a:prstDash val="solid"/>
          </a:ln>
        </p:spPr>
        <p:txBody>
          <a:bodyPr/>
          <a:lstStyle/>
          <a:p>
            <a:endParaRPr lang="en-US"/>
          </a:p>
        </p:txBody>
      </p:sp>
      <p:sp>
        <p:nvSpPr>
          <p:cNvPr id="8" name="Text 6"/>
          <p:cNvSpPr/>
          <p:nvPr/>
        </p:nvSpPr>
        <p:spPr>
          <a:xfrm>
            <a:off x="3474720" y="1645920"/>
            <a:ext cx="2194560" cy="457200"/>
          </a:xfrm>
          <a:prstGeom prst="rect">
            <a:avLst/>
          </a:prstGeom>
          <a:noFill/>
          <a:ln/>
        </p:spPr>
        <p:txBody>
          <a:bodyPr wrap="square" lIns="0" tIns="0" rIns="0" bIns="0" rtlCol="0" anchor="ctr"/>
          <a:lstStyle/>
          <a:p>
            <a:pPr marL="0" indent="0" algn="ctr">
              <a:buNone/>
            </a:pPr>
            <a:r>
              <a:rPr lang="en-US" sz="1600" b="1" dirty="0">
                <a:solidFill>
                  <a:srgbClr val="000000"/>
                </a:solidFill>
              </a:rPr>
              <a:t>Analysis Backend</a:t>
            </a:r>
            <a:endParaRPr lang="en-US" sz="1600" dirty="0"/>
          </a:p>
        </p:txBody>
      </p:sp>
      <p:sp>
        <p:nvSpPr>
          <p:cNvPr id="9" name="Shape 7"/>
          <p:cNvSpPr/>
          <p:nvPr/>
        </p:nvSpPr>
        <p:spPr>
          <a:xfrm>
            <a:off x="3657600" y="2194560"/>
            <a:ext cx="1828800" cy="0"/>
          </a:xfrm>
          <a:prstGeom prst="line">
            <a:avLst/>
          </a:prstGeom>
          <a:noFill/>
          <a:ln w="9525">
            <a:solidFill>
              <a:srgbClr val="999999"/>
            </a:solidFill>
            <a:prstDash val="solid"/>
          </a:ln>
        </p:spPr>
        <p:txBody>
          <a:bodyPr/>
          <a:lstStyle/>
          <a:p>
            <a:endParaRPr lang="en-US"/>
          </a:p>
        </p:txBody>
      </p:sp>
      <p:sp>
        <p:nvSpPr>
          <p:cNvPr id="10" name="Text 8"/>
          <p:cNvSpPr/>
          <p:nvPr/>
        </p:nvSpPr>
        <p:spPr>
          <a:xfrm>
            <a:off x="3611880" y="2377440"/>
            <a:ext cx="2011680" cy="1371600"/>
          </a:xfrm>
          <a:prstGeom prst="rect">
            <a:avLst/>
          </a:prstGeom>
          <a:noFill/>
          <a:ln/>
        </p:spPr>
        <p:txBody>
          <a:bodyPr wrap="square" rtlCol="0" anchor="t"/>
          <a:lstStyle/>
          <a:p>
            <a:pPr marL="342900" indent="-342900">
              <a:spcAft>
                <a:spcPts val="800"/>
              </a:spcAft>
              <a:buSzPct val="100000"/>
              <a:buChar char="•"/>
            </a:pPr>
            <a:r>
              <a:rPr lang="en-US" sz="1200" dirty="0">
                <a:solidFill>
                  <a:srgbClr val="333333"/>
                </a:solidFill>
              </a:rPr>
              <a:t>Shadow repo reconstruction</a:t>
            </a:r>
            <a:endParaRPr lang="en-US" sz="1200" dirty="0"/>
          </a:p>
          <a:p>
            <a:pPr marL="342900" indent="-342900">
              <a:spcAft>
                <a:spcPts val="800"/>
              </a:spcAft>
              <a:buSzPct val="100000"/>
              <a:buChar char="•"/>
            </a:pPr>
            <a:r>
              <a:rPr lang="en-US" sz="1200" dirty="0">
                <a:solidFill>
                  <a:srgbClr val="333333"/>
                </a:solidFill>
              </a:rPr>
              <a:t>Metric calculation</a:t>
            </a:r>
            <a:endParaRPr lang="en-US" sz="1200" dirty="0"/>
          </a:p>
          <a:p>
            <a:pPr marL="342900" indent="-342900">
              <a:spcAft>
                <a:spcPts val="800"/>
              </a:spcAft>
              <a:buSzPct val="100000"/>
              <a:buChar char="•"/>
            </a:pPr>
            <a:r>
              <a:rPr lang="en-US" sz="1200" dirty="0">
                <a:solidFill>
                  <a:srgbClr val="333333"/>
                </a:solidFill>
              </a:rPr>
              <a:t>Divergence detection &amp; synthesis</a:t>
            </a:r>
            <a:endParaRPr lang="en-US" sz="1200" dirty="0"/>
          </a:p>
        </p:txBody>
      </p:sp>
      <p:sp>
        <p:nvSpPr>
          <p:cNvPr id="11" name="Shape 9"/>
          <p:cNvSpPr/>
          <p:nvPr/>
        </p:nvSpPr>
        <p:spPr>
          <a:xfrm>
            <a:off x="6583680" y="1463040"/>
            <a:ext cx="2377440" cy="2377440"/>
          </a:xfrm>
          <a:prstGeom prst="rect">
            <a:avLst/>
          </a:prstGeom>
          <a:solidFill>
            <a:srgbClr val="FFFFFF"/>
          </a:solidFill>
          <a:ln w="12700">
            <a:solidFill>
              <a:srgbClr val="000000"/>
            </a:solidFill>
            <a:prstDash val="solid"/>
          </a:ln>
        </p:spPr>
        <p:txBody>
          <a:bodyPr/>
          <a:lstStyle/>
          <a:p>
            <a:endParaRPr lang="en-US"/>
          </a:p>
        </p:txBody>
      </p:sp>
      <p:sp>
        <p:nvSpPr>
          <p:cNvPr id="12" name="Text 10"/>
          <p:cNvSpPr/>
          <p:nvPr/>
        </p:nvSpPr>
        <p:spPr>
          <a:xfrm>
            <a:off x="6675120" y="1645920"/>
            <a:ext cx="2194560" cy="457200"/>
          </a:xfrm>
          <a:prstGeom prst="rect">
            <a:avLst/>
          </a:prstGeom>
          <a:noFill/>
          <a:ln/>
        </p:spPr>
        <p:txBody>
          <a:bodyPr wrap="square" lIns="0" tIns="0" rIns="0" bIns="0" rtlCol="0" anchor="ctr"/>
          <a:lstStyle/>
          <a:p>
            <a:pPr marL="0" indent="0" algn="ctr">
              <a:buNone/>
            </a:pPr>
            <a:r>
              <a:rPr lang="en-US" sz="1600" b="1" dirty="0">
                <a:solidFill>
                  <a:srgbClr val="000000"/>
                </a:solidFill>
              </a:rPr>
              <a:t>Dashboard</a:t>
            </a:r>
            <a:endParaRPr lang="en-US" sz="1600" dirty="0"/>
          </a:p>
        </p:txBody>
      </p:sp>
      <p:sp>
        <p:nvSpPr>
          <p:cNvPr id="13" name="Shape 11"/>
          <p:cNvSpPr/>
          <p:nvPr/>
        </p:nvSpPr>
        <p:spPr>
          <a:xfrm>
            <a:off x="6858000" y="2194560"/>
            <a:ext cx="1828800" cy="0"/>
          </a:xfrm>
          <a:prstGeom prst="line">
            <a:avLst/>
          </a:prstGeom>
          <a:noFill/>
          <a:ln w="9525">
            <a:solidFill>
              <a:srgbClr val="999999"/>
            </a:solidFill>
            <a:prstDash val="solid"/>
          </a:ln>
        </p:spPr>
        <p:txBody>
          <a:bodyPr/>
          <a:lstStyle/>
          <a:p>
            <a:endParaRPr lang="en-US"/>
          </a:p>
        </p:txBody>
      </p:sp>
      <p:sp>
        <p:nvSpPr>
          <p:cNvPr id="14" name="Text 12"/>
          <p:cNvSpPr/>
          <p:nvPr/>
        </p:nvSpPr>
        <p:spPr>
          <a:xfrm>
            <a:off x="6812280" y="2377440"/>
            <a:ext cx="2011680" cy="1371600"/>
          </a:xfrm>
          <a:prstGeom prst="rect">
            <a:avLst/>
          </a:prstGeom>
          <a:noFill/>
          <a:ln/>
        </p:spPr>
        <p:txBody>
          <a:bodyPr wrap="square" rtlCol="0" anchor="t"/>
          <a:lstStyle/>
          <a:p>
            <a:pPr marL="342900" indent="-342900">
              <a:spcAft>
                <a:spcPts val="800"/>
              </a:spcAft>
              <a:buSzPct val="100000"/>
              <a:buChar char="•"/>
            </a:pPr>
            <a:r>
              <a:rPr lang="en-US" sz="1200" dirty="0">
                <a:solidFill>
                  <a:srgbClr val="333333"/>
                </a:solidFill>
              </a:rPr>
              <a:t>Surfaces divergence points in context</a:t>
            </a:r>
            <a:endParaRPr lang="en-US" sz="1200" dirty="0"/>
          </a:p>
          <a:p>
            <a:pPr marL="342900" indent="-342900">
              <a:spcAft>
                <a:spcPts val="800"/>
              </a:spcAft>
              <a:buSzPct val="100000"/>
              <a:buChar char="•"/>
            </a:pPr>
            <a:r>
              <a:rPr lang="en-US" sz="1200" dirty="0">
                <a:solidFill>
                  <a:srgbClr val="333333"/>
                </a:solidFill>
              </a:rPr>
              <a:t>Explains alternative paths</a:t>
            </a:r>
            <a:endParaRPr lang="en-US" sz="1200" dirty="0"/>
          </a:p>
        </p:txBody>
      </p:sp>
      <p:sp>
        <p:nvSpPr>
          <p:cNvPr id="15" name="Shape 13"/>
          <p:cNvSpPr/>
          <p:nvPr/>
        </p:nvSpPr>
        <p:spPr>
          <a:xfrm>
            <a:off x="2560320" y="2651760"/>
            <a:ext cx="822960" cy="0"/>
          </a:xfrm>
          <a:prstGeom prst="line">
            <a:avLst/>
          </a:prstGeom>
          <a:noFill/>
          <a:ln w="19050">
            <a:solidFill>
              <a:srgbClr val="000000"/>
            </a:solidFill>
            <a:prstDash val="solid"/>
            <a:tailEnd type="triangle"/>
          </a:ln>
        </p:spPr>
        <p:txBody>
          <a:bodyPr/>
          <a:lstStyle/>
          <a:p>
            <a:endParaRPr lang="en-US"/>
          </a:p>
        </p:txBody>
      </p:sp>
      <p:sp>
        <p:nvSpPr>
          <p:cNvPr id="16" name="Text 14"/>
          <p:cNvSpPr/>
          <p:nvPr/>
        </p:nvSpPr>
        <p:spPr>
          <a:xfrm>
            <a:off x="2514600" y="2148840"/>
            <a:ext cx="914400" cy="457200"/>
          </a:xfrm>
          <a:prstGeom prst="rect">
            <a:avLst/>
          </a:prstGeom>
          <a:noFill/>
          <a:ln/>
        </p:spPr>
        <p:txBody>
          <a:bodyPr wrap="square" lIns="0" tIns="0" rIns="0" bIns="0" rtlCol="0" anchor="b"/>
          <a:lstStyle/>
          <a:p>
            <a:pPr marL="0" indent="0" algn="ctr">
              <a:buNone/>
            </a:pPr>
            <a:r>
              <a:rPr lang="en-US" sz="900" i="1" dirty="0">
                <a:solidFill>
                  <a:srgbClr val="555555"/>
                </a:solidFill>
              </a:rPr>
              <a:t>events.jsonl + initial-src/</a:t>
            </a:r>
            <a:endParaRPr lang="en-US" sz="900" dirty="0"/>
          </a:p>
        </p:txBody>
      </p:sp>
      <p:sp>
        <p:nvSpPr>
          <p:cNvPr id="17" name="Shape 15"/>
          <p:cNvSpPr/>
          <p:nvPr/>
        </p:nvSpPr>
        <p:spPr>
          <a:xfrm>
            <a:off x="5760720" y="2651760"/>
            <a:ext cx="822960" cy="0"/>
          </a:xfrm>
          <a:prstGeom prst="line">
            <a:avLst/>
          </a:prstGeom>
          <a:noFill/>
          <a:ln w="19050">
            <a:solidFill>
              <a:srgbClr val="000000"/>
            </a:solidFill>
            <a:prstDash val="solid"/>
            <a:tailEnd type="triangle"/>
          </a:ln>
        </p:spPr>
        <p:txBody>
          <a:bodyPr/>
          <a:lstStyle/>
          <a:p>
            <a:endParaRPr lang="en-US"/>
          </a:p>
        </p:txBody>
      </p:sp>
      <p:sp>
        <p:nvSpPr>
          <p:cNvPr id="18" name="Text 16"/>
          <p:cNvSpPr/>
          <p:nvPr/>
        </p:nvSpPr>
        <p:spPr>
          <a:xfrm>
            <a:off x="5715000" y="2148840"/>
            <a:ext cx="914400" cy="457200"/>
          </a:xfrm>
          <a:prstGeom prst="rect">
            <a:avLst/>
          </a:prstGeom>
          <a:noFill/>
          <a:ln/>
        </p:spPr>
        <p:txBody>
          <a:bodyPr wrap="square" lIns="0" tIns="0" rIns="0" bIns="0" rtlCol="0" anchor="b"/>
          <a:lstStyle/>
          <a:p>
            <a:pPr marL="0" indent="0" algn="ctr">
              <a:buNone/>
            </a:pPr>
            <a:r>
              <a:rPr lang="en-US" sz="900" i="1" dirty="0">
                <a:solidFill>
                  <a:srgbClr val="555555"/>
                </a:solidFill>
              </a:rPr>
              <a:t>analysis</a:t>
            </a:r>
            <a:endParaRPr lang="en-US" sz="900" dirty="0"/>
          </a:p>
          <a:p>
            <a:pPr marL="0" indent="0" algn="ctr">
              <a:buNone/>
            </a:pPr>
            <a:r>
              <a:rPr lang="en-US" sz="900" i="1" dirty="0">
                <a:solidFill>
                  <a:srgbClr val="555555"/>
                </a:solidFill>
              </a:rPr>
              <a:t>-report.json</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137160"/>
            <a:ext cx="8229600" cy="640080"/>
          </a:xfrm>
          <a:prstGeom prst="rect">
            <a:avLst/>
          </a:prstGeom>
          <a:noFill/>
          <a:ln/>
        </p:spPr>
        <p:txBody>
          <a:bodyPr wrap="square" lIns="0" tIns="0" rIns="0" bIns="0" rtlCol="0" anchor="ctr"/>
          <a:lstStyle/>
          <a:p>
            <a:pPr marL="0" indent="0">
              <a:buNone/>
            </a:pPr>
            <a:r>
              <a:rPr lang="en-US" sz="2800" b="1" dirty="0">
                <a:solidFill>
                  <a:srgbClr val="000000"/>
                </a:solidFill>
              </a:rPr>
              <a:t>Scoring a trajectory: J(τ)</a:t>
            </a:r>
            <a:endParaRPr lang="en-US" sz="2800" dirty="0"/>
          </a:p>
        </p:txBody>
      </p:sp>
      <p:sp>
        <p:nvSpPr>
          <p:cNvPr id="3" name="Text 1"/>
          <p:cNvSpPr/>
          <p:nvPr/>
        </p:nvSpPr>
        <p:spPr>
          <a:xfrm>
            <a:off x="457200" y="841248"/>
            <a:ext cx="8229600" cy="411480"/>
          </a:xfrm>
          <a:prstGeom prst="rect">
            <a:avLst/>
          </a:prstGeom>
          <a:noFill/>
          <a:ln/>
        </p:spPr>
        <p:txBody>
          <a:bodyPr wrap="square" lIns="0" tIns="0" rIns="0" bIns="0" rtlCol="0" anchor="ctr"/>
          <a:lstStyle/>
          <a:p>
            <a:pPr marL="0" indent="0" algn="ctr">
              <a:buNone/>
            </a:pPr>
            <a:r>
              <a:rPr lang="en-US" sz="2200" dirty="0">
                <a:solidFill>
                  <a:srgbClr val="000000"/>
                </a:solidFill>
              </a:rPr>
              <a:t>J(τ)  =  clip</a:t>
            </a:r>
            <a:r>
              <a:rPr lang="en-US" sz="2200" baseline="-40000" dirty="0">
                <a:solidFill>
                  <a:srgbClr val="000000"/>
                </a:solidFill>
              </a:rPr>
              <a:t>[0,100]</a:t>
            </a:r>
            <a:r>
              <a:rPr lang="en-US" sz="2200" dirty="0">
                <a:solidFill>
                  <a:srgbClr val="000000"/>
                </a:solidFill>
              </a:rPr>
              <a:t>  (    50    </a:t>
            </a:r>
            <a:r>
              <a:rPr lang="en-US" sz="2200" i="1" dirty="0">
                <a:solidFill>
                  <a:srgbClr val="777777"/>
                </a:solidFill>
              </a:rPr>
              <a:t>(baseline)</a:t>
            </a:r>
            <a:r>
              <a:rPr lang="en-US" sz="2200" dirty="0">
                <a:solidFill>
                  <a:srgbClr val="000000"/>
                </a:solidFill>
              </a:rPr>
              <a:t>    +</a:t>
            </a:r>
            <a:endParaRPr lang="en-US" sz="2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2377440" y="1280160"/>
          <a:ext cx="4389120" cy="3236976"/>
        </p:xfrm>
        <a:graphic>
          <a:graphicData uri="http://schemas.openxmlformats.org/drawingml/2006/table">
            <a:tbl>
              <a:tblPr/>
              <a:tblGrid>
                <a:gridCol w="731520">
                  <a:extLst>
                    <a:ext uri="{9D8B030D-6E8A-4147-A177-3AD203B41FA5}">
                      <a16:colId xmlns:a16="http://schemas.microsoft.com/office/drawing/2014/main" val="20000"/>
                    </a:ext>
                  </a:extLst>
                </a:gridCol>
                <a:gridCol w="365760">
                  <a:extLst>
                    <a:ext uri="{9D8B030D-6E8A-4147-A177-3AD203B41FA5}">
                      <a16:colId xmlns:a16="http://schemas.microsoft.com/office/drawing/2014/main" val="20001"/>
                    </a:ext>
                  </a:extLst>
                </a:gridCol>
                <a:gridCol w="3291840">
                  <a:extLst>
                    <a:ext uri="{9D8B030D-6E8A-4147-A177-3AD203B41FA5}">
                      <a16:colId xmlns:a16="http://schemas.microsoft.com/office/drawing/2014/main" val="20002"/>
                    </a:ext>
                  </a:extLst>
                </a:gridCol>
              </a:tblGrid>
              <a:tr h="292608">
                <a:tc>
                  <a:txBody>
                    <a:bodyPr/>
                    <a:lstStyle/>
                    <a:p>
                      <a:pPr marL="0" indent="0" algn="r">
                        <a:buNone/>
                      </a:pPr>
                      <a:r>
                        <a:rPr lang="en-US" sz="1600" b="1" dirty="0">
                          <a:solidFill>
                            <a:srgbClr val="0A7D2A"/>
                          </a:solidFill>
                        </a:rPr>
                        <a:t>+50</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marL="0" indent="0" algn="ctr">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marL="0" indent="0" algn="l">
                        <a:buNone/>
                      </a:pPr>
                      <a:r>
                        <a:rPr lang="en-US" sz="1800" dirty="0">
                          <a:solidFill>
                            <a:srgbClr val="1A1A1A"/>
                          </a:solidFill>
                        </a:rPr>
                        <a:t>cleanliness gain*</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0"/>
                  </a:ext>
                </a:extLst>
              </a:tr>
              <a:tr h="292608">
                <a:tc>
                  <a:txBody>
                    <a:bodyPr/>
                    <a:lstStyle/>
                    <a:p>
                      <a:pPr marL="0" indent="0" algn="r">
                        <a:buNone/>
                      </a:pPr>
                      <a:r>
                        <a:rPr lang="en-US" sz="1600" b="1" dirty="0">
                          <a:solidFill>
                            <a:srgbClr val="0A7D2A"/>
                          </a:solidFill>
                        </a:rPr>
                        <a:t>+11</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marL="0" indent="0" algn="ctr">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marL="0" indent="0" algn="l">
                        <a:buNone/>
                      </a:pPr>
                      <a:r>
                        <a:rPr lang="en-US" sz="1800" dirty="0">
                          <a:solidFill>
                            <a:srgbClr val="1A1A1A"/>
                          </a:solidFill>
                        </a:rPr>
                        <a:t>step-savings bonus</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1"/>
                  </a:ext>
                </a:extLst>
              </a:tr>
              <a:tr h="292608">
                <a:tc>
                  <a:txBody>
                    <a:bodyPr/>
                    <a:lstStyle/>
                    <a:p>
                      <a:pPr marL="0" indent="0" algn="r">
                        <a:buNone/>
                      </a:pPr>
                      <a:r>
                        <a:rPr lang="en-US" sz="1600" b="1" dirty="0">
                          <a:solidFill>
                            <a:srgbClr val="B33A1E"/>
                          </a:solidFill>
                        </a:rPr>
                        <a:t>−28</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marL="0" indent="0" algn="ctr">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marL="0" indent="0" algn="l">
                        <a:buNone/>
                      </a:pPr>
                      <a:r>
                        <a:rPr lang="en-US" sz="1800" dirty="0">
                          <a:solidFill>
                            <a:srgbClr val="1A1A1A"/>
                          </a:solidFill>
                        </a:rPr>
                        <a:t>broken build / test rate</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2"/>
                  </a:ext>
                </a:extLst>
              </a:tr>
              <a:tr h="292608">
                <a:tc>
                  <a:txBody>
                    <a:bodyPr/>
                    <a:lstStyle/>
                    <a:p>
                      <a:pPr marL="0" indent="0" algn="r">
                        <a:buNone/>
                      </a:pPr>
                      <a:r>
                        <a:rPr lang="en-US" sz="1600" b="1" dirty="0">
                          <a:solidFill>
                            <a:srgbClr val="B33A1E"/>
                          </a:solidFill>
                        </a:rPr>
                        <a:t>−14</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marL="0" indent="0" algn="ctr">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marL="0" indent="0" algn="l">
                        <a:buNone/>
                      </a:pPr>
                      <a:r>
                        <a:rPr lang="en-US" sz="1800" dirty="0">
                          <a:solidFill>
                            <a:srgbClr val="1A1A1A"/>
                          </a:solidFill>
                        </a:rPr>
                        <a:t>skipped-test rate</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3"/>
                  </a:ext>
                </a:extLst>
              </a:tr>
              <a:tr h="292608">
                <a:tc>
                  <a:txBody>
                    <a:bodyPr/>
                    <a:lstStyle/>
                    <a:p>
                      <a:pPr marL="0" indent="0" algn="r">
                        <a:buNone/>
                      </a:pPr>
                      <a:r>
                        <a:rPr lang="en-US" sz="1600" b="1" dirty="0">
                          <a:solidFill>
                            <a:srgbClr val="B33A1E"/>
                          </a:solidFill>
                        </a:rPr>
                        <a:t>−11</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marL="0" indent="0" algn="ctr">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marL="0" indent="0" algn="l">
                        <a:buNone/>
                      </a:pPr>
                      <a:r>
                        <a:rPr lang="en-US" sz="1800" dirty="0">
                          <a:solidFill>
                            <a:srgbClr val="1A1A1A"/>
                          </a:solidFill>
                        </a:rPr>
                        <a:t>manual edits the IDE could refactor</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4"/>
                  </a:ext>
                </a:extLst>
              </a:tr>
              <a:tr h="292608">
                <a:tc>
                  <a:txBody>
                    <a:bodyPr/>
                    <a:lstStyle/>
                    <a:p>
                      <a:pPr marL="0" indent="0" algn="r">
                        <a:buNone/>
                      </a:pPr>
                      <a:r>
                        <a:rPr lang="en-US" sz="1600" b="1" dirty="0">
                          <a:solidFill>
                            <a:srgbClr val="B33A1E"/>
                          </a:solidFill>
                        </a:rPr>
                        <a:t>−11</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marL="0" indent="0" algn="ctr">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marL="0" indent="0" algn="l">
                        <a:buNone/>
                      </a:pPr>
                      <a:r>
                        <a:rPr lang="en-US" sz="1800" dirty="0">
                          <a:solidFill>
                            <a:srgbClr val="1A1A1A"/>
                          </a:solidFill>
                        </a:rPr>
                        <a:t>Intermediate cleanliness lag (degradation)</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5"/>
                  </a:ext>
                </a:extLst>
              </a:tr>
              <a:tr h="292608">
                <a:tc>
                  <a:txBody>
                    <a:bodyPr/>
                    <a:lstStyle/>
                    <a:p>
                      <a:pPr marL="0" indent="0" algn="r">
                        <a:buNone/>
                      </a:pPr>
                      <a:r>
                        <a:rPr lang="en-US" sz="1600" b="1" dirty="0">
                          <a:solidFill>
                            <a:srgbClr val="B33A1E"/>
                          </a:solidFill>
                        </a:rPr>
                        <a:t>−7</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marL="0" indent="0" algn="ctr">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marL="0" indent="0" algn="l">
                        <a:buNone/>
                      </a:pPr>
                      <a:r>
                        <a:rPr lang="en-US" sz="1800" dirty="0">
                          <a:solidFill>
                            <a:srgbClr val="1A1A1A"/>
                          </a:solidFill>
                        </a:rPr>
                        <a:t>Long durations without commits</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6"/>
                  </a:ext>
                </a:extLst>
              </a:tr>
            </a:tbl>
          </a:graphicData>
        </a:graphic>
      </p:graphicFrame>
      <p:sp>
        <p:nvSpPr>
          <p:cNvPr id="5" name="Text 2"/>
          <p:cNvSpPr/>
          <p:nvPr/>
        </p:nvSpPr>
        <p:spPr>
          <a:xfrm>
            <a:off x="457200" y="3749040"/>
            <a:ext cx="8229600" cy="411480"/>
          </a:xfrm>
          <a:prstGeom prst="rect">
            <a:avLst/>
          </a:prstGeom>
          <a:noFill/>
          <a:ln/>
        </p:spPr>
        <p:txBody>
          <a:bodyPr wrap="square" lIns="0" tIns="0" rIns="0" bIns="0" rtlCol="0" anchor="ctr"/>
          <a:lstStyle/>
          <a:p>
            <a:pPr marL="0" indent="0" algn="ctr">
              <a:buNone/>
            </a:pPr>
            <a:r>
              <a:rPr lang="en-US" sz="2200" dirty="0">
                <a:solidFill>
                  <a:srgbClr val="000000"/>
                </a:solidFill>
              </a:rPr>
              <a:t>)</a:t>
            </a:r>
            <a:endParaRPr lang="en-US" sz="2200" dirty="0"/>
          </a:p>
        </p:txBody>
      </p:sp>
      <p:sp>
        <p:nvSpPr>
          <p:cNvPr id="6" name="Text 3"/>
          <p:cNvSpPr/>
          <p:nvPr/>
        </p:nvSpPr>
        <p:spPr>
          <a:xfrm>
            <a:off x="457200" y="4526280"/>
            <a:ext cx="8229600" cy="548640"/>
          </a:xfrm>
          <a:prstGeom prst="rect">
            <a:avLst/>
          </a:prstGeom>
          <a:noFill/>
          <a:ln/>
        </p:spPr>
        <p:txBody>
          <a:bodyPr wrap="square" lIns="0" tIns="0" rIns="0" bIns="0" rtlCol="0" anchor="ctr"/>
          <a:lstStyle/>
          <a:p>
            <a:pPr marL="0" indent="0" algn="ctr">
              <a:buNone/>
            </a:pPr>
            <a:r>
              <a:rPr lang="en-US" sz="1100" i="1" dirty="0">
                <a:solidFill>
                  <a:srgbClr val="777777"/>
                </a:solidFill>
              </a:rPr>
              <a:t>* cleanliness gain = mean of 6 normalised signals: complexity, coupling, duplication, readability, smells, cohesion.</a:t>
            </a:r>
            <a:endParaRPr lang="en-US" sz="1100" dirty="0"/>
          </a:p>
          <a:p>
            <a:pPr marL="0" indent="0" algn="ctr">
              <a:buNone/>
            </a:pPr>
            <a:r>
              <a:rPr lang="en-US" sz="1100" i="1" dirty="0">
                <a:solidFill>
                  <a:srgbClr val="777777"/>
                </a:solidFill>
              </a:rPr>
              <a:t>All 6 weighted equally - no trajectory-level calibration data exists, so equal weights are the least-assumptive choice.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00000"/>
                </a:solidFill>
              </a:rPr>
              <a:t>Four kinds of divergence</a:t>
            </a:r>
            <a:endParaRPr lang="en-US" sz="2800" dirty="0"/>
          </a:p>
        </p:txBody>
      </p:sp>
      <p:sp>
        <p:nvSpPr>
          <p:cNvPr id="3" name="Text 1"/>
          <p:cNvSpPr/>
          <p:nvPr/>
        </p:nvSpPr>
        <p:spPr>
          <a:xfrm>
            <a:off x="457200" y="1371600"/>
            <a:ext cx="8229600" cy="3200400"/>
          </a:xfrm>
          <a:prstGeom prst="rect">
            <a:avLst/>
          </a:prstGeom>
          <a:noFill/>
          <a:ln/>
        </p:spPr>
        <p:txBody>
          <a:bodyPr wrap="square" rtlCol="0" anchor="t"/>
          <a:lstStyle/>
          <a:p>
            <a:pPr marL="342900" indent="-342900">
              <a:spcAft>
                <a:spcPts val="1000"/>
              </a:spcAft>
              <a:buSzPct val="100000"/>
              <a:buChar char="•"/>
            </a:pPr>
            <a:r>
              <a:rPr lang="en-US" sz="1800" dirty="0">
                <a:solidFill>
                  <a:srgbClr val="000000"/>
                </a:solidFill>
              </a:rPr>
              <a:t>Manual-Refactor </a:t>
            </a:r>
            <a:r>
              <a:rPr lang="en-US" sz="1800" dirty="0">
                <a:solidFill>
                  <a:srgbClr val="888888"/>
                </a:solidFill>
              </a:rPr>
              <a:t>- unnecessary risk (hand-edit when the IDE could have safely done it).</a:t>
            </a:r>
            <a:endParaRPr lang="en-US" sz="1800" dirty="0"/>
          </a:p>
          <a:p>
            <a:pPr marL="342900" indent="-342900">
              <a:spcAft>
                <a:spcPts val="1000"/>
              </a:spcAft>
              <a:buSzPct val="100000"/>
              <a:buChar char="•"/>
            </a:pPr>
            <a:r>
              <a:rPr lang="en-US" sz="1800" dirty="0">
                <a:solidFill>
                  <a:srgbClr val="000000"/>
                </a:solidFill>
              </a:rPr>
              <a:t>Ordering </a:t>
            </a:r>
            <a:r>
              <a:rPr lang="en-US" sz="1800" dirty="0">
                <a:solidFill>
                  <a:srgbClr val="888888"/>
                </a:solidFill>
              </a:rPr>
              <a:t>- right refactorings, wrong sequence.</a:t>
            </a:r>
            <a:endParaRPr lang="en-US" sz="1800" dirty="0"/>
          </a:p>
          <a:p>
            <a:pPr marL="342900" indent="-342900">
              <a:spcAft>
                <a:spcPts val="1000"/>
              </a:spcAft>
              <a:buSzPct val="100000"/>
              <a:buChar char="•"/>
            </a:pPr>
            <a:r>
              <a:rPr lang="en-US" sz="1800" dirty="0">
                <a:solidFill>
                  <a:srgbClr val="000000"/>
                </a:solidFill>
              </a:rPr>
              <a:t>Rework </a:t>
            </a:r>
            <a:r>
              <a:rPr lang="en-US" sz="1800" dirty="0">
                <a:solidFill>
                  <a:srgbClr val="888888"/>
                </a:solidFill>
              </a:rPr>
              <a:t>- unnecessary churn (added then removed).</a:t>
            </a:r>
            <a:endParaRPr lang="en-US" sz="1800" dirty="0"/>
          </a:p>
          <a:p>
            <a:pPr marL="342900" indent="-342900">
              <a:spcAft>
                <a:spcPts val="1000"/>
              </a:spcAft>
              <a:buSzPct val="100000"/>
              <a:buChar char="•"/>
            </a:pPr>
            <a:r>
              <a:rPr lang="en-US" sz="1800" dirty="0">
                <a:solidFill>
                  <a:srgbClr val="000000"/>
                </a:solidFill>
              </a:rPr>
              <a:t>Hygiene </a:t>
            </a:r>
            <a:r>
              <a:rPr lang="en-US" sz="1800" dirty="0">
                <a:solidFill>
                  <a:srgbClr val="888888"/>
                </a:solidFill>
              </a:rPr>
              <a:t>- missing safety checkpoints (no tests, no commits).</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274320"/>
            <a:ext cx="5760720" cy="640080"/>
          </a:xfrm>
          <a:prstGeom prst="rect">
            <a:avLst/>
          </a:prstGeom>
          <a:noFill/>
          <a:ln/>
        </p:spPr>
        <p:txBody>
          <a:bodyPr wrap="square" lIns="0" tIns="0" rIns="0" bIns="0" rtlCol="0" anchor="ctr"/>
          <a:lstStyle/>
          <a:p>
            <a:pPr marL="0" indent="0">
              <a:buNone/>
            </a:pPr>
            <a:r>
              <a:rPr lang="en-US" sz="2400" b="1" dirty="0">
                <a:solidFill>
                  <a:srgbClr val="000000"/>
                </a:solidFill>
              </a:rPr>
              <a:t>Manual-Refactor: detect + synthesise</a:t>
            </a:r>
            <a:endParaRPr lang="en-US" sz="2400" dirty="0"/>
          </a:p>
        </p:txBody>
      </p:sp>
      <p:sp>
        <p:nvSpPr>
          <p:cNvPr id="3" name="Text 1"/>
          <p:cNvSpPr/>
          <p:nvPr/>
        </p:nvSpPr>
        <p:spPr>
          <a:xfrm>
            <a:off x="457200" y="1097280"/>
            <a:ext cx="8229600" cy="1783080"/>
          </a:xfrm>
          <a:prstGeom prst="rect">
            <a:avLst/>
          </a:prstGeom>
          <a:noFill/>
          <a:ln/>
        </p:spPr>
        <p:txBody>
          <a:bodyPr wrap="square" rtlCol="0" anchor="t"/>
          <a:lstStyle/>
          <a:p>
            <a:pPr marL="342900" indent="-342900">
              <a:spcAft>
                <a:spcPts val="2000"/>
              </a:spcAft>
              <a:buSzPct val="100000"/>
              <a:buChar char="•"/>
            </a:pPr>
            <a:r>
              <a:rPr lang="en-US" sz="1300" dirty="0">
                <a:solidFill>
                  <a:srgbClr val="000000"/>
                </a:solidFill>
              </a:rPr>
              <a:t>Developer hand-edited something the IDE could have done safely (and with its precondition checks).</a:t>
            </a:r>
            <a:endParaRPr lang="en-US" sz="1300" dirty="0"/>
          </a:p>
          <a:p>
            <a:pPr marL="685800" lvl="1" indent="-342900">
              <a:spcAft>
                <a:spcPts val="600"/>
              </a:spcAft>
              <a:buSzPct val="100000"/>
              <a:buFont typeface="+mj-lt"/>
              <a:buAutoNum type="arabicPeriod"/>
            </a:pPr>
            <a:r>
              <a:rPr lang="en-US" sz="1300" dirty="0">
                <a:solidFill>
                  <a:srgbClr val="000000"/>
                </a:solidFill>
              </a:rPr>
              <a:t>Refactoring Miner on sliding commit windows (of shadow repo) - anything we find that the IDE did not emit an event for is a manual refactoring.</a:t>
            </a:r>
            <a:endParaRPr lang="en-US" sz="1300" dirty="0"/>
          </a:p>
          <a:p>
            <a:pPr marL="685800" lvl="1" indent="-342900">
              <a:spcAft>
                <a:spcPts val="600"/>
              </a:spcAft>
              <a:buSzPct val="100000"/>
              <a:buFont typeface="+mj-lt"/>
              <a:buAutoNum type="arabicPeriod"/>
            </a:pPr>
            <a:r>
              <a:rPr lang="en-US" sz="1300" dirty="0">
                <a:solidFill>
                  <a:srgbClr val="000000"/>
                </a:solidFill>
              </a:rPr>
              <a:t>Apply the equivalent IDE refactoring (Eclipse / JDT).</a:t>
            </a:r>
            <a:endParaRPr lang="en-US" sz="1300" dirty="0"/>
          </a:p>
          <a:p>
            <a:pPr marL="685800" lvl="1" indent="-342900">
              <a:spcAft>
                <a:spcPts val="600"/>
              </a:spcAft>
              <a:buSzPct val="100000"/>
              <a:buFont typeface="+mj-lt"/>
              <a:buAutoNum type="arabicPeriod"/>
            </a:pPr>
            <a:r>
              <a:rPr lang="en-US" sz="1300" dirty="0">
                <a:solidFill>
                  <a:srgbClr val="000000"/>
                </a:solidFill>
              </a:rPr>
              <a:t>Reconcile minor JDT ↔ IntelliJ AST differences (e.g. static modifiers, variable liveness).</a:t>
            </a:r>
            <a:endParaRPr lang="en-US" sz="1300" dirty="0"/>
          </a:p>
          <a:p>
            <a:pPr marL="685800" lvl="1" indent="-342900">
              <a:spcAft>
                <a:spcPts val="600"/>
              </a:spcAft>
              <a:buSzPct val="100000"/>
              <a:buFont typeface="+mj-lt"/>
              <a:buAutoNum type="arabicPeriod"/>
            </a:pPr>
            <a:r>
              <a:rPr lang="en-US" sz="1300" dirty="0">
                <a:solidFill>
                  <a:srgbClr val="000000"/>
                </a:solidFill>
              </a:rPr>
              <a:t>Merge the user's other edits back on top.</a:t>
            </a:r>
            <a:endParaRPr lang="en-US" sz="1300" dirty="0"/>
          </a:p>
        </p:txBody>
      </p:sp>
      <p:sp>
        <p:nvSpPr>
          <p:cNvPr id="4" name="Text 2"/>
          <p:cNvSpPr/>
          <p:nvPr/>
        </p:nvSpPr>
        <p:spPr>
          <a:xfrm>
            <a:off x="6446520" y="274320"/>
            <a:ext cx="2560320" cy="640080"/>
          </a:xfrm>
          <a:prstGeom prst="rect">
            <a:avLst/>
          </a:prstGeom>
          <a:solidFill>
            <a:srgbClr val="F5F5F5"/>
          </a:solidFill>
          <a:ln/>
        </p:spPr>
        <p:txBody>
          <a:bodyPr wrap="square" lIns="38100" tIns="38100" rIns="38100" bIns="38100" rtlCol="0" anchor="t"/>
          <a:lstStyle/>
          <a:p>
            <a:pPr marL="0" indent="0">
              <a:spcAft>
                <a:spcPts val="200"/>
              </a:spcAft>
              <a:buNone/>
            </a:pPr>
            <a:r>
              <a:rPr lang="en-US" sz="1100" i="1" dirty="0">
                <a:solidFill>
                  <a:srgbClr val="333333"/>
                </a:solidFill>
              </a:rPr>
              <a:t>“ Very actionable - at the start I didn't know most IntelliJ actions. ”</a:t>
            </a:r>
            <a:endParaRPr lang="en-US" sz="1100" dirty="0"/>
          </a:p>
          <a:p>
            <a:pPr marL="0" indent="0">
              <a:buNone/>
            </a:pPr>
            <a:r>
              <a:rPr lang="en-US" sz="1100" i="1" dirty="0">
                <a:solidFill>
                  <a:srgbClr val="888888"/>
                </a:solidFill>
              </a:rPr>
              <a:t>— P2</a:t>
            </a:r>
            <a:endParaRPr lang="en-US" sz="1100" dirty="0"/>
          </a:p>
        </p:txBody>
      </p:sp>
      <p:pic>
        <p:nvPicPr>
          <p:cNvPr id="5" name="Image 0" descr="images/manual-refactor.png"/>
          <p:cNvPicPr>
            <a:picLocks noChangeAspect="1"/>
          </p:cNvPicPr>
          <p:nvPr/>
        </p:nvPicPr>
        <p:blipFill>
          <a:blip r:embed="rId3"/>
          <a:stretch>
            <a:fillRect/>
          </a:stretch>
        </p:blipFill>
        <p:spPr>
          <a:xfrm>
            <a:off x="1463040" y="2880360"/>
            <a:ext cx="6217920" cy="2039112"/>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274320"/>
            <a:ext cx="5760720" cy="640080"/>
          </a:xfrm>
          <a:prstGeom prst="rect">
            <a:avLst/>
          </a:prstGeom>
          <a:noFill/>
          <a:ln/>
        </p:spPr>
        <p:txBody>
          <a:bodyPr wrap="square" lIns="0" tIns="0" rIns="0" bIns="0" rtlCol="0" anchor="ctr"/>
          <a:lstStyle/>
          <a:p>
            <a:pPr marL="0" indent="0">
              <a:buNone/>
            </a:pPr>
            <a:r>
              <a:rPr lang="en-US" sz="2400" b="1" dirty="0">
                <a:solidFill>
                  <a:srgbClr val="000000"/>
                </a:solidFill>
              </a:rPr>
              <a:t>Ordering: detect + synthesise</a:t>
            </a:r>
            <a:endParaRPr lang="en-US" sz="2400" dirty="0"/>
          </a:p>
        </p:txBody>
      </p:sp>
      <p:sp>
        <p:nvSpPr>
          <p:cNvPr id="3" name="Text 1"/>
          <p:cNvSpPr/>
          <p:nvPr/>
        </p:nvSpPr>
        <p:spPr>
          <a:xfrm>
            <a:off x="457200" y="1097280"/>
            <a:ext cx="8229600" cy="1874520"/>
          </a:xfrm>
          <a:prstGeom prst="rect">
            <a:avLst/>
          </a:prstGeom>
          <a:noFill/>
          <a:ln/>
        </p:spPr>
        <p:txBody>
          <a:bodyPr wrap="square" rtlCol="0" anchor="t"/>
          <a:lstStyle/>
          <a:p>
            <a:pPr marL="342900" indent="-342900">
              <a:spcAft>
                <a:spcPts val="2000"/>
              </a:spcAft>
              <a:buSzPct val="100000"/>
              <a:buChar char="•"/>
            </a:pPr>
            <a:r>
              <a:rPr lang="en-US" sz="1400" dirty="0">
                <a:solidFill>
                  <a:srgbClr val="000000"/>
                </a:solidFill>
              </a:rPr>
              <a:t>Developer performed their refactoring steps in a sub-optimal order, leading to unnecessary intermediate degradation.</a:t>
            </a:r>
            <a:endParaRPr lang="en-US" sz="1400" dirty="0"/>
          </a:p>
          <a:p>
            <a:pPr marL="685800" lvl="1" indent="-342900">
              <a:spcAft>
                <a:spcPts val="600"/>
              </a:spcAft>
              <a:buSzPct val="100000"/>
              <a:buFont typeface="+mj-lt"/>
              <a:buAutoNum type="arabicPeriod"/>
            </a:pPr>
            <a:r>
              <a:rPr lang="en-US" sz="1400" dirty="0">
                <a:solidFill>
                  <a:srgbClr val="000000"/>
                </a:solidFill>
              </a:rPr>
              <a:t>Identify dependencies between steps → DAG.</a:t>
            </a:r>
            <a:endParaRPr lang="en-US" sz="1400" dirty="0"/>
          </a:p>
          <a:p>
            <a:pPr marL="685800" lvl="1" indent="-342900">
              <a:spcAft>
                <a:spcPts val="600"/>
              </a:spcAft>
              <a:buSzPct val="100000"/>
              <a:buFont typeface="+mj-lt"/>
              <a:buAutoNum type="arabicPeriod"/>
            </a:pPr>
            <a:r>
              <a:rPr lang="en-US" sz="1400" dirty="0">
                <a:solidFill>
                  <a:srgbClr val="000000"/>
                </a:solidFill>
              </a:rPr>
              <a:t>Enumerate valid topological orderings.</a:t>
            </a:r>
            <a:endParaRPr lang="en-US" sz="1400" dirty="0"/>
          </a:p>
          <a:p>
            <a:pPr marL="685800" lvl="1" indent="-342900">
              <a:spcAft>
                <a:spcPts val="600"/>
              </a:spcAft>
              <a:buSzPct val="100000"/>
              <a:buFont typeface="+mj-lt"/>
              <a:buAutoNum type="arabicPeriod"/>
            </a:pPr>
            <a:r>
              <a:rPr lang="en-US" sz="1400" dirty="0">
                <a:solidFill>
                  <a:srgbClr val="000000"/>
                </a:solidFill>
              </a:rPr>
              <a:t>Synthesise (Eclipse / JDT), utilising Prefix Trie (DFS) and git checkouts on backtrack.</a:t>
            </a:r>
            <a:endParaRPr lang="en-US" sz="1400" dirty="0"/>
          </a:p>
          <a:p>
            <a:pPr marL="685800" lvl="1" indent="-342900">
              <a:spcAft>
                <a:spcPts val="600"/>
              </a:spcAft>
              <a:buSzPct val="100000"/>
              <a:buFont typeface="+mj-lt"/>
              <a:buAutoNum type="arabicPeriod"/>
            </a:pPr>
            <a:r>
              <a:rPr lang="en-US" sz="1400" dirty="0">
                <a:solidFill>
                  <a:srgbClr val="000000"/>
                </a:solidFill>
              </a:rPr>
              <a:t>Normalize AST + compare with original.</a:t>
            </a:r>
            <a:endParaRPr lang="en-US" sz="1400" dirty="0"/>
          </a:p>
        </p:txBody>
      </p:sp>
      <p:sp>
        <p:nvSpPr>
          <p:cNvPr id="4" name="Text 2"/>
          <p:cNvSpPr/>
          <p:nvPr/>
        </p:nvSpPr>
        <p:spPr>
          <a:xfrm>
            <a:off x="6446520" y="274320"/>
            <a:ext cx="2560320" cy="640080"/>
          </a:xfrm>
          <a:prstGeom prst="rect">
            <a:avLst/>
          </a:prstGeom>
          <a:solidFill>
            <a:srgbClr val="F5F5F5"/>
          </a:solidFill>
          <a:ln/>
        </p:spPr>
        <p:txBody>
          <a:bodyPr wrap="square" lIns="38100" tIns="38100" rIns="38100" bIns="38100" rtlCol="0" anchor="t"/>
          <a:lstStyle/>
          <a:p>
            <a:pPr marL="0" indent="0">
              <a:spcAft>
                <a:spcPts val="200"/>
              </a:spcAft>
              <a:buNone/>
            </a:pPr>
            <a:r>
              <a:rPr lang="en-US" sz="1100" i="1" dirty="0">
                <a:solidFill>
                  <a:srgbClr val="333333"/>
                </a:solidFill>
              </a:rPr>
              <a:t>“ How can you actually apply that in the future without knowing beforehand? ”</a:t>
            </a:r>
            <a:endParaRPr lang="en-US" sz="1100" dirty="0"/>
          </a:p>
          <a:p>
            <a:pPr marL="0" indent="0">
              <a:buNone/>
            </a:pPr>
            <a:r>
              <a:rPr lang="en-US" sz="1100" i="1" dirty="0">
                <a:solidFill>
                  <a:srgbClr val="888888"/>
                </a:solidFill>
              </a:rPr>
              <a:t>— P2</a:t>
            </a:r>
            <a:endParaRPr lang="en-US" sz="1100" dirty="0"/>
          </a:p>
        </p:txBody>
      </p:sp>
      <p:pic>
        <p:nvPicPr>
          <p:cNvPr id="5" name="Image 0" descr="images/reorder-synthesis.png"/>
          <p:cNvPicPr>
            <a:picLocks noChangeAspect="1"/>
          </p:cNvPicPr>
          <p:nvPr/>
        </p:nvPicPr>
        <p:blipFill>
          <a:blip r:embed="rId3"/>
          <a:stretch>
            <a:fillRect/>
          </a:stretch>
        </p:blipFill>
        <p:spPr>
          <a:xfrm>
            <a:off x="1828800" y="3017520"/>
            <a:ext cx="5486400" cy="187452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274320"/>
            <a:ext cx="5760720" cy="640080"/>
          </a:xfrm>
          <a:prstGeom prst="rect">
            <a:avLst/>
          </a:prstGeom>
          <a:noFill/>
          <a:ln/>
        </p:spPr>
        <p:txBody>
          <a:bodyPr wrap="square" lIns="0" tIns="0" rIns="0" bIns="0" rtlCol="0" anchor="ctr"/>
          <a:lstStyle/>
          <a:p>
            <a:pPr marL="0" indent="0">
              <a:buNone/>
            </a:pPr>
            <a:r>
              <a:rPr lang="en-US" sz="2400" b="1" dirty="0">
                <a:solidFill>
                  <a:srgbClr val="000000"/>
                </a:solidFill>
              </a:rPr>
              <a:t>Rework: detect + synthesise</a:t>
            </a:r>
            <a:endParaRPr lang="en-US" sz="2400" dirty="0"/>
          </a:p>
        </p:txBody>
      </p:sp>
      <p:sp>
        <p:nvSpPr>
          <p:cNvPr id="3" name="Text 1"/>
          <p:cNvSpPr/>
          <p:nvPr/>
        </p:nvSpPr>
        <p:spPr>
          <a:xfrm>
            <a:off x="457200" y="1097280"/>
            <a:ext cx="8229600" cy="1783080"/>
          </a:xfrm>
          <a:prstGeom prst="rect">
            <a:avLst/>
          </a:prstGeom>
          <a:noFill/>
          <a:ln/>
        </p:spPr>
        <p:txBody>
          <a:bodyPr wrap="square" rtlCol="0" anchor="t"/>
          <a:lstStyle/>
          <a:p>
            <a:pPr marL="342900" indent="-342900">
              <a:spcAft>
                <a:spcPts val="2000"/>
              </a:spcAft>
              <a:buSzPct val="100000"/>
              <a:buChar char="•"/>
            </a:pPr>
            <a:r>
              <a:rPr lang="en-US" sz="1300" dirty="0">
                <a:solidFill>
                  <a:srgbClr val="000000"/>
                </a:solidFill>
              </a:rPr>
              <a:t>Code added and later removed (or vice versa) - unnecessary churn.</a:t>
            </a:r>
            <a:endParaRPr lang="en-US" sz="1300" dirty="0"/>
          </a:p>
          <a:p>
            <a:pPr marL="685800" lvl="1" indent="-342900">
              <a:spcAft>
                <a:spcPts val="600"/>
              </a:spcAft>
              <a:buSzPct val="100000"/>
              <a:buFont typeface="+mj-lt"/>
              <a:buAutoNum type="arabicPeriod"/>
            </a:pPr>
            <a:r>
              <a:rPr lang="en-US" sz="1300" dirty="0">
                <a:solidFill>
                  <a:srgbClr val="000000"/>
                </a:solidFill>
              </a:rPr>
              <a:t>Compare git diffs between adjacent steps of shadow repo.</a:t>
            </a:r>
            <a:endParaRPr lang="en-US" sz="1300" dirty="0"/>
          </a:p>
          <a:p>
            <a:pPr marL="685800" lvl="1" indent="-342900">
              <a:spcAft>
                <a:spcPts val="600"/>
              </a:spcAft>
              <a:buSzPct val="100000"/>
              <a:buFont typeface="+mj-lt"/>
              <a:buAutoNum type="arabicPeriod"/>
            </a:pPr>
            <a:r>
              <a:rPr lang="en-US" sz="1300" dirty="0">
                <a:solidFill>
                  <a:srgbClr val="000000"/>
                </a:solidFill>
              </a:rPr>
              <a:t>Hash each hunk, and look for a matching, opposite hunk with matching (file, scope, content-hash) in a future git diff.</a:t>
            </a:r>
            <a:endParaRPr lang="en-US" sz="1300" dirty="0"/>
          </a:p>
          <a:p>
            <a:pPr marL="685800" lvl="1" indent="-342900">
              <a:spcAft>
                <a:spcPts val="600"/>
              </a:spcAft>
              <a:buSzPct val="100000"/>
              <a:buFont typeface="+mj-lt"/>
              <a:buAutoNum type="arabicPeriod"/>
            </a:pPr>
            <a:r>
              <a:rPr lang="en-US" sz="1300" dirty="0">
                <a:solidFill>
                  <a:srgbClr val="000000"/>
                </a:solidFill>
              </a:rPr>
              <a:t>Remove that hunk from both diffs, calculate the updated line numbers of every git diff hunk between each of the intermediate states, and replay these new diffs from the start step.</a:t>
            </a:r>
            <a:endParaRPr lang="en-US" sz="1300" dirty="0"/>
          </a:p>
        </p:txBody>
      </p:sp>
      <p:sp>
        <p:nvSpPr>
          <p:cNvPr id="4" name="Text 2"/>
          <p:cNvSpPr/>
          <p:nvPr/>
        </p:nvSpPr>
        <p:spPr>
          <a:xfrm>
            <a:off x="6446520" y="274320"/>
            <a:ext cx="2560320" cy="640080"/>
          </a:xfrm>
          <a:prstGeom prst="rect">
            <a:avLst/>
          </a:prstGeom>
          <a:solidFill>
            <a:srgbClr val="F5F5F5"/>
          </a:solidFill>
          <a:ln/>
        </p:spPr>
        <p:txBody>
          <a:bodyPr wrap="square" lIns="38100" tIns="38100" rIns="38100" bIns="38100" rtlCol="0" anchor="t"/>
          <a:lstStyle/>
          <a:p>
            <a:pPr marL="0" indent="0">
              <a:spcAft>
                <a:spcPts val="200"/>
              </a:spcAft>
              <a:buNone/>
            </a:pPr>
            <a:r>
              <a:rPr lang="en-US" sz="1100" i="1" dirty="0">
                <a:solidFill>
                  <a:srgbClr val="333333"/>
                </a:solidFill>
              </a:rPr>
              <a:t>“ Over-penalised undos + redos. ”</a:t>
            </a:r>
            <a:endParaRPr lang="en-US" sz="1100" dirty="0"/>
          </a:p>
          <a:p>
            <a:pPr marL="0" indent="0">
              <a:buNone/>
            </a:pPr>
            <a:r>
              <a:rPr lang="en-US" sz="1100" i="1" dirty="0">
                <a:solidFill>
                  <a:srgbClr val="888888"/>
                </a:solidFill>
              </a:rPr>
              <a:t>— P1</a:t>
            </a:r>
            <a:endParaRPr lang="en-US" sz="1100" dirty="0"/>
          </a:p>
        </p:txBody>
      </p:sp>
      <p:pic>
        <p:nvPicPr>
          <p:cNvPr id="5" name="Image 0" descr="images/rework.png"/>
          <p:cNvPicPr>
            <a:picLocks noChangeAspect="1"/>
          </p:cNvPicPr>
          <p:nvPr/>
        </p:nvPicPr>
        <p:blipFill>
          <a:blip r:embed="rId3"/>
          <a:stretch>
            <a:fillRect/>
          </a:stretch>
        </p:blipFill>
        <p:spPr>
          <a:xfrm>
            <a:off x="2377440" y="2834640"/>
            <a:ext cx="4389120" cy="2121408"/>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274320"/>
            <a:ext cx="5760720" cy="640080"/>
          </a:xfrm>
          <a:prstGeom prst="rect">
            <a:avLst/>
          </a:prstGeom>
          <a:noFill/>
          <a:ln/>
        </p:spPr>
        <p:txBody>
          <a:bodyPr wrap="square" lIns="0" tIns="0" rIns="0" bIns="0" rtlCol="0" anchor="ctr"/>
          <a:lstStyle/>
          <a:p>
            <a:pPr marL="0" indent="0">
              <a:buNone/>
            </a:pPr>
            <a:r>
              <a:rPr lang="en-US" sz="2400" b="1" dirty="0">
                <a:solidFill>
                  <a:srgbClr val="000000"/>
                </a:solidFill>
              </a:rPr>
              <a:t>Hygiene: detect + synthesise</a:t>
            </a:r>
            <a:endParaRPr lang="en-US" sz="2400" dirty="0"/>
          </a:p>
        </p:txBody>
      </p:sp>
      <p:sp>
        <p:nvSpPr>
          <p:cNvPr id="3" name="Text 1"/>
          <p:cNvSpPr/>
          <p:nvPr/>
        </p:nvSpPr>
        <p:spPr>
          <a:xfrm>
            <a:off x="457200" y="1097280"/>
            <a:ext cx="8229600" cy="3657600"/>
          </a:xfrm>
          <a:prstGeom prst="rect">
            <a:avLst/>
          </a:prstGeom>
          <a:noFill/>
          <a:ln/>
        </p:spPr>
        <p:txBody>
          <a:bodyPr wrap="square" rtlCol="0" anchor="t"/>
          <a:lstStyle/>
          <a:p>
            <a:pPr marL="342900" indent="-342900">
              <a:spcAft>
                <a:spcPts val="2000"/>
              </a:spcAft>
              <a:buSzPct val="100000"/>
              <a:buChar char="•"/>
            </a:pPr>
            <a:r>
              <a:rPr lang="en-US" sz="1400" dirty="0">
                <a:solidFill>
                  <a:srgbClr val="000000"/>
                </a:solidFill>
              </a:rPr>
              <a:t>Long stretches of work without test runs, or commits.</a:t>
            </a:r>
            <a:endParaRPr lang="en-US" sz="1400" dirty="0"/>
          </a:p>
          <a:p>
            <a:pPr marL="685800" lvl="1" indent="-342900">
              <a:spcAft>
                <a:spcPts val="600"/>
              </a:spcAft>
              <a:buSzPct val="100000"/>
              <a:buFont typeface="+mj-lt"/>
              <a:buAutoNum type="arabicPeriod"/>
            </a:pPr>
            <a:r>
              <a:rPr lang="en-US" sz="1400" dirty="0">
                <a:solidFill>
                  <a:srgbClr val="000000"/>
                </a:solidFill>
              </a:rPr>
              <a:t>Iterate through each run's IDE events.</a:t>
            </a:r>
            <a:endParaRPr lang="en-US" sz="1400" dirty="0"/>
          </a:p>
          <a:p>
            <a:pPr marL="685800" lvl="1" indent="-342900">
              <a:spcAft>
                <a:spcPts val="600"/>
              </a:spcAft>
              <a:buSzPct val="100000"/>
              <a:buFont typeface="+mj-lt"/>
              <a:buAutoNum type="arabicPeriod"/>
            </a:pPr>
            <a:r>
              <a:rPr lang="en-US" sz="1400" dirty="0">
                <a:solidFill>
                  <a:srgbClr val="000000"/>
                </a:solidFill>
              </a:rPr>
              <a:t>If there has been &gt; 1 minute since the last edit and still no test run, flag a Test DP.</a:t>
            </a:r>
            <a:endParaRPr lang="en-US" sz="1400" dirty="0"/>
          </a:p>
          <a:p>
            <a:pPr marL="685800" lvl="1" indent="-342900">
              <a:spcAft>
                <a:spcPts val="600"/>
              </a:spcAft>
              <a:buSzPct val="100000"/>
              <a:buFont typeface="+mj-lt"/>
              <a:buAutoNum type="arabicPeriod"/>
            </a:pPr>
            <a:r>
              <a:rPr lang="en-US" sz="1400" dirty="0">
                <a:solidFill>
                  <a:srgbClr val="000000"/>
                </a:solidFill>
              </a:rPr>
              <a:t>If there has been &gt; 5 refactoring steps since the last commit, flag a Commit DP.</a:t>
            </a:r>
            <a:endParaRPr lang="en-US" sz="1400" dirty="0"/>
          </a:p>
          <a:p>
            <a:pPr marL="685800" lvl="1" indent="-342900">
              <a:spcAft>
                <a:spcPts val="2000"/>
              </a:spcAft>
              <a:buSzPct val="100000"/>
              <a:buFont typeface="+mj-lt"/>
              <a:buAutoNum type="arabicPeriod"/>
            </a:pPr>
            <a:r>
              <a:rPr lang="en-US" sz="1400" dirty="0">
                <a:solidFill>
                  <a:srgbClr val="000000"/>
                </a:solidFill>
              </a:rPr>
              <a:t>For each DP, generate an identical run but with the corresponding test or commit event.</a:t>
            </a:r>
            <a:endParaRPr lang="en-US" sz="1400" dirty="0"/>
          </a:p>
          <a:p>
            <a:pPr marL="342900" indent="-342900">
              <a:spcAft>
                <a:spcPts val="600"/>
              </a:spcAft>
              <a:buSzPct val="100000"/>
              <a:buChar char="•"/>
            </a:pPr>
            <a:r>
              <a:rPr lang="en-US" sz="1400" dirty="0">
                <a:solidFill>
                  <a:srgbClr val="000000"/>
                </a:solidFill>
              </a:rPr>
              <a:t>Very cheap to compute.</a:t>
            </a:r>
            <a:endParaRPr lang="en-US" sz="1400" dirty="0"/>
          </a:p>
        </p:txBody>
      </p:sp>
      <p:sp>
        <p:nvSpPr>
          <p:cNvPr id="4" name="Text 2"/>
          <p:cNvSpPr/>
          <p:nvPr/>
        </p:nvSpPr>
        <p:spPr>
          <a:xfrm>
            <a:off x="6446520" y="274320"/>
            <a:ext cx="2560320" cy="640080"/>
          </a:xfrm>
          <a:prstGeom prst="rect">
            <a:avLst/>
          </a:prstGeom>
          <a:solidFill>
            <a:srgbClr val="F5F5F5"/>
          </a:solidFill>
          <a:ln/>
        </p:spPr>
        <p:txBody>
          <a:bodyPr wrap="square" lIns="38100" tIns="38100" rIns="38100" bIns="38100" rtlCol="0" anchor="t"/>
          <a:lstStyle/>
          <a:p>
            <a:pPr marL="0" indent="0">
              <a:spcAft>
                <a:spcPts val="200"/>
              </a:spcAft>
              <a:buNone/>
            </a:pPr>
            <a:r>
              <a:rPr lang="en-US" sz="1100" i="1" dirty="0">
                <a:solidFill>
                  <a:srgbClr val="333333"/>
                </a:solidFill>
              </a:rPr>
              <a:t>“ The most actionable kind - committing more frequently in particular. ”</a:t>
            </a:r>
            <a:endParaRPr lang="en-US" sz="1100" dirty="0"/>
          </a:p>
          <a:p>
            <a:pPr marL="0" indent="0">
              <a:buNone/>
            </a:pPr>
            <a:r>
              <a:rPr lang="en-US" sz="1100" i="1" dirty="0">
                <a:solidFill>
                  <a:srgbClr val="888888"/>
                </a:solidFill>
              </a:rPr>
              <a:t>— P1</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00000"/>
                </a:solidFill>
              </a:rPr>
              <a:t>What we wanted to evaluate</a:t>
            </a:r>
            <a:endParaRPr lang="en-US" sz="2800" dirty="0"/>
          </a:p>
        </p:txBody>
      </p:sp>
      <p:sp>
        <p:nvSpPr>
          <p:cNvPr id="3" name="Text 1"/>
          <p:cNvSpPr/>
          <p:nvPr/>
        </p:nvSpPr>
        <p:spPr>
          <a:xfrm>
            <a:off x="457200" y="1188720"/>
            <a:ext cx="8229600" cy="3200400"/>
          </a:xfrm>
          <a:prstGeom prst="rect">
            <a:avLst/>
          </a:prstGeom>
          <a:noFill/>
          <a:ln/>
        </p:spPr>
        <p:txBody>
          <a:bodyPr wrap="square" rtlCol="0" anchor="t"/>
          <a:lstStyle/>
          <a:p>
            <a:pPr marL="342900" indent="-342900">
              <a:spcAft>
                <a:spcPts val="800"/>
              </a:spcAft>
              <a:buSzPct val="100000"/>
              <a:buChar char="•"/>
            </a:pPr>
            <a:r>
              <a:rPr lang="en-US" sz="1600" b="1" dirty="0">
                <a:solidFill>
                  <a:srgbClr val="000000"/>
                </a:solidFill>
              </a:rPr>
              <a:t>3 Questions</a:t>
            </a:r>
            <a:endParaRPr lang="en-US" sz="1600" dirty="0"/>
          </a:p>
          <a:p>
            <a:pPr marL="762000" lvl="1" indent="-381000">
              <a:spcAft>
                <a:spcPts val="600"/>
              </a:spcAft>
              <a:buSzPct val="100000"/>
              <a:buChar char="•"/>
            </a:pPr>
            <a:r>
              <a:rPr lang="en-US" sz="1600" dirty="0">
                <a:solidFill>
                  <a:srgbClr val="000000"/>
                </a:solidFill>
              </a:rPr>
              <a:t>Is the tool accurate?</a:t>
            </a:r>
            <a:endParaRPr lang="en-US" sz="1600" dirty="0"/>
          </a:p>
          <a:p>
            <a:pPr marL="762000" lvl="1" indent="-381000">
              <a:spcAft>
                <a:spcPts val="600"/>
              </a:spcAft>
              <a:buSzPct val="100000"/>
              <a:buChar char="•"/>
            </a:pPr>
            <a:r>
              <a:rPr lang="en-US" sz="1600" dirty="0">
                <a:solidFill>
                  <a:srgbClr val="000000"/>
                </a:solidFill>
              </a:rPr>
              <a:t>Is the process score reliable?</a:t>
            </a:r>
            <a:endParaRPr lang="en-US" sz="1600" dirty="0"/>
          </a:p>
          <a:p>
            <a:pPr marL="762000" lvl="1" indent="-381000">
              <a:spcAft>
                <a:spcPts val="2000"/>
              </a:spcAft>
              <a:buSzPct val="100000"/>
              <a:buChar char="•"/>
            </a:pPr>
            <a:r>
              <a:rPr lang="en-US" sz="1600" dirty="0">
                <a:solidFill>
                  <a:srgbClr val="000000"/>
                </a:solidFill>
              </a:rPr>
              <a:t>Does the tool change developer behaviour?</a:t>
            </a:r>
            <a:endParaRPr lang="en-US" sz="1600" dirty="0"/>
          </a:p>
          <a:p>
            <a:pPr marL="342900" indent="-342900">
              <a:spcAft>
                <a:spcPts val="800"/>
              </a:spcAft>
              <a:buSzPct val="100000"/>
              <a:buChar char="•"/>
            </a:pPr>
            <a:r>
              <a:rPr lang="en-US" sz="1600" b="1" dirty="0">
                <a:solidFill>
                  <a:srgbClr val="000000"/>
                </a:solidFill>
              </a:rPr>
              <a:t>2 Datasets</a:t>
            </a:r>
            <a:endParaRPr lang="en-US" sz="1600" dirty="0"/>
          </a:p>
          <a:p>
            <a:pPr marL="762000" lvl="1" indent="-381000">
              <a:spcAft>
                <a:spcPts val="600"/>
              </a:spcAft>
              <a:buSzPct val="100000"/>
              <a:buChar char="•"/>
            </a:pPr>
            <a:r>
              <a:rPr lang="en-US" sz="1600" dirty="0">
                <a:solidFill>
                  <a:srgbClr val="000000"/>
                </a:solidFill>
              </a:rPr>
              <a:t>45-session labelled injection set </a:t>
            </a:r>
            <a:r>
              <a:rPr lang="en-US" sz="1600" dirty="0">
                <a:solidFill>
                  <a:srgbClr val="555555"/>
                </a:solidFill>
              </a:rPr>
              <a:t>- controlled, balanced per-kind coverage.</a:t>
            </a:r>
            <a:endParaRPr lang="en-US" sz="1600" dirty="0"/>
          </a:p>
          <a:p>
            <a:pPr marL="762000" lvl="1" indent="-381000">
              <a:spcAft>
                <a:spcPts val="600"/>
              </a:spcAft>
              <a:buSzPct val="100000"/>
              <a:buChar char="•"/>
            </a:pPr>
            <a:r>
              <a:rPr lang="en-US" sz="1600" dirty="0">
                <a:solidFill>
                  <a:srgbClr val="000000"/>
                </a:solidFill>
              </a:rPr>
              <a:t>30-session randomised user study </a:t>
            </a:r>
            <a:r>
              <a:rPr lang="en-US" sz="1600" dirty="0">
                <a:solidFill>
                  <a:srgbClr val="555555"/>
                </a:solidFill>
              </a:rPr>
              <a:t>- 5 MEng participants × 6 sessions, 2 arms (feedback vs no-feedback).</a:t>
            </a:r>
            <a:endParaRPr lang="en-US" sz="1600" dirty="0"/>
          </a:p>
        </p:txBody>
      </p:sp>
      <p:sp>
        <p:nvSpPr>
          <p:cNvPr id="4" name="Text 2"/>
          <p:cNvSpPr/>
          <p:nvPr/>
        </p:nvSpPr>
        <p:spPr>
          <a:xfrm>
            <a:off x="457200" y="4572000"/>
            <a:ext cx="8229600" cy="457200"/>
          </a:xfrm>
          <a:prstGeom prst="rect">
            <a:avLst/>
          </a:prstGeom>
          <a:noFill/>
          <a:ln/>
        </p:spPr>
        <p:txBody>
          <a:bodyPr wrap="square" lIns="0" tIns="0" rIns="0" bIns="0" rtlCol="0" anchor="ctr"/>
          <a:lstStyle/>
          <a:p>
            <a:pPr marL="0" indent="0" algn="ctr">
              <a:buNone/>
            </a:pPr>
            <a:r>
              <a:rPr lang="en-US" sz="1400" b="1" i="1" dirty="0">
                <a:solidFill>
                  <a:srgbClr val="0000CD"/>
                </a:solidFill>
              </a:rPr>
              <a:t>Reproducible: </a:t>
            </a:r>
            <a:r>
              <a:rPr lang="en-US" sz="1400" i="1" dirty="0">
                <a:solidFill>
                  <a:srgbClr val="0000CD"/>
                </a:solidFill>
              </a:rPr>
              <a:t>every table and figure is regenerated from the Jupyter notebook in the repo.</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2011680"/>
            <a:ext cx="8229600" cy="1097280"/>
          </a:xfrm>
          <a:prstGeom prst="rect">
            <a:avLst/>
          </a:prstGeom>
          <a:noFill/>
          <a:ln/>
        </p:spPr>
        <p:txBody>
          <a:bodyPr wrap="square" lIns="0" tIns="0" rIns="0" bIns="0" rtlCol="0" anchor="ctr"/>
          <a:lstStyle/>
          <a:p>
            <a:pPr marL="0" indent="0" algn="ctr">
              <a:buNone/>
            </a:pPr>
            <a:r>
              <a:rPr lang="en-US" sz="3600" b="1" dirty="0">
                <a:solidFill>
                  <a:srgbClr val="1A1A1A"/>
                </a:solidFill>
              </a:rPr>
              <a:t>Experiment 1: Is the tool accurate?</a:t>
            </a:r>
            <a:endParaRPr lang="en-US" sz="3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00000"/>
                </a:solidFill>
              </a:rPr>
              <a:t>Is the tool accurate?</a:t>
            </a:r>
            <a:endParaRPr lang="en-US" sz="2800" dirty="0"/>
          </a:p>
        </p:txBody>
      </p:sp>
      <p:sp>
        <p:nvSpPr>
          <p:cNvPr id="3" name="Text 1"/>
          <p:cNvSpPr/>
          <p:nvPr/>
        </p:nvSpPr>
        <p:spPr>
          <a:xfrm>
            <a:off x="457200" y="1188720"/>
            <a:ext cx="8229600" cy="3657600"/>
          </a:xfrm>
          <a:prstGeom prst="rect">
            <a:avLst/>
          </a:prstGeom>
          <a:noFill/>
          <a:ln/>
        </p:spPr>
        <p:txBody>
          <a:bodyPr wrap="square" rtlCol="0" anchor="t"/>
          <a:lstStyle/>
          <a:p>
            <a:pPr marL="342900" indent="-342900">
              <a:spcAft>
                <a:spcPts val="1000"/>
              </a:spcAft>
              <a:buSzPct val="100000"/>
              <a:buChar char="•"/>
            </a:pPr>
            <a:r>
              <a:rPr lang="en-US" sz="1500" dirty="0">
                <a:solidFill>
                  <a:srgbClr val="000000"/>
                </a:solidFill>
              </a:rPr>
              <a:t>45 hand-labelled injection sessions </a:t>
            </a:r>
            <a:r>
              <a:rPr lang="en-US" sz="1500" dirty="0">
                <a:solidFill>
                  <a:srgbClr val="888888"/>
                </a:solidFill>
              </a:rPr>
              <a:t>- on a Java codebase.</a:t>
            </a:r>
            <a:endParaRPr lang="en-US" sz="1500" dirty="0"/>
          </a:p>
          <a:p>
            <a:pPr marL="342900" indent="-342900">
              <a:spcAft>
                <a:spcPts val="1000"/>
              </a:spcAft>
              <a:buSzPct val="100000"/>
              <a:buChar char="•"/>
            </a:pPr>
            <a:r>
              <a:rPr lang="en-US" sz="1500" dirty="0">
                <a:solidFill>
                  <a:srgbClr val="000000"/>
                </a:solidFill>
              </a:rPr>
              <a:t>3 raters (author + 2 external MEng cohort members) </a:t>
            </a:r>
            <a:r>
              <a:rPr lang="en-US" sz="1500" dirty="0">
                <a:solidFill>
                  <a:srgbClr val="888888"/>
                </a:solidFill>
              </a:rPr>
              <a:t>- inter-rater Cohen's κ = 1.00 (Ordering, Manual-Refactor), 0.86–1.00 (Rework), 0.72–0.86 (Hygiene).</a:t>
            </a:r>
            <a:endParaRPr lang="en-US" sz="1500" dirty="0"/>
          </a:p>
          <a:p>
            <a:pPr marL="342900" indent="-342900">
              <a:spcAft>
                <a:spcPts val="1000"/>
              </a:spcAft>
              <a:buSzPct val="100000"/>
              <a:buChar char="•"/>
            </a:pPr>
            <a:r>
              <a:rPr lang="en-US" sz="1500" dirty="0">
                <a:solidFill>
                  <a:srgbClr val="000000"/>
                </a:solidFill>
              </a:rPr>
              <a:t>Disagreements predominantly surrounding hygiene + rework labels </a:t>
            </a:r>
            <a:r>
              <a:rPr lang="en-US" sz="1500" dirty="0">
                <a:solidFill>
                  <a:srgbClr val="888888"/>
                </a:solidFill>
              </a:rPr>
              <a:t>- differences in opinion of what constitutes a step.</a:t>
            </a:r>
            <a:endParaRPr lang="en-US" sz="1500" dirty="0"/>
          </a:p>
          <a:p>
            <a:pPr marL="342900" indent="-342900">
              <a:spcAft>
                <a:spcPts val="1000"/>
              </a:spcAft>
              <a:buSzPct val="100000"/>
              <a:buChar char="•"/>
            </a:pPr>
            <a:r>
              <a:rPr lang="en-US" sz="1500" dirty="0">
                <a:solidFill>
                  <a:srgbClr val="000000"/>
                </a:solidFill>
              </a:rPr>
              <a:t>Track all divergence points detected </a:t>
            </a:r>
            <a:r>
              <a:rPr lang="en-US" sz="1500" dirty="0">
                <a:solidFill>
                  <a:srgbClr val="888888"/>
                </a:solidFill>
              </a:rPr>
              <a:t>- not only ones with a higher process score than the user.</a:t>
            </a:r>
            <a:endParaRPr lang="en-US" sz="1500" dirty="0"/>
          </a:p>
          <a:p>
            <a:pPr marL="342900" indent="-342900">
              <a:spcAft>
                <a:spcPts val="1000"/>
              </a:spcAft>
              <a:buSzPct val="100000"/>
              <a:buChar char="•"/>
            </a:pPr>
            <a:r>
              <a:rPr lang="en-US" sz="1500" dirty="0">
                <a:solidFill>
                  <a:srgbClr val="000000"/>
                </a:solidFill>
              </a:rPr>
              <a:t>Measure precision + recall </a:t>
            </a:r>
            <a:r>
              <a:rPr lang="en-US" sz="1500" dirty="0">
                <a:solidFill>
                  <a:srgbClr val="888888"/>
                </a:solidFill>
              </a:rPr>
              <a:t>- precision guards against FPs that waste the developer's attention. Recall guards against FNs that miss real opportunities. F1 averages the two - so a high score can hide a detector that's annoying users (lots of FPs) or one that's quietly missing things (lots of FNs). Accuracy is dominated by true negatives.</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45720"/>
            <a:ext cx="8229600" cy="457200"/>
          </a:xfrm>
          <a:prstGeom prst="rect">
            <a:avLst/>
          </a:prstGeom>
          <a:noFill/>
          <a:ln/>
        </p:spPr>
        <p:txBody>
          <a:bodyPr wrap="square" lIns="0" tIns="0" rIns="0" bIns="0" rtlCol="0" anchor="ctr"/>
          <a:lstStyle/>
          <a:p>
            <a:pPr marL="0" indent="0">
              <a:buNone/>
            </a:pPr>
            <a:r>
              <a:rPr lang="en-US" sz="2800" b="1" dirty="0">
                <a:solidFill>
                  <a:srgbClr val="000000"/>
                </a:solidFill>
              </a:rPr>
              <a:t>Decision matrix per divergence kind</a:t>
            </a:r>
            <a:endParaRPr lang="en-US" sz="2800" dirty="0"/>
          </a:p>
        </p:txBody>
      </p:sp>
      <p:sp>
        <p:nvSpPr>
          <p:cNvPr id="3" name="Text 1"/>
          <p:cNvSpPr/>
          <p:nvPr/>
        </p:nvSpPr>
        <p:spPr>
          <a:xfrm>
            <a:off x="457200" y="502920"/>
            <a:ext cx="8229600" cy="201168"/>
          </a:xfrm>
          <a:prstGeom prst="rect">
            <a:avLst/>
          </a:prstGeom>
          <a:noFill/>
          <a:ln/>
        </p:spPr>
        <p:txBody>
          <a:bodyPr wrap="square" lIns="0" tIns="0" rIns="0" bIns="0" rtlCol="0" anchor="ctr"/>
          <a:lstStyle/>
          <a:p>
            <a:pPr marL="0" indent="0" algn="ctr">
              <a:buNone/>
            </a:pPr>
            <a:r>
              <a:rPr lang="en-US" sz="1200" i="1" dirty="0">
                <a:solidFill>
                  <a:srgbClr val="555555"/>
                </a:solidFill>
              </a:rPr>
              <a:t>Session-level (45 injection sessions).</a:t>
            </a:r>
            <a:endParaRPr lang="en-US" sz="1200" dirty="0"/>
          </a:p>
        </p:txBody>
      </p:sp>
      <p:sp>
        <p:nvSpPr>
          <p:cNvPr id="4" name="Text 2"/>
          <p:cNvSpPr/>
          <p:nvPr/>
        </p:nvSpPr>
        <p:spPr>
          <a:xfrm>
            <a:off x="640080" y="777240"/>
            <a:ext cx="2834640" cy="201168"/>
          </a:xfrm>
          <a:prstGeom prst="rect">
            <a:avLst/>
          </a:prstGeom>
          <a:noFill/>
          <a:ln/>
        </p:spPr>
        <p:txBody>
          <a:bodyPr wrap="square" lIns="0" tIns="0" rIns="0" bIns="0" rtlCol="0" anchor="b"/>
          <a:lstStyle/>
          <a:p>
            <a:pPr marL="0" indent="0" algn="ctr">
              <a:buNone/>
            </a:pPr>
            <a:r>
              <a:rPr lang="en-US" sz="1400" b="1" dirty="0">
                <a:solidFill>
                  <a:srgbClr val="000000"/>
                </a:solidFill>
              </a:rPr>
              <a:t>Manual-Refactor</a:t>
            </a:r>
            <a:endParaRPr lang="en-US" sz="1400" dirty="0"/>
          </a:p>
        </p:txBody>
      </p:sp>
      <p:sp>
        <p:nvSpPr>
          <p:cNvPr id="5" name="Text 3"/>
          <p:cNvSpPr/>
          <p:nvPr/>
        </p:nvSpPr>
        <p:spPr>
          <a:xfrm>
            <a:off x="1188720" y="996696"/>
            <a:ext cx="1143000" cy="201168"/>
          </a:xfrm>
          <a:prstGeom prst="rect">
            <a:avLst/>
          </a:prstGeom>
          <a:noFill/>
          <a:ln/>
        </p:spPr>
        <p:txBody>
          <a:bodyPr wrap="square" lIns="0" tIns="0" rIns="0" bIns="0" rtlCol="0" anchor="ctr"/>
          <a:lstStyle/>
          <a:p>
            <a:pPr marL="0" indent="0" algn="ctr">
              <a:buNone/>
            </a:pPr>
            <a:r>
              <a:rPr lang="en-US" sz="900" i="1" dirty="0">
                <a:solidFill>
                  <a:srgbClr val="555555"/>
                </a:solidFill>
              </a:rPr>
              <a:t>Predicted +</a:t>
            </a:r>
            <a:endParaRPr lang="en-US" sz="900" dirty="0"/>
          </a:p>
        </p:txBody>
      </p:sp>
      <p:sp>
        <p:nvSpPr>
          <p:cNvPr id="6" name="Text 4"/>
          <p:cNvSpPr/>
          <p:nvPr/>
        </p:nvSpPr>
        <p:spPr>
          <a:xfrm>
            <a:off x="2331720" y="996696"/>
            <a:ext cx="1143000" cy="201168"/>
          </a:xfrm>
          <a:prstGeom prst="rect">
            <a:avLst/>
          </a:prstGeom>
          <a:noFill/>
          <a:ln/>
        </p:spPr>
        <p:txBody>
          <a:bodyPr wrap="square" lIns="0" tIns="0" rIns="0" bIns="0" rtlCol="0" anchor="ctr"/>
          <a:lstStyle/>
          <a:p>
            <a:pPr marL="0" indent="0" algn="ctr">
              <a:buNone/>
            </a:pPr>
            <a:r>
              <a:rPr lang="en-US" sz="900" i="1" dirty="0">
                <a:solidFill>
                  <a:srgbClr val="555555"/>
                </a:solidFill>
              </a:rPr>
              <a:t>Predicted −</a:t>
            </a:r>
            <a:endParaRPr lang="en-US" sz="900" dirty="0"/>
          </a:p>
        </p:txBody>
      </p:sp>
      <p:sp>
        <p:nvSpPr>
          <p:cNvPr id="7" name="Text 5"/>
          <p:cNvSpPr/>
          <p:nvPr/>
        </p:nvSpPr>
        <p:spPr>
          <a:xfrm>
            <a:off x="640080" y="1216152"/>
            <a:ext cx="548640" cy="548640"/>
          </a:xfrm>
          <a:prstGeom prst="rect">
            <a:avLst/>
          </a:prstGeom>
          <a:noFill/>
          <a:ln/>
        </p:spPr>
        <p:txBody>
          <a:bodyPr wrap="square" lIns="508" tIns="508" rIns="508" bIns="508" rtlCol="0" anchor="ctr"/>
          <a:lstStyle/>
          <a:p>
            <a:pPr marL="0" indent="0" algn="r">
              <a:buNone/>
            </a:pPr>
            <a:r>
              <a:rPr lang="en-US" sz="900" i="1" dirty="0">
                <a:solidFill>
                  <a:srgbClr val="555555"/>
                </a:solidFill>
              </a:rPr>
              <a:t>Actual +</a:t>
            </a:r>
            <a:endParaRPr lang="en-US" sz="900" dirty="0"/>
          </a:p>
        </p:txBody>
      </p:sp>
      <p:sp>
        <p:nvSpPr>
          <p:cNvPr id="8" name="Text 6"/>
          <p:cNvSpPr/>
          <p:nvPr/>
        </p:nvSpPr>
        <p:spPr>
          <a:xfrm>
            <a:off x="640080" y="1764792"/>
            <a:ext cx="548640" cy="548640"/>
          </a:xfrm>
          <a:prstGeom prst="rect">
            <a:avLst/>
          </a:prstGeom>
          <a:noFill/>
          <a:ln/>
        </p:spPr>
        <p:txBody>
          <a:bodyPr wrap="square" lIns="508" tIns="508" rIns="508" bIns="508" rtlCol="0" anchor="ctr"/>
          <a:lstStyle/>
          <a:p>
            <a:pPr marL="0" indent="0" algn="r">
              <a:buNone/>
            </a:pPr>
            <a:r>
              <a:rPr lang="en-US" sz="900" i="1" dirty="0">
                <a:solidFill>
                  <a:srgbClr val="555555"/>
                </a:solidFill>
              </a:rPr>
              <a:t>Actual −</a:t>
            </a:r>
            <a:endParaRPr lang="en-US" sz="900" dirty="0"/>
          </a:p>
        </p:txBody>
      </p:sp>
      <p:sp>
        <p:nvSpPr>
          <p:cNvPr id="9" name="Shape 7"/>
          <p:cNvSpPr/>
          <p:nvPr/>
        </p:nvSpPr>
        <p:spPr>
          <a:xfrm>
            <a:off x="1188720" y="1289304"/>
            <a:ext cx="1143000" cy="548640"/>
          </a:xfrm>
          <a:prstGeom prst="rect">
            <a:avLst/>
          </a:prstGeom>
          <a:solidFill>
            <a:srgbClr val="D4F0DC"/>
          </a:solidFill>
          <a:ln w="6350">
            <a:solidFill>
              <a:srgbClr val="999999"/>
            </a:solidFill>
            <a:prstDash val="solid"/>
          </a:ln>
        </p:spPr>
        <p:txBody>
          <a:bodyPr/>
          <a:lstStyle/>
          <a:p>
            <a:endParaRPr lang="en-US"/>
          </a:p>
        </p:txBody>
      </p:sp>
      <p:sp>
        <p:nvSpPr>
          <p:cNvPr id="10" name="Text 8"/>
          <p:cNvSpPr/>
          <p:nvPr/>
        </p:nvSpPr>
        <p:spPr>
          <a:xfrm>
            <a:off x="1188720" y="1289304"/>
            <a:ext cx="1143000" cy="548640"/>
          </a:xfrm>
          <a:prstGeom prst="rect">
            <a:avLst/>
          </a:prstGeom>
          <a:noFill/>
          <a:ln/>
        </p:spPr>
        <p:txBody>
          <a:bodyPr wrap="square" lIns="0" tIns="0" rIns="0" bIns="0" rtlCol="0" anchor="ctr"/>
          <a:lstStyle/>
          <a:p>
            <a:pPr marL="0" indent="0" algn="ctr">
              <a:buNone/>
            </a:pPr>
            <a:r>
              <a:rPr lang="en-US" sz="2000" b="1" dirty="0">
                <a:solidFill>
                  <a:srgbClr val="0A7D2A"/>
                </a:solidFill>
              </a:rPr>
              <a:t>16</a:t>
            </a:r>
            <a:endParaRPr lang="en-US" sz="2000" dirty="0"/>
          </a:p>
          <a:p>
            <a:pPr marL="0" indent="0" algn="ctr">
              <a:buNone/>
            </a:pPr>
            <a:r>
              <a:rPr lang="en-US" sz="900" dirty="0">
                <a:solidFill>
                  <a:srgbClr val="666666"/>
                </a:solidFill>
              </a:rPr>
              <a:t>TP</a:t>
            </a:r>
            <a:endParaRPr lang="en-US" sz="2000" dirty="0"/>
          </a:p>
        </p:txBody>
      </p:sp>
      <p:sp>
        <p:nvSpPr>
          <p:cNvPr id="11" name="Shape 9"/>
          <p:cNvSpPr/>
          <p:nvPr/>
        </p:nvSpPr>
        <p:spPr>
          <a:xfrm>
            <a:off x="2331720" y="1289304"/>
            <a:ext cx="1143000" cy="548640"/>
          </a:xfrm>
          <a:prstGeom prst="rect">
            <a:avLst/>
          </a:prstGeom>
          <a:solidFill>
            <a:srgbClr val="F5D5CE"/>
          </a:solidFill>
          <a:ln w="6350">
            <a:solidFill>
              <a:srgbClr val="999999"/>
            </a:solidFill>
            <a:prstDash val="solid"/>
          </a:ln>
        </p:spPr>
        <p:txBody>
          <a:bodyPr/>
          <a:lstStyle/>
          <a:p>
            <a:endParaRPr lang="en-US"/>
          </a:p>
        </p:txBody>
      </p:sp>
      <p:sp>
        <p:nvSpPr>
          <p:cNvPr id="12" name="Text 10"/>
          <p:cNvSpPr/>
          <p:nvPr/>
        </p:nvSpPr>
        <p:spPr>
          <a:xfrm>
            <a:off x="2331720" y="1289304"/>
            <a:ext cx="1143000" cy="548640"/>
          </a:xfrm>
          <a:prstGeom prst="rect">
            <a:avLst/>
          </a:prstGeom>
          <a:noFill/>
          <a:ln/>
        </p:spPr>
        <p:txBody>
          <a:bodyPr wrap="square" lIns="0" tIns="0" rIns="0" bIns="0" rtlCol="0" anchor="ctr"/>
          <a:lstStyle/>
          <a:p>
            <a:pPr marL="0" indent="0" algn="ctr">
              <a:buNone/>
            </a:pPr>
            <a:r>
              <a:rPr lang="en-US" sz="2000" b="1" dirty="0">
                <a:solidFill>
                  <a:srgbClr val="B33A1E"/>
                </a:solidFill>
              </a:rPr>
              <a:t>5</a:t>
            </a:r>
            <a:endParaRPr lang="en-US" sz="2000" dirty="0"/>
          </a:p>
          <a:p>
            <a:pPr marL="0" indent="0" algn="ctr">
              <a:buNone/>
            </a:pPr>
            <a:r>
              <a:rPr lang="en-US" sz="900" dirty="0">
                <a:solidFill>
                  <a:srgbClr val="666666"/>
                </a:solidFill>
              </a:rPr>
              <a:t>FN</a:t>
            </a:r>
            <a:endParaRPr lang="en-US" sz="2000" dirty="0"/>
          </a:p>
        </p:txBody>
      </p:sp>
      <p:sp>
        <p:nvSpPr>
          <p:cNvPr id="13" name="Shape 11"/>
          <p:cNvSpPr/>
          <p:nvPr/>
        </p:nvSpPr>
        <p:spPr>
          <a:xfrm>
            <a:off x="1188720" y="1837944"/>
            <a:ext cx="1143000" cy="548640"/>
          </a:xfrm>
          <a:prstGeom prst="rect">
            <a:avLst/>
          </a:prstGeom>
          <a:solidFill>
            <a:srgbClr val="F2F2F2"/>
          </a:solidFill>
          <a:ln w="6350">
            <a:solidFill>
              <a:srgbClr val="999999"/>
            </a:solidFill>
            <a:prstDash val="solid"/>
          </a:ln>
        </p:spPr>
        <p:txBody>
          <a:bodyPr/>
          <a:lstStyle/>
          <a:p>
            <a:endParaRPr lang="en-US"/>
          </a:p>
        </p:txBody>
      </p:sp>
      <p:sp>
        <p:nvSpPr>
          <p:cNvPr id="14" name="Text 12"/>
          <p:cNvSpPr/>
          <p:nvPr/>
        </p:nvSpPr>
        <p:spPr>
          <a:xfrm>
            <a:off x="1188720" y="1837944"/>
            <a:ext cx="1143000" cy="548640"/>
          </a:xfrm>
          <a:prstGeom prst="rect">
            <a:avLst/>
          </a:prstGeom>
          <a:noFill/>
          <a:ln/>
        </p:spPr>
        <p:txBody>
          <a:bodyPr wrap="square" lIns="0" tIns="0" rIns="0" bIns="0" rtlCol="0" anchor="ctr"/>
          <a:lstStyle/>
          <a:p>
            <a:pPr marL="0" indent="0" algn="ctr">
              <a:buNone/>
            </a:pPr>
            <a:r>
              <a:rPr lang="en-US" sz="2000" b="1" dirty="0">
                <a:solidFill>
                  <a:srgbClr val="888888"/>
                </a:solidFill>
              </a:rPr>
              <a:t>0</a:t>
            </a:r>
            <a:endParaRPr lang="en-US" sz="2000" dirty="0"/>
          </a:p>
          <a:p>
            <a:pPr marL="0" indent="0" algn="ctr">
              <a:buNone/>
            </a:pPr>
            <a:r>
              <a:rPr lang="en-US" sz="900" dirty="0">
                <a:solidFill>
                  <a:srgbClr val="666666"/>
                </a:solidFill>
              </a:rPr>
              <a:t>FP</a:t>
            </a:r>
            <a:endParaRPr lang="en-US" sz="2000" dirty="0"/>
          </a:p>
        </p:txBody>
      </p:sp>
      <p:sp>
        <p:nvSpPr>
          <p:cNvPr id="15" name="Shape 13"/>
          <p:cNvSpPr/>
          <p:nvPr/>
        </p:nvSpPr>
        <p:spPr>
          <a:xfrm>
            <a:off x="2331720" y="1837944"/>
            <a:ext cx="1143000" cy="548640"/>
          </a:xfrm>
          <a:prstGeom prst="rect">
            <a:avLst/>
          </a:prstGeom>
          <a:solidFill>
            <a:srgbClr val="EAEAEA"/>
          </a:solidFill>
          <a:ln w="6350">
            <a:solidFill>
              <a:srgbClr val="999999"/>
            </a:solidFill>
            <a:prstDash val="solid"/>
          </a:ln>
        </p:spPr>
        <p:txBody>
          <a:bodyPr/>
          <a:lstStyle/>
          <a:p>
            <a:endParaRPr lang="en-US"/>
          </a:p>
        </p:txBody>
      </p:sp>
      <p:sp>
        <p:nvSpPr>
          <p:cNvPr id="16" name="Text 14"/>
          <p:cNvSpPr/>
          <p:nvPr/>
        </p:nvSpPr>
        <p:spPr>
          <a:xfrm>
            <a:off x="2331720" y="1837944"/>
            <a:ext cx="1143000" cy="548640"/>
          </a:xfrm>
          <a:prstGeom prst="rect">
            <a:avLst/>
          </a:prstGeom>
          <a:noFill/>
          <a:ln/>
        </p:spPr>
        <p:txBody>
          <a:bodyPr wrap="square" lIns="0" tIns="0" rIns="0" bIns="0" rtlCol="0" anchor="ctr"/>
          <a:lstStyle/>
          <a:p>
            <a:pPr marL="0" indent="0" algn="ctr">
              <a:buNone/>
            </a:pPr>
            <a:r>
              <a:rPr lang="en-US" sz="2000" b="1" dirty="0">
                <a:solidFill>
                  <a:srgbClr val="555555"/>
                </a:solidFill>
              </a:rPr>
              <a:t>24</a:t>
            </a:r>
            <a:endParaRPr lang="en-US" sz="2000" dirty="0"/>
          </a:p>
          <a:p>
            <a:pPr marL="0" indent="0" algn="ctr">
              <a:buNone/>
            </a:pPr>
            <a:r>
              <a:rPr lang="en-US" sz="900" dirty="0">
                <a:solidFill>
                  <a:srgbClr val="666666"/>
                </a:solidFill>
              </a:rPr>
              <a:t>TN</a:t>
            </a:r>
            <a:endParaRPr lang="en-US" sz="2000" dirty="0"/>
          </a:p>
        </p:txBody>
      </p:sp>
      <p:sp>
        <p:nvSpPr>
          <p:cNvPr id="17" name="Text 15"/>
          <p:cNvSpPr/>
          <p:nvPr/>
        </p:nvSpPr>
        <p:spPr>
          <a:xfrm>
            <a:off x="640080" y="2404872"/>
            <a:ext cx="2834640" cy="201168"/>
          </a:xfrm>
          <a:prstGeom prst="rect">
            <a:avLst/>
          </a:prstGeom>
          <a:noFill/>
          <a:ln/>
        </p:spPr>
        <p:txBody>
          <a:bodyPr wrap="square" lIns="0" tIns="0" rIns="0" bIns="0" rtlCol="0" anchor="ctr"/>
          <a:lstStyle/>
          <a:p>
            <a:pPr marL="0" indent="0" algn="ctr">
              <a:buNone/>
            </a:pPr>
            <a:r>
              <a:rPr lang="en-US" sz="1100" i="1" dirty="0">
                <a:solidFill>
                  <a:srgbClr val="555555"/>
                </a:solidFill>
              </a:rPr>
              <a:t>Precision </a:t>
            </a:r>
            <a:r>
              <a:rPr lang="en-US" sz="1100" b="1" i="1" dirty="0">
                <a:solidFill>
                  <a:srgbClr val="1A1A1A"/>
                </a:solidFill>
              </a:rPr>
              <a:t>1.00</a:t>
            </a:r>
            <a:r>
              <a:rPr lang="en-US" sz="1100" i="1" dirty="0">
                <a:solidFill>
                  <a:srgbClr val="555555"/>
                </a:solidFill>
              </a:rPr>
              <a:t>   ·   Recall </a:t>
            </a:r>
            <a:r>
              <a:rPr lang="en-US" sz="1100" b="1" i="1" dirty="0">
                <a:solidFill>
                  <a:srgbClr val="1A1A1A"/>
                </a:solidFill>
              </a:rPr>
              <a:t>0.76</a:t>
            </a:r>
            <a:endParaRPr lang="en-US" sz="1100" dirty="0"/>
          </a:p>
        </p:txBody>
      </p:sp>
      <p:sp>
        <p:nvSpPr>
          <p:cNvPr id="18" name="Text 16"/>
          <p:cNvSpPr/>
          <p:nvPr/>
        </p:nvSpPr>
        <p:spPr>
          <a:xfrm>
            <a:off x="4754880" y="777240"/>
            <a:ext cx="2834640" cy="201168"/>
          </a:xfrm>
          <a:prstGeom prst="rect">
            <a:avLst/>
          </a:prstGeom>
          <a:noFill/>
          <a:ln/>
        </p:spPr>
        <p:txBody>
          <a:bodyPr wrap="square" lIns="0" tIns="0" rIns="0" bIns="0" rtlCol="0" anchor="b"/>
          <a:lstStyle/>
          <a:p>
            <a:pPr marL="0" indent="0" algn="ctr">
              <a:buNone/>
            </a:pPr>
            <a:r>
              <a:rPr lang="en-US" sz="1400" b="1" dirty="0">
                <a:solidFill>
                  <a:srgbClr val="000000"/>
                </a:solidFill>
              </a:rPr>
              <a:t>Ordering</a:t>
            </a:r>
            <a:endParaRPr lang="en-US" sz="1400" dirty="0"/>
          </a:p>
        </p:txBody>
      </p:sp>
      <p:sp>
        <p:nvSpPr>
          <p:cNvPr id="19" name="Text 17"/>
          <p:cNvSpPr/>
          <p:nvPr/>
        </p:nvSpPr>
        <p:spPr>
          <a:xfrm>
            <a:off x="5303520" y="996696"/>
            <a:ext cx="1143000" cy="201168"/>
          </a:xfrm>
          <a:prstGeom prst="rect">
            <a:avLst/>
          </a:prstGeom>
          <a:noFill/>
          <a:ln/>
        </p:spPr>
        <p:txBody>
          <a:bodyPr wrap="square" lIns="0" tIns="0" rIns="0" bIns="0" rtlCol="0" anchor="ctr"/>
          <a:lstStyle/>
          <a:p>
            <a:pPr marL="0" indent="0" algn="ctr">
              <a:buNone/>
            </a:pPr>
            <a:r>
              <a:rPr lang="en-US" sz="900" i="1" dirty="0">
                <a:solidFill>
                  <a:srgbClr val="555555"/>
                </a:solidFill>
              </a:rPr>
              <a:t>Predicted +</a:t>
            </a:r>
            <a:endParaRPr lang="en-US" sz="900" dirty="0"/>
          </a:p>
        </p:txBody>
      </p:sp>
      <p:sp>
        <p:nvSpPr>
          <p:cNvPr id="20" name="Text 18"/>
          <p:cNvSpPr/>
          <p:nvPr/>
        </p:nvSpPr>
        <p:spPr>
          <a:xfrm>
            <a:off x="6446520" y="996696"/>
            <a:ext cx="1143000" cy="201168"/>
          </a:xfrm>
          <a:prstGeom prst="rect">
            <a:avLst/>
          </a:prstGeom>
          <a:noFill/>
          <a:ln/>
        </p:spPr>
        <p:txBody>
          <a:bodyPr wrap="square" lIns="0" tIns="0" rIns="0" bIns="0" rtlCol="0" anchor="ctr"/>
          <a:lstStyle/>
          <a:p>
            <a:pPr marL="0" indent="0" algn="ctr">
              <a:buNone/>
            </a:pPr>
            <a:r>
              <a:rPr lang="en-US" sz="900" i="1" dirty="0">
                <a:solidFill>
                  <a:srgbClr val="555555"/>
                </a:solidFill>
              </a:rPr>
              <a:t>Predicted −</a:t>
            </a:r>
            <a:endParaRPr lang="en-US" sz="900" dirty="0"/>
          </a:p>
        </p:txBody>
      </p:sp>
      <p:sp>
        <p:nvSpPr>
          <p:cNvPr id="21" name="Text 19"/>
          <p:cNvSpPr/>
          <p:nvPr/>
        </p:nvSpPr>
        <p:spPr>
          <a:xfrm>
            <a:off x="4754880" y="1216152"/>
            <a:ext cx="548640" cy="548640"/>
          </a:xfrm>
          <a:prstGeom prst="rect">
            <a:avLst/>
          </a:prstGeom>
          <a:noFill/>
          <a:ln/>
        </p:spPr>
        <p:txBody>
          <a:bodyPr wrap="square" lIns="508" tIns="508" rIns="508" bIns="508" rtlCol="0" anchor="ctr"/>
          <a:lstStyle/>
          <a:p>
            <a:pPr marL="0" indent="0" algn="r">
              <a:buNone/>
            </a:pPr>
            <a:r>
              <a:rPr lang="en-US" sz="900" i="1" dirty="0">
                <a:solidFill>
                  <a:srgbClr val="555555"/>
                </a:solidFill>
              </a:rPr>
              <a:t>Actual +</a:t>
            </a:r>
            <a:endParaRPr lang="en-US" sz="900" dirty="0"/>
          </a:p>
        </p:txBody>
      </p:sp>
      <p:sp>
        <p:nvSpPr>
          <p:cNvPr id="22" name="Text 20"/>
          <p:cNvSpPr/>
          <p:nvPr/>
        </p:nvSpPr>
        <p:spPr>
          <a:xfrm>
            <a:off x="4754880" y="1764792"/>
            <a:ext cx="548640" cy="548640"/>
          </a:xfrm>
          <a:prstGeom prst="rect">
            <a:avLst/>
          </a:prstGeom>
          <a:noFill/>
          <a:ln/>
        </p:spPr>
        <p:txBody>
          <a:bodyPr wrap="square" lIns="508" tIns="508" rIns="508" bIns="508" rtlCol="0" anchor="ctr"/>
          <a:lstStyle/>
          <a:p>
            <a:pPr marL="0" indent="0" algn="r">
              <a:buNone/>
            </a:pPr>
            <a:r>
              <a:rPr lang="en-US" sz="900" i="1" dirty="0">
                <a:solidFill>
                  <a:srgbClr val="555555"/>
                </a:solidFill>
              </a:rPr>
              <a:t>Actual −</a:t>
            </a:r>
            <a:endParaRPr lang="en-US" sz="900" dirty="0"/>
          </a:p>
        </p:txBody>
      </p:sp>
      <p:sp>
        <p:nvSpPr>
          <p:cNvPr id="23" name="Shape 21"/>
          <p:cNvSpPr/>
          <p:nvPr/>
        </p:nvSpPr>
        <p:spPr>
          <a:xfrm>
            <a:off x="5303520" y="1289304"/>
            <a:ext cx="1143000" cy="548640"/>
          </a:xfrm>
          <a:prstGeom prst="rect">
            <a:avLst/>
          </a:prstGeom>
          <a:solidFill>
            <a:srgbClr val="D4F0DC"/>
          </a:solidFill>
          <a:ln w="6350">
            <a:solidFill>
              <a:srgbClr val="999999"/>
            </a:solidFill>
            <a:prstDash val="solid"/>
          </a:ln>
        </p:spPr>
        <p:txBody>
          <a:bodyPr/>
          <a:lstStyle/>
          <a:p>
            <a:endParaRPr lang="en-US"/>
          </a:p>
        </p:txBody>
      </p:sp>
      <p:sp>
        <p:nvSpPr>
          <p:cNvPr id="24" name="Text 22"/>
          <p:cNvSpPr/>
          <p:nvPr/>
        </p:nvSpPr>
        <p:spPr>
          <a:xfrm>
            <a:off x="5303520" y="1289304"/>
            <a:ext cx="1143000" cy="548640"/>
          </a:xfrm>
          <a:prstGeom prst="rect">
            <a:avLst/>
          </a:prstGeom>
          <a:noFill/>
          <a:ln/>
        </p:spPr>
        <p:txBody>
          <a:bodyPr wrap="square" lIns="0" tIns="0" rIns="0" bIns="0" rtlCol="0" anchor="ctr"/>
          <a:lstStyle/>
          <a:p>
            <a:pPr marL="0" indent="0" algn="ctr">
              <a:buNone/>
            </a:pPr>
            <a:r>
              <a:rPr lang="en-US" sz="2000" b="1" dirty="0">
                <a:solidFill>
                  <a:srgbClr val="0A7D2A"/>
                </a:solidFill>
              </a:rPr>
              <a:t>14</a:t>
            </a:r>
            <a:endParaRPr lang="en-US" sz="2000" dirty="0"/>
          </a:p>
          <a:p>
            <a:pPr marL="0" indent="0" algn="ctr">
              <a:buNone/>
            </a:pPr>
            <a:r>
              <a:rPr lang="en-US" sz="900" dirty="0">
                <a:solidFill>
                  <a:srgbClr val="666666"/>
                </a:solidFill>
              </a:rPr>
              <a:t>TP</a:t>
            </a:r>
            <a:endParaRPr lang="en-US" sz="2000" dirty="0"/>
          </a:p>
        </p:txBody>
      </p:sp>
      <p:sp>
        <p:nvSpPr>
          <p:cNvPr id="25" name="Shape 23"/>
          <p:cNvSpPr/>
          <p:nvPr/>
        </p:nvSpPr>
        <p:spPr>
          <a:xfrm>
            <a:off x="6446520" y="1289304"/>
            <a:ext cx="1143000" cy="548640"/>
          </a:xfrm>
          <a:prstGeom prst="rect">
            <a:avLst/>
          </a:prstGeom>
          <a:solidFill>
            <a:srgbClr val="F5D5CE"/>
          </a:solidFill>
          <a:ln w="6350">
            <a:solidFill>
              <a:srgbClr val="999999"/>
            </a:solidFill>
            <a:prstDash val="solid"/>
          </a:ln>
        </p:spPr>
        <p:txBody>
          <a:bodyPr/>
          <a:lstStyle/>
          <a:p>
            <a:endParaRPr lang="en-US"/>
          </a:p>
        </p:txBody>
      </p:sp>
      <p:sp>
        <p:nvSpPr>
          <p:cNvPr id="26" name="Text 24"/>
          <p:cNvSpPr/>
          <p:nvPr/>
        </p:nvSpPr>
        <p:spPr>
          <a:xfrm>
            <a:off x="6446520" y="1289304"/>
            <a:ext cx="1143000" cy="548640"/>
          </a:xfrm>
          <a:prstGeom prst="rect">
            <a:avLst/>
          </a:prstGeom>
          <a:noFill/>
          <a:ln/>
        </p:spPr>
        <p:txBody>
          <a:bodyPr wrap="square" lIns="0" tIns="0" rIns="0" bIns="0" rtlCol="0" anchor="ctr"/>
          <a:lstStyle/>
          <a:p>
            <a:pPr marL="0" indent="0" algn="ctr">
              <a:buNone/>
            </a:pPr>
            <a:r>
              <a:rPr lang="en-US" sz="2000" b="1" dirty="0">
                <a:solidFill>
                  <a:srgbClr val="B33A1E"/>
                </a:solidFill>
              </a:rPr>
              <a:t>24</a:t>
            </a:r>
            <a:endParaRPr lang="en-US" sz="2000" dirty="0"/>
          </a:p>
          <a:p>
            <a:pPr marL="0" indent="0" algn="ctr">
              <a:buNone/>
            </a:pPr>
            <a:r>
              <a:rPr lang="en-US" sz="900" dirty="0">
                <a:solidFill>
                  <a:srgbClr val="666666"/>
                </a:solidFill>
              </a:rPr>
              <a:t>FN</a:t>
            </a:r>
            <a:endParaRPr lang="en-US" sz="2000" dirty="0"/>
          </a:p>
        </p:txBody>
      </p:sp>
      <p:sp>
        <p:nvSpPr>
          <p:cNvPr id="27" name="Shape 25"/>
          <p:cNvSpPr/>
          <p:nvPr/>
        </p:nvSpPr>
        <p:spPr>
          <a:xfrm>
            <a:off x="5303520" y="1837944"/>
            <a:ext cx="1143000" cy="548640"/>
          </a:xfrm>
          <a:prstGeom prst="rect">
            <a:avLst/>
          </a:prstGeom>
          <a:solidFill>
            <a:srgbClr val="F2F2F2"/>
          </a:solidFill>
          <a:ln w="6350">
            <a:solidFill>
              <a:srgbClr val="999999"/>
            </a:solidFill>
            <a:prstDash val="solid"/>
          </a:ln>
        </p:spPr>
        <p:txBody>
          <a:bodyPr/>
          <a:lstStyle/>
          <a:p>
            <a:endParaRPr lang="en-US"/>
          </a:p>
        </p:txBody>
      </p:sp>
      <p:sp>
        <p:nvSpPr>
          <p:cNvPr id="28" name="Text 26"/>
          <p:cNvSpPr/>
          <p:nvPr/>
        </p:nvSpPr>
        <p:spPr>
          <a:xfrm>
            <a:off x="5303520" y="1837944"/>
            <a:ext cx="1143000" cy="548640"/>
          </a:xfrm>
          <a:prstGeom prst="rect">
            <a:avLst/>
          </a:prstGeom>
          <a:noFill/>
          <a:ln/>
        </p:spPr>
        <p:txBody>
          <a:bodyPr wrap="square" lIns="0" tIns="0" rIns="0" bIns="0" rtlCol="0" anchor="ctr"/>
          <a:lstStyle/>
          <a:p>
            <a:pPr marL="0" indent="0" algn="ctr">
              <a:buNone/>
            </a:pPr>
            <a:r>
              <a:rPr lang="en-US" sz="2000" b="1" dirty="0">
                <a:solidFill>
                  <a:srgbClr val="888888"/>
                </a:solidFill>
              </a:rPr>
              <a:t>0</a:t>
            </a:r>
            <a:endParaRPr lang="en-US" sz="2000" dirty="0"/>
          </a:p>
          <a:p>
            <a:pPr marL="0" indent="0" algn="ctr">
              <a:buNone/>
            </a:pPr>
            <a:r>
              <a:rPr lang="en-US" sz="900" dirty="0">
                <a:solidFill>
                  <a:srgbClr val="666666"/>
                </a:solidFill>
              </a:rPr>
              <a:t>FP</a:t>
            </a:r>
            <a:endParaRPr lang="en-US" sz="2000" dirty="0"/>
          </a:p>
        </p:txBody>
      </p:sp>
      <p:sp>
        <p:nvSpPr>
          <p:cNvPr id="29" name="Shape 27"/>
          <p:cNvSpPr/>
          <p:nvPr/>
        </p:nvSpPr>
        <p:spPr>
          <a:xfrm>
            <a:off x="6446520" y="1837944"/>
            <a:ext cx="1143000" cy="548640"/>
          </a:xfrm>
          <a:prstGeom prst="rect">
            <a:avLst/>
          </a:prstGeom>
          <a:solidFill>
            <a:srgbClr val="EAEAEA"/>
          </a:solidFill>
          <a:ln w="6350">
            <a:solidFill>
              <a:srgbClr val="999999"/>
            </a:solidFill>
            <a:prstDash val="solid"/>
          </a:ln>
        </p:spPr>
        <p:txBody>
          <a:bodyPr/>
          <a:lstStyle/>
          <a:p>
            <a:endParaRPr lang="en-US"/>
          </a:p>
        </p:txBody>
      </p:sp>
      <p:sp>
        <p:nvSpPr>
          <p:cNvPr id="30" name="Text 28"/>
          <p:cNvSpPr/>
          <p:nvPr/>
        </p:nvSpPr>
        <p:spPr>
          <a:xfrm>
            <a:off x="6446520" y="1837944"/>
            <a:ext cx="1143000" cy="548640"/>
          </a:xfrm>
          <a:prstGeom prst="rect">
            <a:avLst/>
          </a:prstGeom>
          <a:noFill/>
          <a:ln/>
        </p:spPr>
        <p:txBody>
          <a:bodyPr wrap="square" lIns="0" tIns="0" rIns="0" bIns="0" rtlCol="0" anchor="ctr"/>
          <a:lstStyle/>
          <a:p>
            <a:pPr marL="0" indent="0" algn="ctr">
              <a:buNone/>
            </a:pPr>
            <a:r>
              <a:rPr lang="en-US" sz="2000" b="1" dirty="0">
                <a:solidFill>
                  <a:srgbClr val="555555"/>
                </a:solidFill>
              </a:rPr>
              <a:t>7</a:t>
            </a:r>
            <a:endParaRPr lang="en-US" sz="2000" dirty="0"/>
          </a:p>
          <a:p>
            <a:pPr marL="0" indent="0" algn="ctr">
              <a:buNone/>
            </a:pPr>
            <a:r>
              <a:rPr lang="en-US" sz="900" dirty="0">
                <a:solidFill>
                  <a:srgbClr val="666666"/>
                </a:solidFill>
              </a:rPr>
              <a:t>TN</a:t>
            </a:r>
            <a:endParaRPr lang="en-US" sz="2000" dirty="0"/>
          </a:p>
        </p:txBody>
      </p:sp>
      <p:sp>
        <p:nvSpPr>
          <p:cNvPr id="31" name="Text 29"/>
          <p:cNvSpPr/>
          <p:nvPr/>
        </p:nvSpPr>
        <p:spPr>
          <a:xfrm>
            <a:off x="4754880" y="2404872"/>
            <a:ext cx="2834640" cy="201168"/>
          </a:xfrm>
          <a:prstGeom prst="rect">
            <a:avLst/>
          </a:prstGeom>
          <a:noFill/>
          <a:ln/>
        </p:spPr>
        <p:txBody>
          <a:bodyPr wrap="square" lIns="0" tIns="0" rIns="0" bIns="0" rtlCol="0" anchor="ctr"/>
          <a:lstStyle/>
          <a:p>
            <a:pPr marL="0" indent="0" algn="ctr">
              <a:buNone/>
            </a:pPr>
            <a:r>
              <a:rPr lang="en-US" sz="1100" i="1" dirty="0">
                <a:solidFill>
                  <a:srgbClr val="555555"/>
                </a:solidFill>
              </a:rPr>
              <a:t>Precision </a:t>
            </a:r>
            <a:r>
              <a:rPr lang="en-US" sz="1100" b="1" i="1" dirty="0">
                <a:solidFill>
                  <a:srgbClr val="1A1A1A"/>
                </a:solidFill>
              </a:rPr>
              <a:t>1.00</a:t>
            </a:r>
            <a:r>
              <a:rPr lang="en-US" sz="1100" i="1" dirty="0">
                <a:solidFill>
                  <a:srgbClr val="555555"/>
                </a:solidFill>
              </a:rPr>
              <a:t>   ·   Recall </a:t>
            </a:r>
            <a:r>
              <a:rPr lang="en-US" sz="1100" b="1" i="1" dirty="0">
                <a:solidFill>
                  <a:srgbClr val="1A1A1A"/>
                </a:solidFill>
              </a:rPr>
              <a:t>0.36</a:t>
            </a:r>
            <a:endParaRPr lang="en-US" sz="1100" dirty="0"/>
          </a:p>
        </p:txBody>
      </p:sp>
      <p:sp>
        <p:nvSpPr>
          <p:cNvPr id="32" name="Text 30"/>
          <p:cNvSpPr/>
          <p:nvPr/>
        </p:nvSpPr>
        <p:spPr>
          <a:xfrm>
            <a:off x="640080" y="2697480"/>
            <a:ext cx="2834640" cy="201168"/>
          </a:xfrm>
          <a:prstGeom prst="rect">
            <a:avLst/>
          </a:prstGeom>
          <a:noFill/>
          <a:ln/>
        </p:spPr>
        <p:txBody>
          <a:bodyPr wrap="square" lIns="0" tIns="0" rIns="0" bIns="0" rtlCol="0" anchor="b"/>
          <a:lstStyle/>
          <a:p>
            <a:pPr marL="0" indent="0" algn="ctr">
              <a:buNone/>
            </a:pPr>
            <a:r>
              <a:rPr lang="en-US" sz="1400" b="1" dirty="0">
                <a:solidFill>
                  <a:srgbClr val="000000"/>
                </a:solidFill>
              </a:rPr>
              <a:t>Rework</a:t>
            </a:r>
            <a:endParaRPr lang="en-US" sz="1400" dirty="0"/>
          </a:p>
        </p:txBody>
      </p:sp>
      <p:sp>
        <p:nvSpPr>
          <p:cNvPr id="33" name="Text 31"/>
          <p:cNvSpPr/>
          <p:nvPr/>
        </p:nvSpPr>
        <p:spPr>
          <a:xfrm>
            <a:off x="1188720" y="2916936"/>
            <a:ext cx="1143000" cy="201168"/>
          </a:xfrm>
          <a:prstGeom prst="rect">
            <a:avLst/>
          </a:prstGeom>
          <a:noFill/>
          <a:ln/>
        </p:spPr>
        <p:txBody>
          <a:bodyPr wrap="square" lIns="0" tIns="0" rIns="0" bIns="0" rtlCol="0" anchor="ctr"/>
          <a:lstStyle/>
          <a:p>
            <a:pPr marL="0" indent="0" algn="ctr">
              <a:buNone/>
            </a:pPr>
            <a:r>
              <a:rPr lang="en-US" sz="900" i="1" dirty="0">
                <a:solidFill>
                  <a:srgbClr val="555555"/>
                </a:solidFill>
              </a:rPr>
              <a:t>Predicted +</a:t>
            </a:r>
            <a:endParaRPr lang="en-US" sz="900" dirty="0"/>
          </a:p>
        </p:txBody>
      </p:sp>
      <p:sp>
        <p:nvSpPr>
          <p:cNvPr id="34" name="Text 32"/>
          <p:cNvSpPr/>
          <p:nvPr/>
        </p:nvSpPr>
        <p:spPr>
          <a:xfrm>
            <a:off x="2331720" y="2916936"/>
            <a:ext cx="1143000" cy="201168"/>
          </a:xfrm>
          <a:prstGeom prst="rect">
            <a:avLst/>
          </a:prstGeom>
          <a:noFill/>
          <a:ln/>
        </p:spPr>
        <p:txBody>
          <a:bodyPr wrap="square" lIns="0" tIns="0" rIns="0" bIns="0" rtlCol="0" anchor="ctr"/>
          <a:lstStyle/>
          <a:p>
            <a:pPr marL="0" indent="0" algn="ctr">
              <a:buNone/>
            </a:pPr>
            <a:r>
              <a:rPr lang="en-US" sz="900" i="1" dirty="0">
                <a:solidFill>
                  <a:srgbClr val="555555"/>
                </a:solidFill>
              </a:rPr>
              <a:t>Predicted −</a:t>
            </a:r>
            <a:endParaRPr lang="en-US" sz="900" dirty="0"/>
          </a:p>
        </p:txBody>
      </p:sp>
      <p:sp>
        <p:nvSpPr>
          <p:cNvPr id="35" name="Text 33"/>
          <p:cNvSpPr/>
          <p:nvPr/>
        </p:nvSpPr>
        <p:spPr>
          <a:xfrm>
            <a:off x="640080" y="3136392"/>
            <a:ext cx="548640" cy="548640"/>
          </a:xfrm>
          <a:prstGeom prst="rect">
            <a:avLst/>
          </a:prstGeom>
          <a:noFill/>
          <a:ln/>
        </p:spPr>
        <p:txBody>
          <a:bodyPr wrap="square" lIns="508" tIns="508" rIns="508" bIns="508" rtlCol="0" anchor="ctr"/>
          <a:lstStyle/>
          <a:p>
            <a:pPr marL="0" indent="0" algn="r">
              <a:buNone/>
            </a:pPr>
            <a:r>
              <a:rPr lang="en-US" sz="900" i="1" dirty="0">
                <a:solidFill>
                  <a:srgbClr val="555555"/>
                </a:solidFill>
              </a:rPr>
              <a:t>Actual +</a:t>
            </a:r>
            <a:endParaRPr lang="en-US" sz="900" dirty="0"/>
          </a:p>
        </p:txBody>
      </p:sp>
      <p:sp>
        <p:nvSpPr>
          <p:cNvPr id="36" name="Text 34"/>
          <p:cNvSpPr/>
          <p:nvPr/>
        </p:nvSpPr>
        <p:spPr>
          <a:xfrm>
            <a:off x="640080" y="3685032"/>
            <a:ext cx="548640" cy="548640"/>
          </a:xfrm>
          <a:prstGeom prst="rect">
            <a:avLst/>
          </a:prstGeom>
          <a:noFill/>
          <a:ln/>
        </p:spPr>
        <p:txBody>
          <a:bodyPr wrap="square" lIns="508" tIns="508" rIns="508" bIns="508" rtlCol="0" anchor="ctr"/>
          <a:lstStyle/>
          <a:p>
            <a:pPr marL="0" indent="0" algn="r">
              <a:buNone/>
            </a:pPr>
            <a:r>
              <a:rPr lang="en-US" sz="900" i="1" dirty="0">
                <a:solidFill>
                  <a:srgbClr val="555555"/>
                </a:solidFill>
              </a:rPr>
              <a:t>Actual −</a:t>
            </a:r>
            <a:endParaRPr lang="en-US" sz="900" dirty="0"/>
          </a:p>
        </p:txBody>
      </p:sp>
      <p:sp>
        <p:nvSpPr>
          <p:cNvPr id="37" name="Shape 35"/>
          <p:cNvSpPr/>
          <p:nvPr/>
        </p:nvSpPr>
        <p:spPr>
          <a:xfrm>
            <a:off x="1188720" y="3209544"/>
            <a:ext cx="1143000" cy="548640"/>
          </a:xfrm>
          <a:prstGeom prst="rect">
            <a:avLst/>
          </a:prstGeom>
          <a:solidFill>
            <a:srgbClr val="D4F0DC"/>
          </a:solidFill>
          <a:ln w="6350">
            <a:solidFill>
              <a:srgbClr val="999999"/>
            </a:solidFill>
            <a:prstDash val="solid"/>
          </a:ln>
        </p:spPr>
        <p:txBody>
          <a:bodyPr/>
          <a:lstStyle/>
          <a:p>
            <a:endParaRPr lang="en-US"/>
          </a:p>
        </p:txBody>
      </p:sp>
      <p:sp>
        <p:nvSpPr>
          <p:cNvPr id="38" name="Text 36"/>
          <p:cNvSpPr/>
          <p:nvPr/>
        </p:nvSpPr>
        <p:spPr>
          <a:xfrm>
            <a:off x="1188720" y="3209544"/>
            <a:ext cx="1143000" cy="548640"/>
          </a:xfrm>
          <a:prstGeom prst="rect">
            <a:avLst/>
          </a:prstGeom>
          <a:noFill/>
          <a:ln/>
        </p:spPr>
        <p:txBody>
          <a:bodyPr wrap="square" lIns="0" tIns="0" rIns="0" bIns="0" rtlCol="0" anchor="ctr"/>
          <a:lstStyle/>
          <a:p>
            <a:pPr marL="0" indent="0" algn="ctr">
              <a:buNone/>
            </a:pPr>
            <a:r>
              <a:rPr lang="en-US" sz="2000" b="1" dirty="0">
                <a:solidFill>
                  <a:srgbClr val="0A7D2A"/>
                </a:solidFill>
              </a:rPr>
              <a:t>9</a:t>
            </a:r>
            <a:endParaRPr lang="en-US" sz="2000" dirty="0"/>
          </a:p>
          <a:p>
            <a:pPr marL="0" indent="0" algn="ctr">
              <a:buNone/>
            </a:pPr>
            <a:r>
              <a:rPr lang="en-US" sz="900" dirty="0">
                <a:solidFill>
                  <a:srgbClr val="666666"/>
                </a:solidFill>
              </a:rPr>
              <a:t>TP</a:t>
            </a:r>
            <a:endParaRPr lang="en-US" sz="2000" dirty="0"/>
          </a:p>
        </p:txBody>
      </p:sp>
      <p:sp>
        <p:nvSpPr>
          <p:cNvPr id="39" name="Shape 37"/>
          <p:cNvSpPr/>
          <p:nvPr/>
        </p:nvSpPr>
        <p:spPr>
          <a:xfrm>
            <a:off x="2331720" y="3209544"/>
            <a:ext cx="1143000" cy="548640"/>
          </a:xfrm>
          <a:prstGeom prst="rect">
            <a:avLst/>
          </a:prstGeom>
          <a:solidFill>
            <a:srgbClr val="F5D5CE"/>
          </a:solidFill>
          <a:ln w="6350">
            <a:solidFill>
              <a:srgbClr val="999999"/>
            </a:solidFill>
            <a:prstDash val="solid"/>
          </a:ln>
        </p:spPr>
        <p:txBody>
          <a:bodyPr/>
          <a:lstStyle/>
          <a:p>
            <a:endParaRPr lang="en-US"/>
          </a:p>
        </p:txBody>
      </p:sp>
      <p:sp>
        <p:nvSpPr>
          <p:cNvPr id="40" name="Text 38"/>
          <p:cNvSpPr/>
          <p:nvPr/>
        </p:nvSpPr>
        <p:spPr>
          <a:xfrm>
            <a:off x="2331720" y="3209544"/>
            <a:ext cx="1143000" cy="548640"/>
          </a:xfrm>
          <a:prstGeom prst="rect">
            <a:avLst/>
          </a:prstGeom>
          <a:noFill/>
          <a:ln/>
        </p:spPr>
        <p:txBody>
          <a:bodyPr wrap="square" lIns="0" tIns="0" rIns="0" bIns="0" rtlCol="0" anchor="ctr"/>
          <a:lstStyle/>
          <a:p>
            <a:pPr marL="0" indent="0" algn="ctr">
              <a:buNone/>
            </a:pPr>
            <a:r>
              <a:rPr lang="en-US" sz="2000" b="1" dirty="0">
                <a:solidFill>
                  <a:srgbClr val="B33A1E"/>
                </a:solidFill>
              </a:rPr>
              <a:t>0</a:t>
            </a:r>
            <a:endParaRPr lang="en-US" sz="2000" dirty="0"/>
          </a:p>
          <a:p>
            <a:pPr marL="0" indent="0" algn="ctr">
              <a:buNone/>
            </a:pPr>
            <a:r>
              <a:rPr lang="en-US" sz="900" dirty="0">
                <a:solidFill>
                  <a:srgbClr val="666666"/>
                </a:solidFill>
              </a:rPr>
              <a:t>FN</a:t>
            </a:r>
            <a:endParaRPr lang="en-US" sz="2000" dirty="0"/>
          </a:p>
        </p:txBody>
      </p:sp>
      <p:sp>
        <p:nvSpPr>
          <p:cNvPr id="41" name="Shape 39"/>
          <p:cNvSpPr/>
          <p:nvPr/>
        </p:nvSpPr>
        <p:spPr>
          <a:xfrm>
            <a:off x="1188720" y="3758184"/>
            <a:ext cx="1143000" cy="548640"/>
          </a:xfrm>
          <a:prstGeom prst="rect">
            <a:avLst/>
          </a:prstGeom>
          <a:solidFill>
            <a:srgbClr val="F2F2F2"/>
          </a:solidFill>
          <a:ln w="6350">
            <a:solidFill>
              <a:srgbClr val="999999"/>
            </a:solidFill>
            <a:prstDash val="solid"/>
          </a:ln>
        </p:spPr>
        <p:txBody>
          <a:bodyPr/>
          <a:lstStyle/>
          <a:p>
            <a:endParaRPr lang="en-US"/>
          </a:p>
        </p:txBody>
      </p:sp>
      <p:sp>
        <p:nvSpPr>
          <p:cNvPr id="42" name="Text 40"/>
          <p:cNvSpPr/>
          <p:nvPr/>
        </p:nvSpPr>
        <p:spPr>
          <a:xfrm>
            <a:off x="1188720" y="3758184"/>
            <a:ext cx="1143000" cy="548640"/>
          </a:xfrm>
          <a:prstGeom prst="rect">
            <a:avLst/>
          </a:prstGeom>
          <a:noFill/>
          <a:ln/>
        </p:spPr>
        <p:txBody>
          <a:bodyPr wrap="square" lIns="0" tIns="0" rIns="0" bIns="0" rtlCol="0" anchor="ctr"/>
          <a:lstStyle/>
          <a:p>
            <a:pPr marL="0" indent="0" algn="ctr">
              <a:buNone/>
            </a:pPr>
            <a:r>
              <a:rPr lang="en-US" sz="2000" b="1" dirty="0">
                <a:solidFill>
                  <a:srgbClr val="888888"/>
                </a:solidFill>
              </a:rPr>
              <a:t>0</a:t>
            </a:r>
            <a:endParaRPr lang="en-US" sz="2000" dirty="0"/>
          </a:p>
          <a:p>
            <a:pPr marL="0" indent="0" algn="ctr">
              <a:buNone/>
            </a:pPr>
            <a:r>
              <a:rPr lang="en-US" sz="900" dirty="0">
                <a:solidFill>
                  <a:srgbClr val="666666"/>
                </a:solidFill>
              </a:rPr>
              <a:t>FP</a:t>
            </a:r>
            <a:endParaRPr lang="en-US" sz="2000" dirty="0"/>
          </a:p>
        </p:txBody>
      </p:sp>
      <p:sp>
        <p:nvSpPr>
          <p:cNvPr id="43" name="Shape 41"/>
          <p:cNvSpPr/>
          <p:nvPr/>
        </p:nvSpPr>
        <p:spPr>
          <a:xfrm>
            <a:off x="2331720" y="3758184"/>
            <a:ext cx="1143000" cy="548640"/>
          </a:xfrm>
          <a:prstGeom prst="rect">
            <a:avLst/>
          </a:prstGeom>
          <a:solidFill>
            <a:srgbClr val="EAEAEA"/>
          </a:solidFill>
          <a:ln w="6350">
            <a:solidFill>
              <a:srgbClr val="999999"/>
            </a:solidFill>
            <a:prstDash val="solid"/>
          </a:ln>
        </p:spPr>
        <p:txBody>
          <a:bodyPr/>
          <a:lstStyle/>
          <a:p>
            <a:endParaRPr lang="en-US"/>
          </a:p>
        </p:txBody>
      </p:sp>
      <p:sp>
        <p:nvSpPr>
          <p:cNvPr id="44" name="Text 42"/>
          <p:cNvSpPr/>
          <p:nvPr/>
        </p:nvSpPr>
        <p:spPr>
          <a:xfrm>
            <a:off x="2331720" y="3758184"/>
            <a:ext cx="1143000" cy="548640"/>
          </a:xfrm>
          <a:prstGeom prst="rect">
            <a:avLst/>
          </a:prstGeom>
          <a:noFill/>
          <a:ln/>
        </p:spPr>
        <p:txBody>
          <a:bodyPr wrap="square" lIns="0" tIns="0" rIns="0" bIns="0" rtlCol="0" anchor="ctr"/>
          <a:lstStyle/>
          <a:p>
            <a:pPr marL="0" indent="0" algn="ctr">
              <a:buNone/>
            </a:pPr>
            <a:r>
              <a:rPr lang="en-US" sz="2000" b="1" dirty="0">
                <a:solidFill>
                  <a:srgbClr val="555555"/>
                </a:solidFill>
              </a:rPr>
              <a:t>36</a:t>
            </a:r>
            <a:endParaRPr lang="en-US" sz="2000" dirty="0"/>
          </a:p>
          <a:p>
            <a:pPr marL="0" indent="0" algn="ctr">
              <a:buNone/>
            </a:pPr>
            <a:r>
              <a:rPr lang="en-US" sz="900" dirty="0">
                <a:solidFill>
                  <a:srgbClr val="666666"/>
                </a:solidFill>
              </a:rPr>
              <a:t>TN</a:t>
            </a:r>
            <a:endParaRPr lang="en-US" sz="2000" dirty="0"/>
          </a:p>
        </p:txBody>
      </p:sp>
      <p:sp>
        <p:nvSpPr>
          <p:cNvPr id="45" name="Text 43"/>
          <p:cNvSpPr/>
          <p:nvPr/>
        </p:nvSpPr>
        <p:spPr>
          <a:xfrm>
            <a:off x="640080" y="4325112"/>
            <a:ext cx="2834640" cy="201168"/>
          </a:xfrm>
          <a:prstGeom prst="rect">
            <a:avLst/>
          </a:prstGeom>
          <a:noFill/>
          <a:ln/>
        </p:spPr>
        <p:txBody>
          <a:bodyPr wrap="square" lIns="0" tIns="0" rIns="0" bIns="0" rtlCol="0" anchor="ctr"/>
          <a:lstStyle/>
          <a:p>
            <a:pPr marL="0" indent="0" algn="ctr">
              <a:buNone/>
            </a:pPr>
            <a:r>
              <a:rPr lang="en-US" sz="1100" i="1" dirty="0">
                <a:solidFill>
                  <a:srgbClr val="555555"/>
                </a:solidFill>
              </a:rPr>
              <a:t>Precision </a:t>
            </a:r>
            <a:r>
              <a:rPr lang="en-US" sz="1100" b="1" i="1" dirty="0">
                <a:solidFill>
                  <a:srgbClr val="1A1A1A"/>
                </a:solidFill>
              </a:rPr>
              <a:t>1.00</a:t>
            </a:r>
            <a:r>
              <a:rPr lang="en-US" sz="1100" i="1" dirty="0">
                <a:solidFill>
                  <a:srgbClr val="555555"/>
                </a:solidFill>
              </a:rPr>
              <a:t>   ·   Recall </a:t>
            </a:r>
            <a:r>
              <a:rPr lang="en-US" sz="1100" b="1" i="1" dirty="0">
                <a:solidFill>
                  <a:srgbClr val="1A1A1A"/>
                </a:solidFill>
              </a:rPr>
              <a:t>1.00</a:t>
            </a:r>
            <a:endParaRPr lang="en-US" sz="1100" dirty="0"/>
          </a:p>
        </p:txBody>
      </p:sp>
      <p:sp>
        <p:nvSpPr>
          <p:cNvPr id="46" name="Text 44"/>
          <p:cNvSpPr/>
          <p:nvPr/>
        </p:nvSpPr>
        <p:spPr>
          <a:xfrm>
            <a:off x="4754880" y="2697480"/>
            <a:ext cx="2834640" cy="201168"/>
          </a:xfrm>
          <a:prstGeom prst="rect">
            <a:avLst/>
          </a:prstGeom>
          <a:noFill/>
          <a:ln/>
        </p:spPr>
        <p:txBody>
          <a:bodyPr wrap="square" lIns="0" tIns="0" rIns="0" bIns="0" rtlCol="0" anchor="b"/>
          <a:lstStyle/>
          <a:p>
            <a:pPr marL="0" indent="0" algn="ctr">
              <a:buNone/>
            </a:pPr>
            <a:r>
              <a:rPr lang="en-US" sz="1400" b="1" dirty="0">
                <a:solidFill>
                  <a:srgbClr val="000000"/>
                </a:solidFill>
              </a:rPr>
              <a:t>Hygiene</a:t>
            </a:r>
            <a:endParaRPr lang="en-US" sz="1400" dirty="0"/>
          </a:p>
        </p:txBody>
      </p:sp>
      <p:sp>
        <p:nvSpPr>
          <p:cNvPr id="47" name="Text 45"/>
          <p:cNvSpPr/>
          <p:nvPr/>
        </p:nvSpPr>
        <p:spPr>
          <a:xfrm>
            <a:off x="5303520" y="2916936"/>
            <a:ext cx="1143000" cy="201168"/>
          </a:xfrm>
          <a:prstGeom prst="rect">
            <a:avLst/>
          </a:prstGeom>
          <a:noFill/>
          <a:ln/>
        </p:spPr>
        <p:txBody>
          <a:bodyPr wrap="square" lIns="0" tIns="0" rIns="0" bIns="0" rtlCol="0" anchor="ctr"/>
          <a:lstStyle/>
          <a:p>
            <a:pPr marL="0" indent="0" algn="ctr">
              <a:buNone/>
            </a:pPr>
            <a:r>
              <a:rPr lang="en-US" sz="900" i="1" dirty="0">
                <a:solidFill>
                  <a:srgbClr val="555555"/>
                </a:solidFill>
              </a:rPr>
              <a:t>Predicted +</a:t>
            </a:r>
            <a:endParaRPr lang="en-US" sz="900" dirty="0"/>
          </a:p>
        </p:txBody>
      </p:sp>
      <p:sp>
        <p:nvSpPr>
          <p:cNvPr id="48" name="Text 46"/>
          <p:cNvSpPr/>
          <p:nvPr/>
        </p:nvSpPr>
        <p:spPr>
          <a:xfrm>
            <a:off x="6446520" y="2916936"/>
            <a:ext cx="1143000" cy="201168"/>
          </a:xfrm>
          <a:prstGeom prst="rect">
            <a:avLst/>
          </a:prstGeom>
          <a:noFill/>
          <a:ln/>
        </p:spPr>
        <p:txBody>
          <a:bodyPr wrap="square" lIns="0" tIns="0" rIns="0" bIns="0" rtlCol="0" anchor="ctr"/>
          <a:lstStyle/>
          <a:p>
            <a:pPr marL="0" indent="0" algn="ctr">
              <a:buNone/>
            </a:pPr>
            <a:r>
              <a:rPr lang="en-US" sz="900" i="1" dirty="0">
                <a:solidFill>
                  <a:srgbClr val="555555"/>
                </a:solidFill>
              </a:rPr>
              <a:t>Predicted −</a:t>
            </a:r>
            <a:endParaRPr lang="en-US" sz="900" dirty="0"/>
          </a:p>
        </p:txBody>
      </p:sp>
      <p:sp>
        <p:nvSpPr>
          <p:cNvPr id="49" name="Text 47"/>
          <p:cNvSpPr/>
          <p:nvPr/>
        </p:nvSpPr>
        <p:spPr>
          <a:xfrm>
            <a:off x="4754880" y="3136392"/>
            <a:ext cx="548640" cy="548640"/>
          </a:xfrm>
          <a:prstGeom prst="rect">
            <a:avLst/>
          </a:prstGeom>
          <a:noFill/>
          <a:ln/>
        </p:spPr>
        <p:txBody>
          <a:bodyPr wrap="square" lIns="508" tIns="508" rIns="508" bIns="508" rtlCol="0" anchor="ctr"/>
          <a:lstStyle/>
          <a:p>
            <a:pPr marL="0" indent="0" algn="r">
              <a:buNone/>
            </a:pPr>
            <a:r>
              <a:rPr lang="en-US" sz="900" i="1" dirty="0">
                <a:solidFill>
                  <a:srgbClr val="555555"/>
                </a:solidFill>
              </a:rPr>
              <a:t>Actual +</a:t>
            </a:r>
            <a:endParaRPr lang="en-US" sz="900" dirty="0"/>
          </a:p>
        </p:txBody>
      </p:sp>
      <p:sp>
        <p:nvSpPr>
          <p:cNvPr id="50" name="Text 48"/>
          <p:cNvSpPr/>
          <p:nvPr/>
        </p:nvSpPr>
        <p:spPr>
          <a:xfrm>
            <a:off x="4754880" y="3685032"/>
            <a:ext cx="548640" cy="548640"/>
          </a:xfrm>
          <a:prstGeom prst="rect">
            <a:avLst/>
          </a:prstGeom>
          <a:noFill/>
          <a:ln/>
        </p:spPr>
        <p:txBody>
          <a:bodyPr wrap="square" lIns="508" tIns="508" rIns="508" bIns="508" rtlCol="0" anchor="ctr"/>
          <a:lstStyle/>
          <a:p>
            <a:pPr marL="0" indent="0" algn="r">
              <a:buNone/>
            </a:pPr>
            <a:r>
              <a:rPr lang="en-US" sz="900" i="1" dirty="0">
                <a:solidFill>
                  <a:srgbClr val="555555"/>
                </a:solidFill>
              </a:rPr>
              <a:t>Actual −</a:t>
            </a:r>
            <a:endParaRPr lang="en-US" sz="900" dirty="0"/>
          </a:p>
        </p:txBody>
      </p:sp>
      <p:sp>
        <p:nvSpPr>
          <p:cNvPr id="51" name="Shape 49"/>
          <p:cNvSpPr/>
          <p:nvPr/>
        </p:nvSpPr>
        <p:spPr>
          <a:xfrm>
            <a:off x="5303520" y="3209544"/>
            <a:ext cx="1143000" cy="548640"/>
          </a:xfrm>
          <a:prstGeom prst="rect">
            <a:avLst/>
          </a:prstGeom>
          <a:solidFill>
            <a:srgbClr val="D4F0DC"/>
          </a:solidFill>
          <a:ln w="6350">
            <a:solidFill>
              <a:srgbClr val="999999"/>
            </a:solidFill>
            <a:prstDash val="solid"/>
          </a:ln>
        </p:spPr>
        <p:txBody>
          <a:bodyPr/>
          <a:lstStyle/>
          <a:p>
            <a:endParaRPr lang="en-US"/>
          </a:p>
        </p:txBody>
      </p:sp>
      <p:sp>
        <p:nvSpPr>
          <p:cNvPr id="52" name="Text 50"/>
          <p:cNvSpPr/>
          <p:nvPr/>
        </p:nvSpPr>
        <p:spPr>
          <a:xfrm>
            <a:off x="5303520" y="3209544"/>
            <a:ext cx="1143000" cy="548640"/>
          </a:xfrm>
          <a:prstGeom prst="rect">
            <a:avLst/>
          </a:prstGeom>
          <a:noFill/>
          <a:ln/>
        </p:spPr>
        <p:txBody>
          <a:bodyPr wrap="square" lIns="0" tIns="0" rIns="0" bIns="0" rtlCol="0" anchor="ctr"/>
          <a:lstStyle/>
          <a:p>
            <a:pPr marL="0" indent="0" algn="ctr">
              <a:buNone/>
            </a:pPr>
            <a:r>
              <a:rPr lang="en-US" sz="2000" b="1" dirty="0">
                <a:solidFill>
                  <a:srgbClr val="0A7D2A"/>
                </a:solidFill>
              </a:rPr>
              <a:t>8</a:t>
            </a:r>
            <a:endParaRPr lang="en-US" sz="2000" dirty="0"/>
          </a:p>
          <a:p>
            <a:pPr marL="0" indent="0" algn="ctr">
              <a:buNone/>
            </a:pPr>
            <a:r>
              <a:rPr lang="en-US" sz="900" dirty="0">
                <a:solidFill>
                  <a:srgbClr val="666666"/>
                </a:solidFill>
              </a:rPr>
              <a:t>TP</a:t>
            </a:r>
            <a:endParaRPr lang="en-US" sz="2000" dirty="0"/>
          </a:p>
        </p:txBody>
      </p:sp>
      <p:sp>
        <p:nvSpPr>
          <p:cNvPr id="53" name="Shape 51"/>
          <p:cNvSpPr/>
          <p:nvPr/>
        </p:nvSpPr>
        <p:spPr>
          <a:xfrm>
            <a:off x="6446520" y="3209544"/>
            <a:ext cx="1143000" cy="548640"/>
          </a:xfrm>
          <a:prstGeom prst="rect">
            <a:avLst/>
          </a:prstGeom>
          <a:solidFill>
            <a:srgbClr val="F5D5CE"/>
          </a:solidFill>
          <a:ln w="6350">
            <a:solidFill>
              <a:srgbClr val="999999"/>
            </a:solidFill>
            <a:prstDash val="solid"/>
          </a:ln>
        </p:spPr>
        <p:txBody>
          <a:bodyPr/>
          <a:lstStyle/>
          <a:p>
            <a:endParaRPr lang="en-US"/>
          </a:p>
        </p:txBody>
      </p:sp>
      <p:sp>
        <p:nvSpPr>
          <p:cNvPr id="54" name="Text 52"/>
          <p:cNvSpPr/>
          <p:nvPr/>
        </p:nvSpPr>
        <p:spPr>
          <a:xfrm>
            <a:off x="6446520" y="3209544"/>
            <a:ext cx="1143000" cy="548640"/>
          </a:xfrm>
          <a:prstGeom prst="rect">
            <a:avLst/>
          </a:prstGeom>
          <a:noFill/>
          <a:ln/>
        </p:spPr>
        <p:txBody>
          <a:bodyPr wrap="square" lIns="0" tIns="0" rIns="0" bIns="0" rtlCol="0" anchor="ctr"/>
          <a:lstStyle/>
          <a:p>
            <a:pPr marL="0" indent="0" algn="ctr">
              <a:buNone/>
            </a:pPr>
            <a:r>
              <a:rPr lang="en-US" sz="2000" b="1" dirty="0">
                <a:solidFill>
                  <a:srgbClr val="B33A1E"/>
                </a:solidFill>
              </a:rPr>
              <a:t>0</a:t>
            </a:r>
            <a:endParaRPr lang="en-US" sz="2000" dirty="0"/>
          </a:p>
          <a:p>
            <a:pPr marL="0" indent="0" algn="ctr">
              <a:buNone/>
            </a:pPr>
            <a:r>
              <a:rPr lang="en-US" sz="900" dirty="0">
                <a:solidFill>
                  <a:srgbClr val="666666"/>
                </a:solidFill>
              </a:rPr>
              <a:t>FN</a:t>
            </a:r>
            <a:endParaRPr lang="en-US" sz="2000" dirty="0"/>
          </a:p>
        </p:txBody>
      </p:sp>
      <p:sp>
        <p:nvSpPr>
          <p:cNvPr id="55" name="Shape 53"/>
          <p:cNvSpPr/>
          <p:nvPr/>
        </p:nvSpPr>
        <p:spPr>
          <a:xfrm>
            <a:off x="5303520" y="3758184"/>
            <a:ext cx="1143000" cy="548640"/>
          </a:xfrm>
          <a:prstGeom prst="rect">
            <a:avLst/>
          </a:prstGeom>
          <a:solidFill>
            <a:srgbClr val="F2F2F2"/>
          </a:solidFill>
          <a:ln w="6350">
            <a:solidFill>
              <a:srgbClr val="999999"/>
            </a:solidFill>
            <a:prstDash val="solid"/>
          </a:ln>
        </p:spPr>
        <p:txBody>
          <a:bodyPr/>
          <a:lstStyle/>
          <a:p>
            <a:endParaRPr lang="en-US"/>
          </a:p>
        </p:txBody>
      </p:sp>
      <p:sp>
        <p:nvSpPr>
          <p:cNvPr id="56" name="Text 54"/>
          <p:cNvSpPr/>
          <p:nvPr/>
        </p:nvSpPr>
        <p:spPr>
          <a:xfrm>
            <a:off x="5303520" y="3758184"/>
            <a:ext cx="1143000" cy="548640"/>
          </a:xfrm>
          <a:prstGeom prst="rect">
            <a:avLst/>
          </a:prstGeom>
          <a:noFill/>
          <a:ln/>
        </p:spPr>
        <p:txBody>
          <a:bodyPr wrap="square" lIns="0" tIns="0" rIns="0" bIns="0" rtlCol="0" anchor="ctr"/>
          <a:lstStyle/>
          <a:p>
            <a:pPr marL="0" indent="0" algn="ctr">
              <a:buNone/>
            </a:pPr>
            <a:r>
              <a:rPr lang="en-US" sz="2000" b="1" dirty="0">
                <a:solidFill>
                  <a:srgbClr val="888888"/>
                </a:solidFill>
              </a:rPr>
              <a:t>0</a:t>
            </a:r>
            <a:endParaRPr lang="en-US" sz="2000" dirty="0"/>
          </a:p>
          <a:p>
            <a:pPr marL="0" indent="0" algn="ctr">
              <a:buNone/>
            </a:pPr>
            <a:r>
              <a:rPr lang="en-US" sz="900" dirty="0">
                <a:solidFill>
                  <a:srgbClr val="666666"/>
                </a:solidFill>
              </a:rPr>
              <a:t>FP</a:t>
            </a:r>
            <a:endParaRPr lang="en-US" sz="2000" dirty="0"/>
          </a:p>
        </p:txBody>
      </p:sp>
      <p:sp>
        <p:nvSpPr>
          <p:cNvPr id="57" name="Shape 55"/>
          <p:cNvSpPr/>
          <p:nvPr/>
        </p:nvSpPr>
        <p:spPr>
          <a:xfrm>
            <a:off x="6446520" y="3758184"/>
            <a:ext cx="1143000" cy="548640"/>
          </a:xfrm>
          <a:prstGeom prst="rect">
            <a:avLst/>
          </a:prstGeom>
          <a:solidFill>
            <a:srgbClr val="EAEAEA"/>
          </a:solidFill>
          <a:ln w="6350">
            <a:solidFill>
              <a:srgbClr val="999999"/>
            </a:solidFill>
            <a:prstDash val="solid"/>
          </a:ln>
        </p:spPr>
        <p:txBody>
          <a:bodyPr/>
          <a:lstStyle/>
          <a:p>
            <a:endParaRPr lang="en-US"/>
          </a:p>
        </p:txBody>
      </p:sp>
      <p:sp>
        <p:nvSpPr>
          <p:cNvPr id="58" name="Text 56"/>
          <p:cNvSpPr/>
          <p:nvPr/>
        </p:nvSpPr>
        <p:spPr>
          <a:xfrm>
            <a:off x="6446520" y="3758184"/>
            <a:ext cx="1143000" cy="548640"/>
          </a:xfrm>
          <a:prstGeom prst="rect">
            <a:avLst/>
          </a:prstGeom>
          <a:noFill/>
          <a:ln/>
        </p:spPr>
        <p:txBody>
          <a:bodyPr wrap="square" lIns="0" tIns="0" rIns="0" bIns="0" rtlCol="0" anchor="ctr"/>
          <a:lstStyle/>
          <a:p>
            <a:pPr marL="0" indent="0" algn="ctr">
              <a:buNone/>
            </a:pPr>
            <a:r>
              <a:rPr lang="en-US" sz="2000" b="1" dirty="0">
                <a:solidFill>
                  <a:srgbClr val="555555"/>
                </a:solidFill>
              </a:rPr>
              <a:t>37</a:t>
            </a:r>
            <a:endParaRPr lang="en-US" sz="2000" dirty="0"/>
          </a:p>
          <a:p>
            <a:pPr marL="0" indent="0" algn="ctr">
              <a:buNone/>
            </a:pPr>
            <a:r>
              <a:rPr lang="en-US" sz="900" dirty="0">
                <a:solidFill>
                  <a:srgbClr val="666666"/>
                </a:solidFill>
              </a:rPr>
              <a:t>TN</a:t>
            </a:r>
            <a:endParaRPr lang="en-US" sz="2000" dirty="0"/>
          </a:p>
        </p:txBody>
      </p:sp>
      <p:sp>
        <p:nvSpPr>
          <p:cNvPr id="59" name="Text 57"/>
          <p:cNvSpPr/>
          <p:nvPr/>
        </p:nvSpPr>
        <p:spPr>
          <a:xfrm>
            <a:off x="4754880" y="4325112"/>
            <a:ext cx="2834640" cy="201168"/>
          </a:xfrm>
          <a:prstGeom prst="rect">
            <a:avLst/>
          </a:prstGeom>
          <a:noFill/>
          <a:ln/>
        </p:spPr>
        <p:txBody>
          <a:bodyPr wrap="square" lIns="0" tIns="0" rIns="0" bIns="0" rtlCol="0" anchor="ctr"/>
          <a:lstStyle/>
          <a:p>
            <a:pPr marL="0" indent="0" algn="ctr">
              <a:buNone/>
            </a:pPr>
            <a:r>
              <a:rPr lang="en-US" sz="1100" i="1" dirty="0">
                <a:solidFill>
                  <a:srgbClr val="555555"/>
                </a:solidFill>
              </a:rPr>
              <a:t>Precision </a:t>
            </a:r>
            <a:r>
              <a:rPr lang="en-US" sz="1100" b="1" i="1" dirty="0">
                <a:solidFill>
                  <a:srgbClr val="1A1A1A"/>
                </a:solidFill>
              </a:rPr>
              <a:t>1.00</a:t>
            </a:r>
            <a:r>
              <a:rPr lang="en-US" sz="1100" i="1" dirty="0">
                <a:solidFill>
                  <a:srgbClr val="555555"/>
                </a:solidFill>
              </a:rPr>
              <a:t>   ·   Recall </a:t>
            </a:r>
            <a:r>
              <a:rPr lang="en-US" sz="1100" b="1" i="1" dirty="0">
                <a:solidFill>
                  <a:srgbClr val="1A1A1A"/>
                </a:solidFill>
              </a:rPr>
              <a:t>1.00</a:t>
            </a:r>
            <a:endParaRPr lang="en-US" sz="1100" dirty="0"/>
          </a:p>
        </p:txBody>
      </p:sp>
      <p:sp>
        <p:nvSpPr>
          <p:cNvPr id="60" name="Text 58"/>
          <p:cNvSpPr/>
          <p:nvPr/>
        </p:nvSpPr>
        <p:spPr>
          <a:xfrm>
            <a:off x="365760" y="4617720"/>
            <a:ext cx="8412480" cy="256032"/>
          </a:xfrm>
          <a:prstGeom prst="rect">
            <a:avLst/>
          </a:prstGeom>
          <a:noFill/>
          <a:ln/>
        </p:spPr>
        <p:txBody>
          <a:bodyPr wrap="square" lIns="0" tIns="0" rIns="0" bIns="0" rtlCol="0" anchor="ctr"/>
          <a:lstStyle/>
          <a:p>
            <a:pPr marL="0" indent="0" algn="ctr">
              <a:buNone/>
            </a:pPr>
            <a:r>
              <a:rPr lang="en-US" sz="900" i="1" dirty="0">
                <a:solidFill>
                  <a:srgbClr val="555555"/>
                </a:solidFill>
              </a:rPr>
              <a:t>Ordering recall is the outlier: the reorder synthesiser's splitOnInvalid validator rejects any window containing a step it cannot safely.</a:t>
            </a:r>
            <a:endParaRPr lang="en-US" sz="900" dirty="0"/>
          </a:p>
        </p:txBody>
      </p:sp>
      <p:sp>
        <p:nvSpPr>
          <p:cNvPr id="61" name="Text 59"/>
          <p:cNvSpPr/>
          <p:nvPr/>
        </p:nvSpPr>
        <p:spPr>
          <a:xfrm>
            <a:off x="365760" y="4873752"/>
            <a:ext cx="8412480" cy="256032"/>
          </a:xfrm>
          <a:prstGeom prst="rect">
            <a:avLst/>
          </a:prstGeom>
          <a:noFill/>
          <a:ln/>
        </p:spPr>
        <p:txBody>
          <a:bodyPr wrap="square" lIns="0" tIns="0" rIns="0" bIns="0" rtlCol="0" anchor="ctr"/>
          <a:lstStyle/>
          <a:p>
            <a:pPr marL="0" indent="0" algn="ctr">
              <a:buNone/>
            </a:pPr>
            <a:r>
              <a:rPr lang="en-US" sz="900" i="1" dirty="0">
                <a:solidFill>
                  <a:srgbClr val="999999"/>
                </a:solidFill>
              </a:rPr>
              <a:t>Controlled-injection: balanced fixture, scripted behaviour - not shown on real-world refactoring sessions.</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91440"/>
            <a:ext cx="8229600" cy="548640"/>
          </a:xfrm>
          <a:prstGeom prst="rect">
            <a:avLst/>
          </a:prstGeom>
          <a:noFill/>
          <a:ln/>
        </p:spPr>
        <p:txBody>
          <a:bodyPr wrap="square" lIns="0" tIns="0" rIns="0" bIns="0" rtlCol="0" anchor="ctr"/>
          <a:lstStyle/>
          <a:p>
            <a:pPr marL="0" indent="0">
              <a:buNone/>
            </a:pPr>
            <a:r>
              <a:rPr lang="en-US" sz="2800" b="1" dirty="0">
                <a:solidFill>
                  <a:srgbClr val="000000"/>
                </a:solidFill>
              </a:rPr>
              <a:t>Are the alternatives actually better?</a:t>
            </a:r>
            <a:endParaRPr lang="en-US" sz="2800" dirty="0"/>
          </a:p>
        </p:txBody>
      </p:sp>
      <p:sp>
        <p:nvSpPr>
          <p:cNvPr id="3" name="Text 1"/>
          <p:cNvSpPr/>
          <p:nvPr/>
        </p:nvSpPr>
        <p:spPr>
          <a:xfrm>
            <a:off x="457200" y="713232"/>
            <a:ext cx="8229600" cy="274320"/>
          </a:xfrm>
          <a:prstGeom prst="rect">
            <a:avLst/>
          </a:prstGeom>
          <a:noFill/>
          <a:ln/>
        </p:spPr>
        <p:txBody>
          <a:bodyPr wrap="square" lIns="0" tIns="0" rIns="0" bIns="0" rtlCol="0" anchor="ctr"/>
          <a:lstStyle/>
          <a:p>
            <a:pPr marL="0" indent="0" algn="ctr">
              <a:buNone/>
            </a:pPr>
            <a:r>
              <a:rPr lang="en-US" sz="1300" i="1" dirty="0">
                <a:solidFill>
                  <a:srgbClr val="555555"/>
                </a:solidFill>
              </a:rPr>
              <a:t>41 of 66 synthesised alternatives strictly beat the user's trajectory (~62%). Quality varies sharply by kind.</a:t>
            </a:r>
            <a:endParaRPr lang="en-US" sz="13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40080" y="1188720"/>
          <a:ext cx="7863840" cy="914400"/>
        </p:xfrm>
        <a:graphic>
          <a:graphicData uri="http://schemas.openxmlformats.org/drawingml/2006/table">
            <a:tbl>
              <a:tblPr/>
              <a:tblGrid>
                <a:gridCol w="1737360">
                  <a:extLst>
                    <a:ext uri="{9D8B030D-6E8A-4147-A177-3AD203B41FA5}">
                      <a16:colId xmlns:a16="http://schemas.microsoft.com/office/drawing/2014/main" val="20000"/>
                    </a:ext>
                  </a:extLst>
                </a:gridCol>
                <a:gridCol w="64008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1005840">
                  <a:extLst>
                    <a:ext uri="{9D8B030D-6E8A-4147-A177-3AD203B41FA5}">
                      <a16:colId xmlns:a16="http://schemas.microsoft.com/office/drawing/2014/main" val="20004"/>
                    </a:ext>
                  </a:extLst>
                </a:gridCol>
                <a:gridCol w="1097280">
                  <a:extLst>
                    <a:ext uri="{9D8B030D-6E8A-4147-A177-3AD203B41FA5}">
                      <a16:colId xmlns:a16="http://schemas.microsoft.com/office/drawing/2014/main" val="20005"/>
                    </a:ext>
                  </a:extLst>
                </a:gridCol>
                <a:gridCol w="1463040">
                  <a:extLst>
                    <a:ext uri="{9D8B030D-6E8A-4147-A177-3AD203B41FA5}">
                      <a16:colId xmlns:a16="http://schemas.microsoft.com/office/drawing/2014/main" val="20006"/>
                    </a:ext>
                  </a:extLst>
                </a:gridCol>
              </a:tblGrid>
              <a:tr h="411480">
                <a:tc>
                  <a:txBody>
                    <a:bodyPr/>
                    <a:lstStyle/>
                    <a:p>
                      <a:pPr marL="0" indent="0" algn="l">
                        <a:buNone/>
                      </a:pPr>
                      <a:r>
                        <a:rPr lang="en-US" sz="1400" b="1" dirty="0">
                          <a:solidFill>
                            <a:srgbClr val="1A1A1A"/>
                          </a:solidFill>
                        </a:rPr>
                        <a:t>Kind</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marL="0" indent="0" algn="ctr">
                        <a:buNone/>
                      </a:pPr>
                      <a:r>
                        <a:rPr lang="en-US" sz="1400" b="1" dirty="0">
                          <a:solidFill>
                            <a:srgbClr val="1A1A1A"/>
                          </a:solidFill>
                        </a:rPr>
                        <a:t>DPs</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marL="0" indent="0" algn="ctr">
                        <a:buNone/>
                      </a:pPr>
                      <a:r>
                        <a:rPr lang="en-US" sz="1400" b="1" dirty="0">
                          <a:solidFill>
                            <a:srgbClr val="1A1A1A"/>
                          </a:solidFill>
                        </a:rPr>
                        <a:t>Beats ✓</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marL="0" indent="0" algn="ctr">
                        <a:buNone/>
                      </a:pPr>
                      <a:r>
                        <a:rPr lang="en-US" sz="1400" b="1" dirty="0">
                          <a:solidFill>
                            <a:srgbClr val="1A1A1A"/>
                          </a:solidFill>
                        </a:rPr>
                        <a:t>Ties =</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marL="0" indent="0" algn="ctr">
                        <a:buNone/>
                      </a:pPr>
                      <a:r>
                        <a:rPr lang="en-US" sz="1400" b="1" dirty="0">
                          <a:solidFill>
                            <a:srgbClr val="1A1A1A"/>
                          </a:solidFill>
                        </a:rPr>
                        <a:t>Loses ✗</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marL="0" indent="0" algn="ctr">
                        <a:buNone/>
                      </a:pPr>
                      <a:r>
                        <a:rPr lang="en-US" sz="1400" b="1" dirty="0">
                          <a:solidFill>
                            <a:srgbClr val="1A1A1A"/>
                          </a:solidFill>
                        </a:rPr>
                        <a:t>Beat rate</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marL="0" indent="0" algn="ctr">
                        <a:buNone/>
                      </a:pPr>
                      <a:r>
                        <a:rPr lang="en-US" sz="1400" b="1" dirty="0">
                          <a:solidFill>
                            <a:srgbClr val="1A1A1A"/>
                          </a:solidFill>
                        </a:rPr>
                        <a:t>Max Δ</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extLst>
                  <a:ext uri="{0D108BD9-81ED-4DB2-BD59-A6C34878D82A}">
                    <a16:rowId xmlns:a16="http://schemas.microsoft.com/office/drawing/2014/main" val="10000"/>
                  </a:ext>
                </a:extLst>
              </a:tr>
              <a:tr h="411480">
                <a:tc>
                  <a:txBody>
                    <a:bodyPr/>
                    <a:lstStyle/>
                    <a:p>
                      <a:pPr marL="0" indent="0" algn="l">
                        <a:buNone/>
                      </a:pPr>
                      <a:r>
                        <a:rPr lang="en-US" sz="1400" b="1" dirty="0">
                          <a:solidFill>
                            <a:srgbClr val="1A1A1A"/>
                          </a:solidFill>
                        </a:rPr>
                        <a:t>Hygiene</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400" dirty="0">
                          <a:solidFill>
                            <a:srgbClr val="1A1A1A"/>
                          </a:solidFill>
                        </a:rPr>
                        <a:t>13</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400" b="1" dirty="0">
                          <a:solidFill>
                            <a:srgbClr val="0A7D2A"/>
                          </a:solidFill>
                        </a:rPr>
                        <a:t>13</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4F0DC"/>
                    </a:solidFill>
                  </a:tcPr>
                </a:tc>
                <a:tc>
                  <a:txBody>
                    <a:bodyPr/>
                    <a:lstStyle/>
                    <a:p>
                      <a:pPr marL="0" indent="0" algn="ctr">
                        <a:buNone/>
                      </a:pPr>
                      <a:r>
                        <a:rPr lang="en-US" sz="1400" b="1" dirty="0">
                          <a:solidFill>
                            <a:srgbClr val="8A6A00"/>
                          </a:solidFill>
                        </a:rPr>
                        <a:t>0</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4D6"/>
                    </a:solidFill>
                  </a:tcPr>
                </a:tc>
                <a:tc>
                  <a:txBody>
                    <a:bodyPr/>
                    <a:lstStyle/>
                    <a:p>
                      <a:pPr marL="0" indent="0" algn="ctr">
                        <a:buNone/>
                      </a:pPr>
                      <a:r>
                        <a:rPr lang="en-US" sz="1400" b="1" dirty="0">
                          <a:solidFill>
                            <a:srgbClr val="B33A1E"/>
                          </a:solidFill>
                        </a:rPr>
                        <a:t>0</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D5CE"/>
                    </a:solidFill>
                  </a:tcPr>
                </a:tc>
                <a:tc>
                  <a:txBody>
                    <a:bodyPr/>
                    <a:lstStyle/>
                    <a:p>
                      <a:pPr marL="0" indent="0" algn="ctr">
                        <a:buNone/>
                      </a:pPr>
                      <a:r>
                        <a:rPr lang="en-US" sz="1400" b="1" dirty="0">
                          <a:solidFill>
                            <a:srgbClr val="0A7D2A"/>
                          </a:solidFill>
                        </a:rPr>
                        <a:t>100%</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400" dirty="0">
                          <a:solidFill>
                            <a:srgbClr val="1A1A1A"/>
                          </a:solidFill>
                        </a:rPr>
                        <a:t>+9</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411480">
                <a:tc>
                  <a:txBody>
                    <a:bodyPr/>
                    <a:lstStyle/>
                    <a:p>
                      <a:pPr marL="0" indent="0" algn="l">
                        <a:buNone/>
                      </a:pPr>
                      <a:r>
                        <a:rPr lang="en-US" sz="1400" b="1" dirty="0">
                          <a:solidFill>
                            <a:srgbClr val="1A1A1A"/>
                          </a:solidFill>
                        </a:rPr>
                        <a:t>Manual-Refactor</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400" dirty="0">
                          <a:solidFill>
                            <a:srgbClr val="1A1A1A"/>
                          </a:solidFill>
                        </a:rPr>
                        <a:t>16</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400" b="1" dirty="0">
                          <a:solidFill>
                            <a:srgbClr val="0A7D2A"/>
                          </a:solidFill>
                        </a:rPr>
                        <a:t>12</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4F0DC"/>
                    </a:solidFill>
                  </a:tcPr>
                </a:tc>
                <a:tc>
                  <a:txBody>
                    <a:bodyPr/>
                    <a:lstStyle/>
                    <a:p>
                      <a:pPr marL="0" indent="0" algn="ctr">
                        <a:buNone/>
                      </a:pPr>
                      <a:r>
                        <a:rPr lang="en-US" sz="1400" b="1" dirty="0">
                          <a:solidFill>
                            <a:srgbClr val="8A6A00"/>
                          </a:solidFill>
                        </a:rPr>
                        <a:t>3</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4D6"/>
                    </a:solidFill>
                  </a:tcPr>
                </a:tc>
                <a:tc>
                  <a:txBody>
                    <a:bodyPr/>
                    <a:lstStyle/>
                    <a:p>
                      <a:pPr marL="0" indent="0" algn="ctr">
                        <a:buNone/>
                      </a:pPr>
                      <a:r>
                        <a:rPr lang="en-US" sz="1400" b="1" dirty="0">
                          <a:solidFill>
                            <a:srgbClr val="B33A1E"/>
                          </a:solidFill>
                        </a:rPr>
                        <a:t>1</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D5CE"/>
                    </a:solidFill>
                  </a:tcPr>
                </a:tc>
                <a:tc>
                  <a:txBody>
                    <a:bodyPr/>
                    <a:lstStyle/>
                    <a:p>
                      <a:pPr marL="0" indent="0" algn="ctr">
                        <a:buNone/>
                      </a:pPr>
                      <a:r>
                        <a:rPr lang="en-US" sz="1400" b="1" dirty="0">
                          <a:solidFill>
                            <a:srgbClr val="0A7D2A"/>
                          </a:solidFill>
                        </a:rPr>
                        <a:t>75%</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400" b="1" dirty="0">
                          <a:solidFill>
                            <a:srgbClr val="0A7D2A"/>
                          </a:solidFill>
                        </a:rPr>
                        <a:t>+23</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411480">
                <a:tc>
                  <a:txBody>
                    <a:bodyPr/>
                    <a:lstStyle/>
                    <a:p>
                      <a:pPr marL="0" indent="0" algn="l">
                        <a:buNone/>
                      </a:pPr>
                      <a:r>
                        <a:rPr lang="en-US" sz="1400" b="1" dirty="0">
                          <a:solidFill>
                            <a:srgbClr val="1A1A1A"/>
                          </a:solidFill>
                        </a:rPr>
                        <a:t>Rework</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400" dirty="0">
                          <a:solidFill>
                            <a:srgbClr val="1A1A1A"/>
                          </a:solidFill>
                        </a:rPr>
                        <a:t>13</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400" b="1" dirty="0">
                          <a:solidFill>
                            <a:srgbClr val="0A7D2A"/>
                          </a:solidFill>
                        </a:rPr>
                        <a:t>6</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4F0DC"/>
                    </a:solidFill>
                  </a:tcPr>
                </a:tc>
                <a:tc>
                  <a:txBody>
                    <a:bodyPr/>
                    <a:lstStyle/>
                    <a:p>
                      <a:pPr marL="0" indent="0" algn="ctr">
                        <a:buNone/>
                      </a:pPr>
                      <a:r>
                        <a:rPr lang="en-US" sz="1400" b="1" dirty="0">
                          <a:solidFill>
                            <a:srgbClr val="8A6A00"/>
                          </a:solidFill>
                        </a:rPr>
                        <a:t>1</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4D6"/>
                    </a:solidFill>
                  </a:tcPr>
                </a:tc>
                <a:tc>
                  <a:txBody>
                    <a:bodyPr/>
                    <a:lstStyle/>
                    <a:p>
                      <a:pPr marL="0" indent="0" algn="ctr">
                        <a:buNone/>
                      </a:pPr>
                      <a:r>
                        <a:rPr lang="en-US" sz="1400" b="1" dirty="0">
                          <a:solidFill>
                            <a:srgbClr val="B33A1E"/>
                          </a:solidFill>
                        </a:rPr>
                        <a:t>6</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D5CE"/>
                    </a:solidFill>
                  </a:tcPr>
                </a:tc>
                <a:tc>
                  <a:txBody>
                    <a:bodyPr/>
                    <a:lstStyle/>
                    <a:p>
                      <a:pPr marL="0" indent="0" algn="ctr">
                        <a:buNone/>
                      </a:pPr>
                      <a:r>
                        <a:rPr lang="en-US" sz="1400" b="1" dirty="0">
                          <a:solidFill>
                            <a:srgbClr val="1A1A1A"/>
                          </a:solidFill>
                        </a:rPr>
                        <a:t>46%</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400" dirty="0">
                          <a:solidFill>
                            <a:srgbClr val="1A1A1A"/>
                          </a:solidFill>
                        </a:rPr>
                        <a:t>+8</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411480">
                <a:tc>
                  <a:txBody>
                    <a:bodyPr/>
                    <a:lstStyle/>
                    <a:p>
                      <a:pPr marL="0" indent="0" algn="l">
                        <a:buNone/>
                      </a:pPr>
                      <a:r>
                        <a:rPr lang="en-US" sz="1400" b="1" dirty="0">
                          <a:solidFill>
                            <a:srgbClr val="1A1A1A"/>
                          </a:solidFill>
                        </a:rPr>
                        <a:t>Ordering</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400" dirty="0">
                          <a:solidFill>
                            <a:srgbClr val="1A1A1A"/>
                          </a:solidFill>
                        </a:rPr>
                        <a:t>24</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400" b="1" dirty="0">
                          <a:solidFill>
                            <a:srgbClr val="0A7D2A"/>
                          </a:solidFill>
                        </a:rPr>
                        <a:t>10</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4F0DC"/>
                    </a:solidFill>
                  </a:tcPr>
                </a:tc>
                <a:tc>
                  <a:txBody>
                    <a:bodyPr/>
                    <a:lstStyle/>
                    <a:p>
                      <a:pPr marL="0" indent="0" algn="ctr">
                        <a:buNone/>
                      </a:pPr>
                      <a:r>
                        <a:rPr lang="en-US" sz="1400" b="1" dirty="0">
                          <a:solidFill>
                            <a:srgbClr val="8A6A00"/>
                          </a:solidFill>
                        </a:rPr>
                        <a:t>12</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4D6"/>
                    </a:solidFill>
                  </a:tcPr>
                </a:tc>
                <a:tc>
                  <a:txBody>
                    <a:bodyPr/>
                    <a:lstStyle/>
                    <a:p>
                      <a:pPr marL="0" indent="0" algn="ctr">
                        <a:buNone/>
                      </a:pPr>
                      <a:r>
                        <a:rPr lang="en-US" sz="1400" b="1" dirty="0">
                          <a:solidFill>
                            <a:srgbClr val="B33A1E"/>
                          </a:solidFill>
                        </a:rPr>
                        <a:t>2</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D5CE"/>
                    </a:solidFill>
                  </a:tcPr>
                </a:tc>
                <a:tc>
                  <a:txBody>
                    <a:bodyPr/>
                    <a:lstStyle/>
                    <a:p>
                      <a:pPr marL="0" indent="0" algn="ctr">
                        <a:buNone/>
                      </a:pPr>
                      <a:r>
                        <a:rPr lang="en-US" sz="1400" b="1" dirty="0">
                          <a:solidFill>
                            <a:srgbClr val="1A1A1A"/>
                          </a:solidFill>
                        </a:rPr>
                        <a:t>42%</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400" dirty="0">
                          <a:solidFill>
                            <a:srgbClr val="1A1A1A"/>
                          </a:solidFill>
                        </a:rPr>
                        <a:t>+9</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p:nvPr/>
        </p:nvSpPr>
        <p:spPr>
          <a:xfrm>
            <a:off x="365760" y="4160520"/>
            <a:ext cx="8412480" cy="548640"/>
          </a:xfrm>
          <a:prstGeom prst="rect">
            <a:avLst/>
          </a:prstGeom>
          <a:noFill/>
          <a:ln/>
        </p:spPr>
        <p:txBody>
          <a:bodyPr wrap="square" lIns="0" tIns="0" rIns="0" bIns="0" rtlCol="0" anchor="ctr"/>
          <a:lstStyle/>
          <a:p>
            <a:pPr marL="0" indent="0" algn="ctr">
              <a:buNone/>
            </a:pPr>
            <a:r>
              <a:rPr lang="en-US" sz="1000" i="1" dirty="0">
                <a:solidFill>
                  <a:srgbClr val="777777"/>
                </a:solidFill>
              </a:rPr>
              <a:t>Ordering alternatives share the end state, so only W_lag (intermediate cleanliness) can separate them. They tie when intermediate cleanliness is identical - often when build/tests broke and cleanliness stats are frozen at the last trustworthy value. Manual-Refactor's 3 ties + 1 loss come from the [0,100] score clamp - the user's score is pinned at the floor, so the IDE alternative can't score lower either.</a:t>
            </a:r>
            <a:endParaRPr lang="en-US" sz="1000" dirty="0"/>
          </a:p>
        </p:txBody>
      </p:sp>
      <p:sp>
        <p:nvSpPr>
          <p:cNvPr id="6" name="Text 3"/>
          <p:cNvSpPr/>
          <p:nvPr/>
        </p:nvSpPr>
        <p:spPr>
          <a:xfrm>
            <a:off x="365760" y="4754880"/>
            <a:ext cx="8412480" cy="256032"/>
          </a:xfrm>
          <a:prstGeom prst="rect">
            <a:avLst/>
          </a:prstGeom>
          <a:noFill/>
          <a:ln/>
        </p:spPr>
        <p:txBody>
          <a:bodyPr wrap="square" lIns="0" tIns="0" rIns="0" bIns="0" rtlCol="0" anchor="ctr"/>
          <a:lstStyle/>
          <a:p>
            <a:pPr marL="0" indent="0" algn="ctr">
              <a:buNone/>
            </a:pPr>
            <a:r>
              <a:rPr lang="en-US" sz="900" i="1" dirty="0">
                <a:solidFill>
                  <a:srgbClr val="999999"/>
                </a:solidFill>
              </a:rPr>
              <a:t>Result under J - not yet independently validated by expert ranking.</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2011680"/>
            <a:ext cx="8229600" cy="1097280"/>
          </a:xfrm>
          <a:prstGeom prst="rect">
            <a:avLst/>
          </a:prstGeom>
          <a:noFill/>
          <a:ln/>
        </p:spPr>
        <p:txBody>
          <a:bodyPr wrap="square" lIns="0" tIns="0" rIns="0" bIns="0" rtlCol="0" anchor="ctr"/>
          <a:lstStyle/>
          <a:p>
            <a:pPr marL="0" indent="0" algn="ctr">
              <a:buNone/>
            </a:pPr>
            <a:r>
              <a:rPr lang="en-US" sz="3600" b="1" dirty="0">
                <a:solidFill>
                  <a:srgbClr val="1A1A1A"/>
                </a:solidFill>
              </a:rPr>
              <a:t>Experiment 2: Is the process score reliable?</a:t>
            </a:r>
            <a:endParaRPr lang="en-US" sz="3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00000"/>
                </a:solidFill>
              </a:rPr>
              <a:t>Is the process score reliable?</a:t>
            </a:r>
            <a:endParaRPr lang="en-US" sz="2800" dirty="0"/>
          </a:p>
        </p:txBody>
      </p:sp>
      <p:sp>
        <p:nvSpPr>
          <p:cNvPr id="3" name="Text 1"/>
          <p:cNvSpPr/>
          <p:nvPr/>
        </p:nvSpPr>
        <p:spPr>
          <a:xfrm>
            <a:off x="457200" y="1188720"/>
            <a:ext cx="8229600" cy="3657600"/>
          </a:xfrm>
          <a:prstGeom prst="rect">
            <a:avLst/>
          </a:prstGeom>
          <a:noFill/>
          <a:ln/>
        </p:spPr>
        <p:txBody>
          <a:bodyPr wrap="square" rtlCol="0" anchor="t"/>
          <a:lstStyle/>
          <a:p>
            <a:pPr marL="342900" indent="-342900">
              <a:spcAft>
                <a:spcPts val="600"/>
              </a:spcAft>
              <a:buSzPct val="100000"/>
              <a:buChar char="•"/>
            </a:pPr>
            <a:r>
              <a:rPr lang="en-US" sz="1500" b="1" dirty="0">
                <a:solidFill>
                  <a:srgbClr val="000000"/>
                </a:solidFill>
              </a:rPr>
              <a:t>How stable is the score?</a:t>
            </a:r>
            <a:endParaRPr lang="en-US" sz="1500" dirty="0"/>
          </a:p>
          <a:p>
            <a:pPr marL="762000" lvl="1" indent="-381000">
              <a:spcAft>
                <a:spcPts val="600"/>
              </a:spcAft>
              <a:buSzPct val="100000"/>
              <a:buChar char="•"/>
            </a:pPr>
            <a:r>
              <a:rPr lang="en-US" sz="1500" dirty="0">
                <a:solidFill>
                  <a:srgbClr val="000000"/>
                </a:solidFill>
              </a:rPr>
              <a:t>Two perturbation sweeps </a:t>
            </a:r>
            <a:r>
              <a:rPr lang="en-US" sz="1500" dirty="0">
                <a:solidFill>
                  <a:srgbClr val="888888"/>
                </a:solidFill>
              </a:rPr>
              <a:t>- single-knob (one weight scaled ×0.1 to ×10) + multi-knob Monte Carlo (200 samples, σ = ln 2, so ~×0.25 to ×4 of production).</a:t>
            </a:r>
            <a:endParaRPr lang="en-US" sz="1500" dirty="0"/>
          </a:p>
          <a:p>
            <a:pPr marL="762000" lvl="1" indent="-381000">
              <a:spcAft>
                <a:spcPts val="1800"/>
              </a:spcAft>
              <a:buSzPct val="100000"/>
              <a:buChar char="•"/>
            </a:pPr>
            <a:r>
              <a:rPr lang="en-US" sz="1500" dirty="0">
                <a:solidFill>
                  <a:srgbClr val="000000"/>
                </a:solidFill>
              </a:rPr>
              <a:t>Stability metrics </a:t>
            </a:r>
            <a:r>
              <a:rPr lang="en-US" sz="1500" dirty="0">
                <a:solidFill>
                  <a:srgbClr val="888888"/>
                </a:solidFill>
              </a:rPr>
              <a:t>- top-1 hit rate (does the top-ranked DP stay on top?) + Kendall's τ-b on per-session rankings.</a:t>
            </a:r>
            <a:endParaRPr lang="en-US" sz="1500" dirty="0"/>
          </a:p>
          <a:p>
            <a:pPr marL="342900" indent="-342900">
              <a:spcAft>
                <a:spcPts val="600"/>
              </a:spcAft>
              <a:buSzPct val="100000"/>
              <a:buChar char="•"/>
            </a:pPr>
            <a:r>
              <a:rPr lang="en-US" sz="1500" b="1" dirty="0">
                <a:solidFill>
                  <a:srgbClr val="000000"/>
                </a:solidFill>
              </a:rPr>
              <a:t>Does every component of the process score hold weight?</a:t>
            </a:r>
            <a:endParaRPr lang="en-US" sz="1500" dirty="0"/>
          </a:p>
          <a:p>
            <a:pPr marL="762000" lvl="1" indent="-381000">
              <a:spcAft>
                <a:spcPts val="600"/>
              </a:spcAft>
              <a:buSzPct val="100000"/>
              <a:buChar char="•"/>
            </a:pPr>
            <a:r>
              <a:rPr lang="en-US" sz="1500" dirty="0">
                <a:solidFill>
                  <a:srgbClr val="000000"/>
                </a:solidFill>
              </a:rPr>
              <a:t>Process-side ablation </a:t>
            </a:r>
            <a:r>
              <a:rPr lang="en-US" sz="1500" dirty="0">
                <a:solidFill>
                  <a:srgbClr val="888888"/>
                </a:solidFill>
              </a:rPr>
              <a:t>- enumerate all 2⁷ = 128 subsets of the 7 process weights → 5,760 cases per session set.</a:t>
            </a:r>
            <a:endParaRPr lang="en-US" sz="1500" dirty="0"/>
          </a:p>
          <a:p>
            <a:pPr marL="762000" lvl="1" indent="-381000">
              <a:spcAft>
                <a:spcPts val="600"/>
              </a:spcAft>
              <a:buSzPct val="100000"/>
              <a:buChar char="•"/>
            </a:pPr>
            <a:r>
              <a:rPr lang="en-US" sz="1500" dirty="0">
                <a:solidFill>
                  <a:srgbClr val="000000"/>
                </a:solidFill>
              </a:rPr>
              <a:t>Recovery metrics </a:t>
            </a:r>
            <a:r>
              <a:rPr lang="en-US" sz="1500" dirty="0">
                <a:solidFill>
                  <a:srgbClr val="888888"/>
                </a:solidFill>
              </a:rPr>
              <a:t>- sum-over-sum magnitude recovery (does the term carry signal?) + leave-one-out Kendall's τ-b (does removing it reshuffle rankings?).</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00000"/>
                </a:solidFill>
              </a:rPr>
              <a:t>Score is locally robust</a:t>
            </a:r>
            <a:endParaRPr lang="en-US" sz="2800" dirty="0"/>
          </a:p>
        </p:txBody>
      </p:sp>
      <p:sp>
        <p:nvSpPr>
          <p:cNvPr id="3" name="Text 1"/>
          <p:cNvSpPr/>
          <p:nvPr/>
        </p:nvSpPr>
        <p:spPr>
          <a:xfrm>
            <a:off x="457200" y="1051560"/>
            <a:ext cx="8229600" cy="1005840"/>
          </a:xfrm>
          <a:prstGeom prst="rect">
            <a:avLst/>
          </a:prstGeom>
          <a:noFill/>
          <a:ln/>
        </p:spPr>
        <p:txBody>
          <a:bodyPr wrap="square" rtlCol="0" anchor="t"/>
          <a:lstStyle/>
          <a:p>
            <a:pPr marL="342900" indent="-342900">
              <a:spcAft>
                <a:spcPts val="600"/>
              </a:spcAft>
              <a:buSzPct val="100000"/>
              <a:buChar char="•"/>
            </a:pPr>
            <a:r>
              <a:rPr lang="en-US" sz="1300" b="1" dirty="0">
                <a:solidFill>
                  <a:srgbClr val="000000"/>
                </a:solidFill>
              </a:rPr>
              <a:t>How stable is the score?</a:t>
            </a:r>
            <a:endParaRPr lang="en-US" sz="1300" dirty="0"/>
          </a:p>
          <a:p>
            <a:pPr marL="762000" lvl="1" indent="-381000">
              <a:spcAft>
                <a:spcPts val="400"/>
              </a:spcAft>
              <a:buSzPct val="100000"/>
              <a:buChar char="•"/>
            </a:pPr>
            <a:r>
              <a:rPr lang="en-US" sz="1300" dirty="0">
                <a:solidFill>
                  <a:srgbClr val="000000"/>
                </a:solidFill>
              </a:rPr>
              <a:t>Single-knob: 96.5% top-1 preserved </a:t>
            </a:r>
            <a:r>
              <a:rPr lang="en-US" sz="1300" dirty="0">
                <a:solidFill>
                  <a:srgbClr val="888888"/>
                </a:solidFill>
              </a:rPr>
              <a:t>- only 1.8% of cases are clamp-frozen.</a:t>
            </a:r>
            <a:endParaRPr lang="en-US" sz="1300" dirty="0"/>
          </a:p>
          <a:p>
            <a:pPr marL="762000" lvl="1" indent="-381000">
              <a:spcAft>
                <a:spcPts val="400"/>
              </a:spcAft>
              <a:buSzPct val="100000"/>
              <a:buChar char="•"/>
            </a:pPr>
            <a:r>
              <a:rPr lang="en-US" sz="1300" dirty="0">
                <a:solidFill>
                  <a:srgbClr val="000000"/>
                </a:solidFill>
              </a:rPr>
              <a:t>Multi-knob: 84.6% top-1 preserved </a:t>
            </a:r>
            <a:r>
              <a:rPr lang="en-US" sz="1300" dirty="0">
                <a:solidFill>
                  <a:srgbClr val="888888"/>
                </a:solidFill>
              </a:rPr>
              <a:t>- meaningful correlation, not full preservation.</a:t>
            </a:r>
            <a:endParaRPr lang="en-US" sz="1300" dirty="0"/>
          </a:p>
        </p:txBody>
      </p:sp>
      <p:sp>
        <p:nvSpPr>
          <p:cNvPr id="4" name="Text 2"/>
          <p:cNvSpPr/>
          <p:nvPr/>
        </p:nvSpPr>
        <p:spPr>
          <a:xfrm>
            <a:off x="457200" y="2148840"/>
            <a:ext cx="8229600" cy="274320"/>
          </a:xfrm>
          <a:prstGeom prst="rect">
            <a:avLst/>
          </a:prstGeom>
          <a:noFill/>
          <a:ln/>
        </p:spPr>
        <p:txBody>
          <a:bodyPr wrap="square" lIns="0" tIns="0" rIns="0" bIns="0" rtlCol="0" anchor="ctr"/>
          <a:lstStyle/>
          <a:p>
            <a:pPr marL="0" indent="0">
              <a:buNone/>
            </a:pPr>
            <a:r>
              <a:rPr lang="en-US" sz="1300" b="1" dirty="0">
                <a:solidFill>
                  <a:srgbClr val="1A1A1A"/>
                </a:solidFill>
              </a:rPr>
              <a:t>Does every component of the process score hold weight?</a:t>
            </a:r>
            <a:endParaRPr lang="en-US" sz="13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914400" y="2468880"/>
          <a:ext cx="7315200" cy="2340864"/>
        </p:xfrm>
        <a:graphic>
          <a:graphicData uri="http://schemas.openxmlformats.org/drawingml/2006/table">
            <a:tbl>
              <a:tblPr/>
              <a:tblGrid>
                <a:gridCol w="18288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292608">
                <a:tc>
                  <a:txBody>
                    <a:bodyPr/>
                    <a:lstStyle/>
                    <a:p>
                      <a:pPr marL="0" indent="0" algn="ctr">
                        <a:buNone/>
                      </a:pPr>
                      <a:r>
                        <a:rPr lang="en-US" sz="1100" b="1" dirty="0">
                          <a:solidFill>
                            <a:srgbClr val="1A1A1A"/>
                          </a:solidFill>
                          <a:latin typeface="Calibri" pitchFamily="34" charset="0"/>
                          <a:ea typeface="Calibri" pitchFamily="34" charset="-122"/>
                          <a:cs typeface="Calibri" pitchFamily="34" charset="-120"/>
                        </a:rPr>
                        <a:t>Removed term</a:t>
                      </a:r>
                      <a:endParaRPr lang="en-US" sz="11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0F0F0"/>
                    </a:solidFill>
                  </a:tcPr>
                </a:tc>
                <a:tc>
                  <a:txBody>
                    <a:bodyPr/>
                    <a:lstStyle/>
                    <a:p>
                      <a:pPr marL="0" indent="0" algn="ctr">
                        <a:buNone/>
                      </a:pPr>
                      <a:r>
                        <a:rPr lang="en-US" sz="1100" b="1" dirty="0">
                          <a:solidFill>
                            <a:srgbClr val="1A1A1A"/>
                          </a:solidFill>
                          <a:latin typeface="Calibri" pitchFamily="34" charset="0"/>
                          <a:ea typeface="Calibri" pitchFamily="34" charset="-122"/>
                          <a:cs typeface="Calibri" pitchFamily="34" charset="-120"/>
                        </a:rPr>
                        <a:t>Leave-one-out τ-b (lower = more rank-carrier)</a:t>
                      </a:r>
                      <a:endParaRPr lang="en-US" sz="11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0F0F0"/>
                    </a:solidFill>
                  </a:tcPr>
                </a:tc>
                <a:tc>
                  <a:txBody>
                    <a:bodyPr/>
                    <a:lstStyle/>
                    <a:p>
                      <a:pPr marL="0" indent="0" algn="ctr">
                        <a:buNone/>
                      </a:pPr>
                      <a:r>
                        <a:rPr lang="en-US" sz="1100" b="1" dirty="0">
                          <a:solidFill>
                            <a:srgbClr val="1A1A1A"/>
                          </a:solidFill>
                          <a:latin typeface="Calibri" pitchFamily="34" charset="0"/>
                          <a:ea typeface="Calibri" pitchFamily="34" charset="-122"/>
                          <a:cs typeface="Calibri" pitchFamily="34" charset="-120"/>
                        </a:rPr>
                        <a:t>Single-knob top-1 Δ</a:t>
                      </a:r>
                      <a:endParaRPr lang="en-US" sz="11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0F0F0"/>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length</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marL="0" indent="0" algn="ctr">
                        <a:buNone/>
                      </a:pPr>
                      <a:r>
                        <a:rPr lang="en-US" sz="1200" b="1" dirty="0">
                          <a:solidFill>
                            <a:srgbClr val="0A7D2A"/>
                          </a:solidFill>
                          <a:latin typeface="Calibri" pitchFamily="34" charset="0"/>
                          <a:ea typeface="Calibri" pitchFamily="34" charset="-122"/>
                          <a:cs typeface="Calibri" pitchFamily="34" charset="-120"/>
                        </a:rPr>
                        <a:t>0.527</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marL="0" indent="0" algn="ctr">
                        <a:buNone/>
                      </a:pPr>
                      <a:r>
                        <a:rPr lang="en-US" sz="1200" dirty="0">
                          <a:solidFill>
                            <a:srgbClr val="333333"/>
                          </a:solidFill>
                          <a:latin typeface="Calibri" pitchFamily="34" charset="0"/>
                          <a:ea typeface="Calibri" pitchFamily="34" charset="-122"/>
                          <a:cs typeface="Calibri" pitchFamily="34" charset="-120"/>
                        </a:rPr>
                        <a:t>6.2%</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manualIde</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marL="0" indent="0" algn="ctr">
                        <a:buNone/>
                      </a:pPr>
                      <a:r>
                        <a:rPr lang="en-US" sz="1200" dirty="0">
                          <a:solidFill>
                            <a:srgbClr val="333333"/>
                          </a:solidFill>
                          <a:latin typeface="Calibri" pitchFamily="34" charset="0"/>
                          <a:ea typeface="Calibri" pitchFamily="34" charset="-122"/>
                          <a:cs typeface="Calibri" pitchFamily="34" charset="-120"/>
                        </a:rPr>
                        <a:t>0.588</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marL="0" indent="0" algn="ctr">
                        <a:buNone/>
                      </a:pPr>
                      <a:r>
                        <a:rPr lang="en-US" sz="1200" dirty="0">
                          <a:solidFill>
                            <a:srgbClr val="333333"/>
                          </a:solidFill>
                          <a:latin typeface="Calibri" pitchFamily="34" charset="0"/>
                          <a:ea typeface="Calibri" pitchFamily="34" charset="-122"/>
                          <a:cs typeface="Calibri" pitchFamily="34" charset="-120"/>
                        </a:rPr>
                        <a:t>7.6%</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extLst>
                  <a:ext uri="{0D108BD9-81ED-4DB2-BD59-A6C34878D82A}">
                    <a16:rowId xmlns:a16="http://schemas.microsoft.com/office/drawing/2014/main" val="10002"/>
                  </a:ext>
                </a:extLst>
              </a:tr>
              <a:tr h="292608">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broken</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marL="0" indent="0" algn="ctr">
                        <a:buNone/>
                      </a:pPr>
                      <a:r>
                        <a:rPr lang="en-US" sz="1200" dirty="0">
                          <a:solidFill>
                            <a:srgbClr val="333333"/>
                          </a:solidFill>
                          <a:latin typeface="Calibri" pitchFamily="34" charset="0"/>
                          <a:ea typeface="Calibri" pitchFamily="34" charset="-122"/>
                          <a:cs typeface="Calibri" pitchFamily="34" charset="-120"/>
                        </a:rPr>
                        <a:t>0.627</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marL="0" indent="0" algn="ctr">
                        <a:buNone/>
                      </a:pPr>
                      <a:r>
                        <a:rPr lang="en-US" sz="1200" dirty="0">
                          <a:solidFill>
                            <a:srgbClr val="333333"/>
                          </a:solidFill>
                          <a:latin typeface="Calibri" pitchFamily="34" charset="0"/>
                          <a:ea typeface="Calibri" pitchFamily="34" charset="-122"/>
                          <a:cs typeface="Calibri" pitchFamily="34" charset="-120"/>
                        </a:rPr>
                        <a:t>5.3%</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extLst>
                  <a:ext uri="{0D108BD9-81ED-4DB2-BD59-A6C34878D82A}">
                    <a16:rowId xmlns:a16="http://schemas.microsoft.com/office/drawing/2014/main" val="10003"/>
                  </a:ext>
                </a:extLst>
              </a:tr>
              <a:tr h="292608">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commitGap</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marL="0" indent="0" algn="ctr">
                        <a:buNone/>
                      </a:pPr>
                      <a:r>
                        <a:rPr lang="en-US" sz="1200" dirty="0">
                          <a:solidFill>
                            <a:srgbClr val="333333"/>
                          </a:solidFill>
                          <a:latin typeface="Calibri" pitchFamily="34" charset="0"/>
                          <a:ea typeface="Calibri" pitchFamily="34" charset="-122"/>
                          <a:cs typeface="Calibri" pitchFamily="34" charset="-120"/>
                        </a:rPr>
                        <a:t>0.655</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marL="0" indent="0" algn="ctr">
                        <a:buNone/>
                      </a:pPr>
                      <a:r>
                        <a:rPr lang="en-US" sz="1200" dirty="0">
                          <a:solidFill>
                            <a:srgbClr val="333333"/>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extLst>
                  <a:ext uri="{0D108BD9-81ED-4DB2-BD59-A6C34878D82A}">
                    <a16:rowId xmlns:a16="http://schemas.microsoft.com/office/drawing/2014/main" val="10004"/>
                  </a:ext>
                </a:extLst>
              </a:tr>
              <a:tr h="292608">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skipTests</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marL="0" indent="0" algn="ctr">
                        <a:buNone/>
                      </a:pPr>
                      <a:r>
                        <a:rPr lang="en-US" sz="1200" dirty="0">
                          <a:solidFill>
                            <a:srgbClr val="333333"/>
                          </a:solidFill>
                          <a:latin typeface="Calibri" pitchFamily="34" charset="0"/>
                          <a:ea typeface="Calibri" pitchFamily="34" charset="-122"/>
                          <a:cs typeface="Calibri" pitchFamily="34" charset="-120"/>
                        </a:rPr>
                        <a:t>0.663</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marL="0" indent="0" algn="ctr">
                        <a:buNone/>
                      </a:pPr>
                      <a:r>
                        <a:rPr lang="en-US" sz="1200" dirty="0">
                          <a:solidFill>
                            <a:srgbClr val="333333"/>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extLst>
                  <a:ext uri="{0D108BD9-81ED-4DB2-BD59-A6C34878D82A}">
                    <a16:rowId xmlns:a16="http://schemas.microsoft.com/office/drawing/2014/main" val="10005"/>
                  </a:ext>
                </a:extLst>
              </a:tr>
              <a:tr h="292608">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gain</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marL="0" indent="0" algn="ctr">
                        <a:buNone/>
                      </a:pPr>
                      <a:r>
                        <a:rPr lang="en-US" sz="1200" dirty="0">
                          <a:solidFill>
                            <a:srgbClr val="333333"/>
                          </a:solidFill>
                          <a:latin typeface="Calibri" pitchFamily="34" charset="0"/>
                          <a:ea typeface="Calibri" pitchFamily="34" charset="-122"/>
                          <a:cs typeface="Calibri" pitchFamily="34" charset="-120"/>
                        </a:rPr>
                        <a:t>0.683</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marL="0" indent="0" algn="ctr">
                        <a:buNone/>
                      </a:pPr>
                      <a:r>
                        <a:rPr lang="en-US" sz="1200" dirty="0">
                          <a:solidFill>
                            <a:srgbClr val="333333"/>
                          </a:solidFill>
                          <a:latin typeface="Calibri" pitchFamily="34" charset="0"/>
                          <a:ea typeface="Calibri" pitchFamily="34" charset="-122"/>
                          <a:cs typeface="Calibri" pitchFamily="34" charset="-120"/>
                        </a:rPr>
                        <a:t>10.7%</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extLst>
                  <a:ext uri="{0D108BD9-81ED-4DB2-BD59-A6C34878D82A}">
                    <a16:rowId xmlns:a16="http://schemas.microsoft.com/office/drawing/2014/main" val="10006"/>
                  </a:ext>
                </a:extLst>
              </a:tr>
              <a:tr h="292608">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lag</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marL="0" indent="0" algn="ctr">
                        <a:buNone/>
                      </a:pPr>
                      <a:r>
                        <a:rPr lang="en-US" sz="1200" i="1" dirty="0">
                          <a:solidFill>
                            <a:srgbClr val="999999"/>
                          </a:solidFill>
                          <a:latin typeface="Calibri" pitchFamily="34" charset="0"/>
                          <a:ea typeface="Calibri" pitchFamily="34" charset="-122"/>
                          <a:cs typeface="Calibri" pitchFamily="34" charset="-120"/>
                        </a:rPr>
                        <a:t>0.784</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marL="0" indent="0" algn="ctr">
                        <a:buNone/>
                      </a:pPr>
                      <a:r>
                        <a:rPr lang="en-US" sz="1200" i="1" dirty="0">
                          <a:solidFill>
                            <a:srgbClr val="999999"/>
                          </a:solidFill>
                          <a:latin typeface="Calibri" pitchFamily="34" charset="0"/>
                          <a:ea typeface="Calibri" pitchFamily="34" charset="-122"/>
                          <a:cs typeface="Calibri" pitchFamily="34" charset="-120"/>
                        </a:rPr>
                        <a:t>0.4%</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6" name="Text 3"/>
          <p:cNvSpPr/>
          <p:nvPr/>
        </p:nvSpPr>
        <p:spPr>
          <a:xfrm>
            <a:off x="457200" y="4846320"/>
            <a:ext cx="8229600" cy="256032"/>
          </a:xfrm>
          <a:prstGeom prst="rect">
            <a:avLst/>
          </a:prstGeom>
          <a:noFill/>
          <a:ln/>
        </p:spPr>
        <p:txBody>
          <a:bodyPr wrap="square" lIns="0" tIns="0" rIns="0" bIns="0" rtlCol="0" anchor="ctr"/>
          <a:lstStyle/>
          <a:p>
            <a:pPr marL="0" indent="0" algn="ctr">
              <a:buNone/>
            </a:pPr>
            <a:r>
              <a:rPr lang="en-US" sz="900" i="1" dirty="0">
                <a:solidFill>
                  <a:srgbClr val="999999"/>
                </a:solidFill>
              </a:rPr>
              <a:t>Robustness ≠ calibration. Weights not validated against downstream outcomes.</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2011680"/>
            <a:ext cx="8229600" cy="1097280"/>
          </a:xfrm>
          <a:prstGeom prst="rect">
            <a:avLst/>
          </a:prstGeom>
          <a:noFill/>
          <a:ln/>
        </p:spPr>
        <p:txBody>
          <a:bodyPr wrap="square" lIns="0" tIns="0" rIns="0" bIns="0" rtlCol="0" anchor="ctr"/>
          <a:lstStyle/>
          <a:p>
            <a:pPr marL="0" indent="0" algn="ctr">
              <a:buNone/>
            </a:pPr>
            <a:r>
              <a:rPr lang="en-US" sz="3200" b="1" dirty="0">
                <a:solidFill>
                  <a:srgbClr val="1A1A1A"/>
                </a:solidFill>
              </a:rPr>
              <a:t>Experiment 3: Does feedback change developer behaviour?</a:t>
            </a:r>
            <a:endParaRPr lang="en-US" sz="3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00000"/>
                </a:solidFill>
              </a:rPr>
              <a:t>Does dashboard feedback change developer behaviour?</a:t>
            </a:r>
            <a:endParaRPr lang="en-US" sz="2800" dirty="0"/>
          </a:p>
        </p:txBody>
      </p:sp>
      <p:sp>
        <p:nvSpPr>
          <p:cNvPr id="3" name="Text 1"/>
          <p:cNvSpPr/>
          <p:nvPr/>
        </p:nvSpPr>
        <p:spPr>
          <a:xfrm>
            <a:off x="457200" y="1188720"/>
            <a:ext cx="8229600" cy="3291840"/>
          </a:xfrm>
          <a:prstGeom prst="rect">
            <a:avLst/>
          </a:prstGeom>
          <a:noFill/>
          <a:ln/>
        </p:spPr>
        <p:txBody>
          <a:bodyPr wrap="square" rtlCol="0" anchor="t"/>
          <a:lstStyle/>
          <a:p>
            <a:pPr marL="342900" indent="-342900">
              <a:spcAft>
                <a:spcPts val="600"/>
              </a:spcAft>
              <a:buSzPct val="100000"/>
              <a:buChar char="•"/>
            </a:pPr>
            <a:r>
              <a:rPr lang="en-US" sz="1500" b="1" dirty="0">
                <a:solidFill>
                  <a:srgbClr val="000000"/>
                </a:solidFill>
              </a:rPr>
              <a:t>How did we design the study?</a:t>
            </a:r>
            <a:endParaRPr lang="en-US" sz="1500" dirty="0"/>
          </a:p>
          <a:p>
            <a:pPr marL="762000" lvl="1" indent="-381000">
              <a:spcAft>
                <a:spcPts val="600"/>
              </a:spcAft>
              <a:buSzPct val="100000"/>
              <a:buChar char="•"/>
            </a:pPr>
            <a:r>
              <a:rPr lang="en-US" sz="1500" dirty="0">
                <a:solidFill>
                  <a:srgbClr val="000000"/>
                </a:solidFill>
              </a:rPr>
              <a:t>5 MEng Computing participants, 6 sessions each, on an order-processing codebase</a:t>
            </a:r>
            <a:endParaRPr lang="en-US" sz="1500" dirty="0"/>
          </a:p>
          <a:p>
            <a:pPr marL="762000" lvl="1" indent="-381000">
              <a:spcAft>
                <a:spcPts val="1800"/>
              </a:spcAft>
              <a:buSzPct val="100000"/>
              <a:buChar char="•"/>
            </a:pPr>
            <a:r>
              <a:rPr lang="en-US" sz="1500" dirty="0">
                <a:solidFill>
                  <a:srgbClr val="000000"/>
                </a:solidFill>
              </a:rPr>
              <a:t>Randomised into 2 arms </a:t>
            </a:r>
            <a:r>
              <a:rPr lang="en-US" sz="1500" dirty="0">
                <a:solidFill>
                  <a:srgbClr val="888888"/>
                </a:solidFill>
              </a:rPr>
              <a:t>- P1, P2, P3 see dashboard feedback between sessions; P4 and P5 don't. Same playbook, codebase, instrumentation.</a:t>
            </a:r>
            <a:endParaRPr lang="en-US" sz="1500" dirty="0"/>
          </a:p>
          <a:p>
            <a:pPr marL="342900" indent="-342900">
              <a:spcAft>
                <a:spcPts val="600"/>
              </a:spcAft>
              <a:buSzPct val="100000"/>
              <a:buChar char="•"/>
            </a:pPr>
            <a:r>
              <a:rPr lang="en-US" sz="1500" b="1" dirty="0">
                <a:solidFill>
                  <a:srgbClr val="000000"/>
                </a:solidFill>
              </a:rPr>
              <a:t>What did we measure?</a:t>
            </a:r>
            <a:endParaRPr lang="en-US" sz="1500" dirty="0"/>
          </a:p>
          <a:p>
            <a:pPr marL="762000" lvl="1" indent="-381000">
              <a:spcAft>
                <a:spcPts val="600"/>
              </a:spcAft>
              <a:buSzPct val="100000"/>
              <a:buChar char="•"/>
            </a:pPr>
            <a:r>
              <a:rPr lang="en-US" sz="1500" dirty="0">
                <a:solidFill>
                  <a:srgbClr val="000000"/>
                </a:solidFill>
              </a:rPr>
              <a:t>Divergence-point count per session </a:t>
            </a:r>
            <a:r>
              <a:rPr lang="en-US" sz="1500" dirty="0">
                <a:solidFill>
                  <a:srgbClr val="888888"/>
                </a:solidFill>
              </a:rPr>
              <a:t>- does the detector still surface the same kinds of friction over time?</a:t>
            </a:r>
            <a:endParaRPr lang="en-US" sz="1500" dirty="0"/>
          </a:p>
          <a:p>
            <a:pPr marL="762000" lvl="1" indent="-381000">
              <a:spcAft>
                <a:spcPts val="600"/>
              </a:spcAft>
              <a:buSzPct val="100000"/>
              <a:buChar char="•"/>
            </a:pPr>
            <a:r>
              <a:rPr lang="en-US" sz="1500" dirty="0">
                <a:solidFill>
                  <a:srgbClr val="000000"/>
                </a:solidFill>
              </a:rPr>
              <a:t>Process score across the arc</a:t>
            </a:r>
            <a:endParaRPr lang="en-US" sz="1500" dirty="0"/>
          </a:p>
        </p:txBody>
      </p:sp>
      <p:sp>
        <p:nvSpPr>
          <p:cNvPr id="4" name="Text 2"/>
          <p:cNvSpPr/>
          <p:nvPr/>
        </p:nvSpPr>
        <p:spPr>
          <a:xfrm>
            <a:off x="457200" y="4617720"/>
            <a:ext cx="8229600" cy="274320"/>
          </a:xfrm>
          <a:prstGeom prst="rect">
            <a:avLst/>
          </a:prstGeom>
          <a:noFill/>
          <a:ln/>
        </p:spPr>
        <p:txBody>
          <a:bodyPr wrap="square" rtlCol="0" anchor="ctr"/>
          <a:lstStyle/>
          <a:p>
            <a:pPr marL="0" indent="0" algn="ctr">
              <a:buNone/>
            </a:pPr>
            <a:r>
              <a:rPr lang="en-US" sz="1100" i="1" dirty="0">
                <a:solidFill>
                  <a:srgbClr val="888888"/>
                </a:solidFill>
              </a:rPr>
              <a:t>Random assignment, n = 3 vs n = 2. Treated as a directional finding, not a hypothesis test.</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137160"/>
            <a:ext cx="8229600" cy="502920"/>
          </a:xfrm>
          <a:prstGeom prst="rect">
            <a:avLst/>
          </a:prstGeom>
          <a:noFill/>
          <a:ln/>
        </p:spPr>
        <p:txBody>
          <a:bodyPr wrap="square" lIns="0" tIns="0" rIns="0" bIns="0" rtlCol="0" anchor="ctr"/>
          <a:lstStyle/>
          <a:p>
            <a:pPr marL="0" indent="0" algn="ctr">
              <a:buNone/>
            </a:pPr>
            <a:r>
              <a:rPr lang="en-US" sz="2400" b="1" dirty="0">
                <a:solidFill>
                  <a:srgbClr val="000000"/>
                </a:solidFill>
              </a:rPr>
              <a:t>Fewer divergences with feedback - but the raw score is noisy</a:t>
            </a:r>
            <a:endParaRPr lang="en-US" sz="2400" dirty="0"/>
          </a:p>
        </p:txBody>
      </p:sp>
      <p:graphicFrame>
        <p:nvGraphicFramePr>
          <p:cNvPr id="3" name="Chart 0"/>
          <p:cNvGraphicFramePr/>
          <p:nvPr/>
        </p:nvGraphicFramePr>
        <p:xfrm>
          <a:off x="274320" y="868680"/>
          <a:ext cx="4206240" cy="301752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4" name="Chart 1"/>
          <p:cNvGraphicFramePr/>
          <p:nvPr/>
        </p:nvGraphicFramePr>
        <p:xfrm>
          <a:off x="4663440" y="868680"/>
          <a:ext cx="4206240" cy="3017520"/>
        </p:xfrm>
        <a:graphic>
          <a:graphicData uri="http://schemas.openxmlformats.org/drawingml/2006/chart">
            <c:chart xmlns:c="http://schemas.openxmlformats.org/drawingml/2006/chart" xmlns:r="http://schemas.openxmlformats.org/officeDocument/2006/relationships" r:id="rId4"/>
          </a:graphicData>
        </a:graphic>
      </p:graphicFrame>
      <p:sp>
        <p:nvSpPr>
          <p:cNvPr id="5" name="Text 1"/>
          <p:cNvSpPr/>
          <p:nvPr/>
        </p:nvSpPr>
        <p:spPr>
          <a:xfrm>
            <a:off x="457200" y="4069080"/>
            <a:ext cx="8229600" cy="868680"/>
          </a:xfrm>
          <a:prstGeom prst="rect">
            <a:avLst/>
          </a:prstGeom>
          <a:noFill/>
          <a:ln/>
        </p:spPr>
        <p:txBody>
          <a:bodyPr wrap="square" lIns="50800" tIns="50800" rIns="50800" bIns="50800" rtlCol="0" anchor="t"/>
          <a:lstStyle/>
          <a:p>
            <a:pPr marL="0" indent="0" algn="ctr">
              <a:buNone/>
            </a:pPr>
            <a:r>
              <a:rPr lang="en-US" sz="1200" dirty="0">
                <a:solidFill>
                  <a:srgbClr val="000000"/>
                </a:solidFill>
              </a:rPr>
              <a:t>DP rate separates clearly: </a:t>
            </a:r>
            <a:r>
              <a:rPr lang="en-US" sz="1200" b="1" dirty="0">
                <a:solidFill>
                  <a:srgbClr val="0000CD"/>
                </a:solidFill>
              </a:rPr>
              <a:t>2.7</a:t>
            </a:r>
            <a:r>
              <a:rPr lang="en-US" sz="1200" dirty="0">
                <a:solidFill>
                  <a:srgbClr val="000000"/>
                </a:solidFill>
              </a:rPr>
              <a:t> (feedback) vs </a:t>
            </a:r>
            <a:r>
              <a:rPr lang="en-US" sz="1200" b="1" dirty="0">
                <a:solidFill>
                  <a:srgbClr val="B25500"/>
                </a:solidFill>
              </a:rPr>
              <a:t>6.0</a:t>
            </a:r>
            <a:r>
              <a:rPr lang="en-US" sz="1200" dirty="0">
                <a:solidFill>
                  <a:srgbClr val="000000"/>
                </a:solidFill>
              </a:rPr>
              <a:t> DPs per session per participant - 2.2× difference.</a:t>
            </a:r>
            <a:endParaRPr lang="en-US" sz="1200" dirty="0"/>
          </a:p>
          <a:p>
            <a:pPr marL="0" indent="0" algn="ctr">
              <a:buNone/>
            </a:pPr>
            <a:r>
              <a:rPr lang="en-US" sz="1200" dirty="0">
                <a:solidFill>
                  <a:srgbClr val="000000"/>
                </a:solidFill>
              </a:rPr>
              <a:t>But the production-weighted score is dominated by </a:t>
            </a:r>
            <a:r>
              <a:rPr lang="en-US" sz="1200" i="1" dirty="0">
                <a:solidFill>
                  <a:srgbClr val="000000"/>
                </a:solidFill>
              </a:rPr>
              <a:t>task difficulty</a:t>
            </a:r>
            <a:r>
              <a:rPr lang="en-US" sz="1200" dirty="0">
                <a:solidFill>
                  <a:srgbClr val="000000"/>
                </a:solidFill>
              </a:rPr>
              <a:t> - both groups peak at S4 (a short, mechanical task) and dip together at S2/S5. The behavioural signal is buried in the cleanliness gain.</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137160"/>
            <a:ext cx="8229600" cy="502920"/>
          </a:xfrm>
          <a:prstGeom prst="rect">
            <a:avLst/>
          </a:prstGeom>
          <a:noFill/>
          <a:ln/>
        </p:spPr>
        <p:txBody>
          <a:bodyPr wrap="square" lIns="0" tIns="0" rIns="0" bIns="0" rtlCol="0" anchor="ctr"/>
          <a:lstStyle/>
          <a:p>
            <a:pPr marL="0" indent="0" algn="ctr">
              <a:buNone/>
            </a:pPr>
            <a:r>
              <a:rPr lang="en-US" sz="2400" b="1" dirty="0">
                <a:solidFill>
                  <a:srgbClr val="000000"/>
                </a:solidFill>
              </a:rPr>
              <a:t>Strip the task signal - process discipline emerges</a:t>
            </a:r>
            <a:endParaRPr lang="en-US" sz="2400" dirty="0"/>
          </a:p>
        </p:txBody>
      </p:sp>
      <p:graphicFrame>
        <p:nvGraphicFramePr>
          <p:cNvPr id="3" name="Chart 0"/>
          <p:cNvGraphicFramePr/>
          <p:nvPr/>
        </p:nvGraphicFramePr>
        <p:xfrm>
          <a:off x="1554480" y="777240"/>
          <a:ext cx="6035040" cy="310896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 1"/>
          <p:cNvSpPr/>
          <p:nvPr/>
        </p:nvSpPr>
        <p:spPr>
          <a:xfrm>
            <a:off x="457200" y="4069080"/>
            <a:ext cx="8229600" cy="868680"/>
          </a:xfrm>
          <a:prstGeom prst="rect">
            <a:avLst/>
          </a:prstGeom>
          <a:noFill/>
          <a:ln/>
        </p:spPr>
        <p:txBody>
          <a:bodyPr wrap="square" lIns="50800" tIns="50800" rIns="50800" bIns="50800" rtlCol="0" anchor="t"/>
          <a:lstStyle/>
          <a:p>
            <a:pPr marL="0" indent="0" algn="ctr">
              <a:buNone/>
            </a:pPr>
            <a:r>
              <a:rPr lang="en-US" sz="1200" dirty="0">
                <a:solidFill>
                  <a:srgbClr val="000000"/>
                </a:solidFill>
              </a:rPr>
              <a:t>Once cleanliness gain is removed, the score reflects </a:t>
            </a:r>
            <a:r>
              <a:rPr lang="en-US" sz="1200" i="1" dirty="0">
                <a:solidFill>
                  <a:srgbClr val="000000"/>
                </a:solidFill>
              </a:rPr>
              <a:t>how disciplined the process was</a:t>
            </a:r>
            <a:r>
              <a:rPr lang="en-US" sz="1200" dirty="0">
                <a:solidFill>
                  <a:srgbClr val="000000"/>
                </a:solidFill>
              </a:rPr>
              <a:t> - tests run, IDE refactorings used, commits at sensible points. The feedback group climbs </a:t>
            </a:r>
            <a:r>
              <a:rPr lang="en-US" sz="1200" b="1" dirty="0">
                <a:solidFill>
                  <a:srgbClr val="0000CD"/>
                </a:solidFill>
              </a:rPr>
              <a:t>+22.3</a:t>
            </a:r>
            <a:r>
              <a:rPr lang="en-US" sz="1200" dirty="0">
                <a:solidFill>
                  <a:srgbClr val="000000"/>
                </a:solidFill>
              </a:rPr>
              <a:t> across the arc; the baseline group moves </a:t>
            </a:r>
            <a:r>
              <a:rPr lang="en-US" sz="1200" b="1" dirty="0">
                <a:solidFill>
                  <a:srgbClr val="B25500"/>
                </a:solidFill>
              </a:rPr>
              <a:t>−2.0</a:t>
            </a:r>
            <a:r>
              <a:rPr lang="en-US" sz="1200" dirty="0">
                <a:solidFill>
                  <a:srgbClr val="000000"/>
                </a:solidFill>
              </a:rPr>
              <a:t>.</a:t>
            </a:r>
            <a:endParaRPr lang="en-US" sz="1200" dirty="0"/>
          </a:p>
          <a:p>
            <a:pPr marL="0" indent="0" algn="ctr">
              <a:buNone/>
            </a:pPr>
            <a:r>
              <a:rPr lang="en-US" sz="1200" i="1" dirty="0">
                <a:solidFill>
                  <a:srgbClr val="888888"/>
                </a:solidFill>
              </a:rPr>
              <a:t>n = 3 vs n = 2 - directional finding, not a hypothesis test.</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2011680"/>
            <a:ext cx="8229600" cy="1097280"/>
          </a:xfrm>
          <a:prstGeom prst="rect">
            <a:avLst/>
          </a:prstGeom>
          <a:noFill/>
          <a:ln/>
        </p:spPr>
        <p:txBody>
          <a:bodyPr wrap="square" lIns="0" tIns="0" rIns="0" bIns="0" rtlCol="0" anchor="ctr"/>
          <a:lstStyle/>
          <a:p>
            <a:pPr marL="0" indent="0" algn="ctr">
              <a:buNone/>
            </a:pPr>
            <a:r>
              <a:rPr lang="en-US" sz="3600" b="1" dirty="0">
                <a:solidFill>
                  <a:srgbClr val="1A1A1A"/>
                </a:solidFill>
              </a:rPr>
              <a:t>Extension: Agent Traces</a:t>
            </a:r>
            <a:endParaRPr lang="en-US" sz="3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137160"/>
            <a:ext cx="8229600" cy="457200"/>
          </a:xfrm>
          <a:prstGeom prst="rect">
            <a:avLst/>
          </a:prstGeom>
          <a:noFill/>
          <a:ln/>
        </p:spPr>
        <p:txBody>
          <a:bodyPr wrap="square" lIns="0" tIns="0" rIns="0" bIns="0" rtlCol="0" anchor="ctr"/>
          <a:lstStyle/>
          <a:p>
            <a:pPr marL="0" indent="0" algn="ctr">
              <a:buNone/>
            </a:pPr>
            <a:r>
              <a:rPr lang="en-US" sz="2400" b="1" dirty="0">
                <a:solidFill>
                  <a:srgbClr val="000000"/>
                </a:solidFill>
              </a:rPr>
              <a:t>Tool doesn't transfer cleanly to agent traces</a:t>
            </a:r>
            <a:endParaRPr lang="en-US" sz="2400" dirty="0"/>
          </a:p>
        </p:txBody>
      </p:sp>
      <p:sp>
        <p:nvSpPr>
          <p:cNvPr id="3" name="Text 1"/>
          <p:cNvSpPr/>
          <p:nvPr/>
        </p:nvSpPr>
        <p:spPr>
          <a:xfrm>
            <a:off x="457200" y="640080"/>
            <a:ext cx="8229600" cy="274320"/>
          </a:xfrm>
          <a:prstGeom prst="rect">
            <a:avLst/>
          </a:prstGeom>
          <a:noFill/>
          <a:ln/>
        </p:spPr>
        <p:txBody>
          <a:bodyPr wrap="square" rtlCol="0" anchor="ctr"/>
          <a:lstStyle/>
          <a:p>
            <a:pPr marL="0" indent="0" algn="ctr">
              <a:buNone/>
            </a:pPr>
            <a:r>
              <a:rPr lang="en-US" sz="1100" i="1" dirty="0">
                <a:solidFill>
                  <a:srgbClr val="555555"/>
                </a:solidFill>
              </a:rPr>
              <a:t>48 sessions, 8 agents (Claude / GPT / Gemini × Claude Code / OpenCode / Cursor CLI), same playbook as the user study.</a:t>
            </a:r>
            <a:endParaRPr lang="en-US" sz="1100" dirty="0"/>
          </a:p>
        </p:txBody>
      </p:sp>
      <p:graphicFrame>
        <p:nvGraphicFramePr>
          <p:cNvPr id="4" name="Chart 0"/>
          <p:cNvGraphicFramePr/>
          <p:nvPr/>
        </p:nvGraphicFramePr>
        <p:xfrm>
          <a:off x="274320" y="1051560"/>
          <a:ext cx="4206240" cy="269748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663440" y="1051560"/>
          <a:ext cx="4251960" cy="2286000"/>
        </p:xfrm>
        <a:graphic>
          <a:graphicData uri="http://schemas.openxmlformats.org/drawingml/2006/table">
            <a:tbl>
              <a:tblPr/>
              <a:tblGrid>
                <a:gridCol w="1417320">
                  <a:extLst>
                    <a:ext uri="{9D8B030D-6E8A-4147-A177-3AD203B41FA5}">
                      <a16:colId xmlns:a16="http://schemas.microsoft.com/office/drawing/2014/main" val="20000"/>
                    </a:ext>
                  </a:extLst>
                </a:gridCol>
                <a:gridCol w="502920">
                  <a:extLst>
                    <a:ext uri="{9D8B030D-6E8A-4147-A177-3AD203B41FA5}">
                      <a16:colId xmlns:a16="http://schemas.microsoft.com/office/drawing/2014/main" val="20001"/>
                    </a:ext>
                  </a:extLst>
                </a:gridCol>
                <a:gridCol w="2331720">
                  <a:extLst>
                    <a:ext uri="{9D8B030D-6E8A-4147-A177-3AD203B41FA5}">
                      <a16:colId xmlns:a16="http://schemas.microsoft.com/office/drawing/2014/main" val="20002"/>
                    </a:ext>
                  </a:extLst>
                </a:gridCol>
              </a:tblGrid>
              <a:tr h="457200">
                <a:tc>
                  <a:txBody>
                    <a:bodyPr/>
                    <a:lstStyle/>
                    <a:p>
                      <a:pPr marL="0" indent="0" algn="ctr">
                        <a:buNone/>
                      </a:pPr>
                      <a:r>
                        <a:rPr lang="en-US" sz="1000" b="1" dirty="0">
                          <a:solidFill>
                            <a:srgbClr val="000000"/>
                          </a:solidFill>
                          <a:latin typeface="Calibri" pitchFamily="34" charset="0"/>
                          <a:ea typeface="Calibri" pitchFamily="34" charset="-122"/>
                          <a:cs typeface="Calibri" pitchFamily="34" charset="-120"/>
                        </a:rPr>
                        <a:t>Kind</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solidFill>
                      <a:srgbClr val="F0F0F0"/>
                    </a:solidFill>
                  </a:tcPr>
                </a:tc>
                <a:tc>
                  <a:txBody>
                    <a:bodyPr/>
                    <a:lstStyle/>
                    <a:p>
                      <a:pPr marL="0" indent="0" algn="ctr">
                        <a:buNone/>
                      </a:pPr>
                      <a:r>
                        <a:rPr lang="en-US" sz="1000" b="1" dirty="0">
                          <a:solidFill>
                            <a:srgbClr val="000000"/>
                          </a:solidFill>
                          <a:latin typeface="Calibri" pitchFamily="34" charset="0"/>
                          <a:ea typeface="Calibri" pitchFamily="34" charset="-122"/>
                          <a:cs typeface="Calibri" pitchFamily="34" charset="-120"/>
                        </a:rPr>
                        <a:t>DPs</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solidFill>
                      <a:srgbClr val="F0F0F0"/>
                    </a:solidFill>
                  </a:tcPr>
                </a:tc>
                <a:tc>
                  <a:txBody>
                    <a:bodyPr/>
                    <a:lstStyle/>
                    <a:p>
                      <a:pPr marL="0" indent="0" algn="ctr">
                        <a:buNone/>
                      </a:pPr>
                      <a:r>
                        <a:rPr lang="en-US" sz="1000" b="1" dirty="0">
                          <a:solidFill>
                            <a:srgbClr val="000000"/>
                          </a:solidFill>
                          <a:latin typeface="Calibri" pitchFamily="34" charset="0"/>
                          <a:ea typeface="Calibri" pitchFamily="34" charset="-122"/>
                          <a:cs typeface="Calibri" pitchFamily="34" charset="-120"/>
                        </a:rPr>
                        <a:t>Why under-fires</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solidFill>
                      <a:srgbClr val="F0F0F0"/>
                    </a:solidFill>
                  </a:tcPr>
                </a:tc>
                <a:extLst>
                  <a:ext uri="{0D108BD9-81ED-4DB2-BD59-A6C34878D82A}">
                    <a16:rowId xmlns:a16="http://schemas.microsoft.com/office/drawing/2014/main" val="10000"/>
                  </a:ext>
                </a:extLst>
              </a:tr>
              <a:tr h="457200">
                <a:tc>
                  <a:txBody>
                    <a:bodyPr/>
                    <a:lstStyle/>
                    <a:p>
                      <a:pPr marL="0" indent="0" algn="l">
                        <a:buNone/>
                      </a:pPr>
                      <a:r>
                        <a:rPr lang="en-US" sz="1100" b="1" dirty="0">
                          <a:solidFill>
                            <a:srgbClr val="000000"/>
                          </a:solidFill>
                          <a:latin typeface="Calibri" pitchFamily="34" charset="0"/>
                          <a:ea typeface="Calibri" pitchFamily="34" charset="-122"/>
                          <a:cs typeface="Calibri" pitchFamily="34" charset="-120"/>
                        </a:rPr>
                        <a:t>Manual-Refactor</a:t>
                      </a:r>
                      <a:endParaRPr lang="en-US" sz="11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marL="0" indent="0" algn="ctr">
                        <a:buNone/>
                      </a:pPr>
                      <a:r>
                        <a:rPr lang="en-US" sz="1600" b="1" dirty="0">
                          <a:solidFill>
                            <a:srgbClr val="0A7D2A"/>
                          </a:solidFill>
                          <a:latin typeface="Calibri" pitchFamily="34" charset="0"/>
                          <a:ea typeface="Calibri" pitchFamily="34" charset="-122"/>
                          <a:cs typeface="Calibri" pitchFamily="34" charset="-120"/>
                        </a:rPr>
                        <a:t>41</a:t>
                      </a:r>
                      <a:endParaRPr lang="en-US" sz="16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marL="0" indent="0" algn="l">
                        <a:buNone/>
                      </a:pPr>
                      <a:r>
                        <a:rPr lang="en-US" sz="1000" dirty="0">
                          <a:solidFill>
                            <a:srgbClr val="555555"/>
                          </a:solidFill>
                          <a:latin typeface="Calibri" pitchFamily="34" charset="0"/>
                          <a:ea typeface="Calibri" pitchFamily="34" charset="-122"/>
                          <a:cs typeface="Calibri" pitchFamily="34" charset="-120"/>
                        </a:rPr>
                        <a:t>text edits, not IDE menu</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1"/>
                  </a:ext>
                </a:extLst>
              </a:tr>
              <a:tr h="457200">
                <a:tc>
                  <a:txBody>
                    <a:bodyPr/>
                    <a:lstStyle/>
                    <a:p>
                      <a:pPr marL="0" indent="0" algn="l">
                        <a:buNone/>
                      </a:pPr>
                      <a:r>
                        <a:rPr lang="en-US" sz="1100" b="1" dirty="0">
                          <a:solidFill>
                            <a:srgbClr val="000000"/>
                          </a:solidFill>
                          <a:latin typeface="Calibri" pitchFamily="34" charset="0"/>
                          <a:ea typeface="Calibri" pitchFamily="34" charset="-122"/>
                          <a:cs typeface="Calibri" pitchFamily="34" charset="-120"/>
                        </a:rPr>
                        <a:t>Hygiene</a:t>
                      </a:r>
                      <a:endParaRPr lang="en-US" sz="11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marL="0" indent="0" algn="ctr">
                        <a:buNone/>
                      </a:pPr>
                      <a:r>
                        <a:rPr lang="en-US" sz="1400" dirty="0">
                          <a:solidFill>
                            <a:srgbClr val="999999"/>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marL="0" indent="0" algn="l">
                        <a:buNone/>
                      </a:pPr>
                      <a:r>
                        <a:rPr lang="en-US" sz="1000" dirty="0">
                          <a:solidFill>
                            <a:srgbClr val="555555"/>
                          </a:solidFill>
                          <a:latin typeface="Calibri" pitchFamily="34" charset="0"/>
                          <a:ea typeface="Calibri" pitchFamily="34" charset="-122"/>
                          <a:cs typeface="Calibri" pitchFamily="34" charset="-120"/>
                        </a:rPr>
                        <a:t>batched commits don't trip threshold</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2"/>
                  </a:ext>
                </a:extLst>
              </a:tr>
              <a:tr h="457200">
                <a:tc>
                  <a:txBody>
                    <a:bodyPr/>
                    <a:lstStyle/>
                    <a:p>
                      <a:pPr marL="0" indent="0" algn="l">
                        <a:buNone/>
                      </a:pPr>
                      <a:r>
                        <a:rPr lang="en-US" sz="1100" b="1" dirty="0">
                          <a:solidFill>
                            <a:srgbClr val="000000"/>
                          </a:solidFill>
                          <a:latin typeface="Calibri" pitchFamily="34" charset="0"/>
                          <a:ea typeface="Calibri" pitchFamily="34" charset="-122"/>
                          <a:cs typeface="Calibri" pitchFamily="34" charset="-120"/>
                        </a:rPr>
                        <a:t>Rework</a:t>
                      </a:r>
                      <a:endParaRPr lang="en-US" sz="11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marL="0" indent="0" algn="ctr">
                        <a:buNone/>
                      </a:pPr>
                      <a:r>
                        <a:rPr lang="en-US" sz="1400" dirty="0">
                          <a:solidFill>
                            <a:srgbClr val="999999"/>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marL="0" indent="0" algn="l">
                        <a:buNone/>
                      </a:pPr>
                      <a:r>
                        <a:rPr lang="en-US" sz="1000" dirty="0">
                          <a:solidFill>
                            <a:srgbClr val="555555"/>
                          </a:solidFill>
                          <a:latin typeface="Calibri" pitchFamily="34" charset="0"/>
                          <a:ea typeface="Calibri" pitchFamily="34" charset="-122"/>
                          <a:cs typeface="Calibri" pitchFamily="34" charset="-120"/>
                        </a:rPr>
                        <a:t>edit bursts collapse to one</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3"/>
                  </a:ext>
                </a:extLst>
              </a:tr>
              <a:tr h="457200">
                <a:tc>
                  <a:txBody>
                    <a:bodyPr/>
                    <a:lstStyle/>
                    <a:p>
                      <a:pPr marL="0" indent="0" algn="l">
                        <a:buNone/>
                      </a:pPr>
                      <a:r>
                        <a:rPr lang="en-US" sz="1100" b="1" dirty="0">
                          <a:solidFill>
                            <a:srgbClr val="000000"/>
                          </a:solidFill>
                          <a:latin typeface="Calibri" pitchFamily="34" charset="0"/>
                          <a:ea typeface="Calibri" pitchFamily="34" charset="-122"/>
                          <a:cs typeface="Calibri" pitchFamily="34" charset="-120"/>
                        </a:rPr>
                        <a:t>Ordering</a:t>
                      </a:r>
                      <a:endParaRPr lang="en-US" sz="11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marL="0" indent="0" algn="ctr">
                        <a:buNone/>
                      </a:pPr>
                      <a:r>
                        <a:rPr lang="en-US" sz="1400" dirty="0">
                          <a:solidFill>
                            <a:srgbClr val="999999"/>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marL="0" indent="0" algn="l">
                        <a:buNone/>
                      </a:pPr>
                      <a:r>
                        <a:rPr lang="en-US" sz="1000" dirty="0">
                          <a:solidFill>
                            <a:srgbClr val="555555"/>
                          </a:solidFill>
                          <a:latin typeface="Calibri" pitchFamily="34" charset="0"/>
                          <a:ea typeface="Calibri" pitchFamily="34" charset="-122"/>
                          <a:cs typeface="Calibri" pitchFamily="34" charset="-120"/>
                        </a:rPr>
                        <a:t>same burst-collapse</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4"/>
                  </a:ext>
                </a:extLst>
              </a:tr>
            </a:tbl>
          </a:graphicData>
        </a:graphic>
      </p:graphicFrame>
      <p:sp>
        <p:nvSpPr>
          <p:cNvPr id="6" name="Text 2"/>
          <p:cNvSpPr/>
          <p:nvPr/>
        </p:nvSpPr>
        <p:spPr>
          <a:xfrm>
            <a:off x="457200" y="3931920"/>
            <a:ext cx="8229600" cy="1097280"/>
          </a:xfrm>
          <a:prstGeom prst="rect">
            <a:avLst/>
          </a:prstGeom>
          <a:noFill/>
          <a:ln/>
        </p:spPr>
        <p:txBody>
          <a:bodyPr wrap="square" lIns="50800" tIns="50800" rIns="50800" bIns="50800" rtlCol="0" anchor="t"/>
          <a:lstStyle/>
          <a:p>
            <a:pPr marL="0" indent="0" algn="ctr">
              <a:buNone/>
            </a:pPr>
            <a:r>
              <a:rPr lang="en-US" sz="1200" b="1" dirty="0">
                <a:solidFill>
                  <a:srgbClr val="000000"/>
                </a:solidFill>
              </a:rPr>
              <a:t>Score is blind to the difference: </a:t>
            </a:r>
            <a:r>
              <a:rPr lang="en-US" sz="1200" dirty="0">
                <a:solidFill>
                  <a:srgbClr val="000000"/>
                </a:solidFill>
              </a:rPr>
              <a:t>feedback ΔJ </a:t>
            </a:r>
            <a:r>
              <a:rPr lang="en-US" sz="1200" b="1" dirty="0">
                <a:solidFill>
                  <a:srgbClr val="0000CD"/>
                </a:solidFill>
              </a:rPr>
              <a:t>+3.0</a:t>
            </a:r>
            <a:r>
              <a:rPr lang="en-US" sz="1200" dirty="0">
                <a:solidFill>
                  <a:srgbClr val="000000"/>
                </a:solidFill>
              </a:rPr>
              <a:t> vs baseline </a:t>
            </a:r>
            <a:r>
              <a:rPr lang="en-US" sz="1200" b="1" dirty="0">
                <a:solidFill>
                  <a:srgbClr val="B25500"/>
                </a:solidFill>
              </a:rPr>
              <a:t>+6.5</a:t>
            </a:r>
            <a:r>
              <a:rPr lang="en-US" sz="1200" dirty="0">
                <a:solidFill>
                  <a:srgbClr val="000000"/>
                </a:solidFill>
              </a:rPr>
              <a:t>. Yet 5 of 6 agents wrote explicit "I'll do X next session" plans citing prior warnings - the detectors just can't see those changes happen.</a:t>
            </a:r>
            <a:endParaRPr lang="en-US" sz="1200" dirty="0"/>
          </a:p>
          <a:p>
            <a:pPr marL="0" indent="0" algn="ctr">
              <a:buNone/>
            </a:pPr>
            <a:r>
              <a:rPr lang="en-US" sz="1200" i="1" dirty="0">
                <a:solidFill>
                  <a:srgbClr val="888888"/>
                </a:solidFill>
              </a:rPr>
              <a:t>Scope limit by design - adapting detectors for agent traces is future work.</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00000"/>
                </a:solidFill>
              </a:rPr>
              <a:t>Conclusion</a:t>
            </a:r>
            <a:endParaRPr lang="en-US" sz="2800" dirty="0"/>
          </a:p>
        </p:txBody>
      </p:sp>
      <p:sp>
        <p:nvSpPr>
          <p:cNvPr id="3" name="Text 1"/>
          <p:cNvSpPr/>
          <p:nvPr/>
        </p:nvSpPr>
        <p:spPr>
          <a:xfrm>
            <a:off x="457200" y="1005840"/>
            <a:ext cx="8229600" cy="777240"/>
          </a:xfrm>
          <a:prstGeom prst="rect">
            <a:avLst/>
          </a:prstGeom>
          <a:noFill/>
          <a:ln/>
        </p:spPr>
        <p:txBody>
          <a:bodyPr wrap="square" rtlCol="0" anchor="ctr"/>
          <a:lstStyle/>
          <a:p>
            <a:pPr marL="0" indent="0" algn="ctr">
              <a:buNone/>
            </a:pPr>
            <a:r>
              <a:rPr lang="en-US" sz="1500" i="1" dirty="0">
                <a:solidFill>
                  <a:srgbClr val="0000CD"/>
                </a:solidFill>
              </a:rPr>
              <a:t>Process-aware refactoring evaluation is tractable, and a small randomised study gives directional evidence that feedback improves measured process discipline.</a:t>
            </a:r>
            <a:endParaRPr lang="en-US" sz="1500" dirty="0"/>
          </a:p>
        </p:txBody>
      </p:sp>
      <p:sp>
        <p:nvSpPr>
          <p:cNvPr id="4" name="Text 2"/>
          <p:cNvSpPr/>
          <p:nvPr/>
        </p:nvSpPr>
        <p:spPr>
          <a:xfrm>
            <a:off x="457200" y="1920240"/>
            <a:ext cx="8229600" cy="2651760"/>
          </a:xfrm>
          <a:prstGeom prst="rect">
            <a:avLst/>
          </a:prstGeom>
          <a:noFill/>
          <a:ln/>
        </p:spPr>
        <p:txBody>
          <a:bodyPr wrap="square" rtlCol="0" anchor="t"/>
          <a:lstStyle/>
          <a:p>
            <a:pPr marL="342900" indent="-342900">
              <a:spcAft>
                <a:spcPts val="600"/>
              </a:spcAft>
              <a:buSzPct val="100000"/>
              <a:buChar char="•"/>
            </a:pPr>
            <a:r>
              <a:rPr lang="en-US" sz="1600" dirty="0">
                <a:solidFill>
                  <a:srgbClr val="000000"/>
                </a:solidFill>
              </a:rPr>
              <a:t>A process-quality metric on </a:t>
            </a:r>
            <a:r>
              <a:rPr lang="en-US" sz="1600" i="1" dirty="0">
                <a:solidFill>
                  <a:srgbClr val="000000"/>
                </a:solidFill>
              </a:rPr>
              <a:t>arbitrary sessions</a:t>
            </a:r>
            <a:r>
              <a:rPr lang="en-US" sz="1600" dirty="0">
                <a:solidFill>
                  <a:srgbClr val="000000"/>
                </a:solidFill>
              </a:rPr>
              <a:t> combining endpoint, process, and safety signals in one principled score.</a:t>
            </a:r>
            <a:endParaRPr lang="en-US" sz="1600" dirty="0"/>
          </a:p>
          <a:p>
            <a:pPr marL="342900" indent="-342900">
              <a:spcAft>
                <a:spcPts val="600"/>
              </a:spcAft>
              <a:buSzPct val="100000"/>
              <a:buChar char="•"/>
            </a:pPr>
            <a:r>
              <a:rPr lang="en-US" sz="1600" dirty="0">
                <a:solidFill>
                  <a:srgbClr val="000000"/>
                </a:solidFill>
              </a:rPr>
              <a:t>A divergence-point detector with four actionable kinds, each with a per-kind synthesiser that constructs a concrete alternative trajectory.</a:t>
            </a:r>
            <a:endParaRPr lang="en-US" sz="1600" dirty="0"/>
          </a:p>
          <a:p>
            <a:pPr marL="342900" indent="-342900">
              <a:spcAft>
                <a:spcPts val="600"/>
              </a:spcAft>
              <a:buSzPct val="100000"/>
              <a:buChar char="•"/>
            </a:pPr>
            <a:r>
              <a:rPr lang="en-US" sz="1600" dirty="0">
                <a:solidFill>
                  <a:srgbClr val="000000"/>
                </a:solidFill>
              </a:rPr>
              <a:t>Three datasets -45 injection sessions, 30-session user study, 48-session agent extension - with reproducible analysis (Jupyter notebook reproduces every table and figure).</a:t>
            </a:r>
            <a:endParaRPr lang="en-US" sz="1600" dirty="0"/>
          </a:p>
          <a:p>
            <a:pPr marL="342900" indent="-342900">
              <a:spcAft>
                <a:spcPts val="600"/>
              </a:spcAft>
              <a:buSzPct val="100000"/>
              <a:buChar char="•"/>
            </a:pPr>
            <a:r>
              <a:rPr lang="en-US" sz="1600" dirty="0">
                <a:solidFill>
                  <a:srgbClr val="000000"/>
                </a:solidFill>
              </a:rPr>
              <a:t>A working end-to-end research prototype: IntelliJ plugin, analysis backend, and dashboard.</a:t>
            </a:r>
            <a:endParaRPr lang="en-US" sz="1600" dirty="0"/>
          </a:p>
        </p:txBody>
      </p:sp>
      <p:sp>
        <p:nvSpPr>
          <p:cNvPr id="5" name="Text 3"/>
          <p:cNvSpPr/>
          <p:nvPr/>
        </p:nvSpPr>
        <p:spPr>
          <a:xfrm>
            <a:off x="457200" y="4617720"/>
            <a:ext cx="8229600" cy="457200"/>
          </a:xfrm>
          <a:prstGeom prst="rect">
            <a:avLst/>
          </a:prstGeom>
          <a:noFill/>
          <a:ln/>
        </p:spPr>
        <p:txBody>
          <a:bodyPr wrap="square" lIns="0" tIns="0" rIns="0" bIns="0" rtlCol="0" anchor="ctr"/>
          <a:lstStyle/>
          <a:p>
            <a:pPr marL="0" indent="0" algn="ctr">
              <a:buNone/>
            </a:pPr>
            <a:r>
              <a:rPr lang="en-US" sz="1100" b="1" i="1" dirty="0">
                <a:solidFill>
                  <a:srgbClr val="888888"/>
                </a:solidFill>
              </a:rPr>
              <a:t>Not yet established: </a:t>
            </a:r>
            <a:r>
              <a:rPr lang="en-US" sz="1100" i="1" dirty="0">
                <a:solidFill>
                  <a:srgbClr val="888888"/>
                </a:solidFill>
              </a:rPr>
              <a:t>externally calibrated measure of refactoring quality, statistically conclusive behavioural effect, or generalisation beyond Java / IntelliJ / human traces.</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2327</Words>
  <Application>Microsoft Macintosh PowerPoint</Application>
  <PresentationFormat>On-screen Show (16:9)</PresentationFormat>
  <Paragraphs>333</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Beyond Before-and-After: Process-Quality Evaluation of Refactoring Sessions</dc:title>
  <dc:subject>PptxGenJS Presentation</dc:subject>
  <dc:creator>Ethan Hosier</dc:creator>
  <cp:lastModifiedBy>Hosier, Ethan</cp:lastModifiedBy>
  <cp:revision>1</cp:revision>
  <dcterms:created xsi:type="dcterms:W3CDTF">2026-06-21T18:02:16Z</dcterms:created>
  <dcterms:modified xsi:type="dcterms:W3CDTF">2026-06-21T18:03:21Z</dcterms:modified>
</cp:coreProperties>
</file>