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1.xml" ContentType="application/vnd.openxmlformats-officedocument.drawingml.chart+xml"/>
  <Override PartName="/ppt/notesSlides/notesSlide27.xml" ContentType="application/vnd.openxmlformats-officedocument.presentationml.notesSlide+xml"/>
  <Override PartName="/ppt/charts/chart2.xml" ContentType="application/vnd.openxmlformats-officedocument.drawingml.chart+xml"/>
  <Override PartName="/ppt/notesSlides/notesSlide28.xml" ContentType="application/vnd.openxmlformats-officedocument.presentationml.notesSlide+xml"/>
  <Override PartName="/ppt/charts/chart3.xml" ContentType="application/vnd.openxmlformats-officedocument.drawingml.chart+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4" d="100"/>
          <a:sy n="104" d="100"/>
        </p:scale>
        <p:origin x="192" y="19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a:t>
            </a:r>
          </a:p>
        </c:rich>
      </c:tx>
      <c:overlay val="0"/>
    </c:title>
    <c:autoTitleDeleted val="0"/>
    <c:plotArea>
      <c:layout/>
      <c:lineChart>
        <c:grouping val="standard"/>
        <c:varyColors val="0"/>
        <c:ser>
          <c:idx val="0"/>
          <c:order val="0"/>
          <c:tx>
            <c:strRef>
              <c:f>Sheet1!$B$1</c:f>
              <c:strCache>
                <c:ptCount val="1"/>
                <c:pt idx="0">
                  <c:v>Feedback mean</c:v>
                </c:pt>
              </c:strCache>
            </c:strRef>
          </c:tx>
          <c:spPr>
            <a:ln w="31750" cap="flat">
              <a:solidFill>
                <a:srgbClr val="0000CD"/>
              </a:solidFill>
              <a:prstDash val="solid"/>
              <a:round/>
            </a:ln>
            <a:effectLst/>
          </c:spPr>
          <c:marker>
            <c:symbol val="circle"/>
            <c:size val="6"/>
            <c:spPr>
              <a:solidFill>
                <a:srgbClr val="0000CD"/>
              </a:solidFill>
              <a:ln w="9525" cap="flat">
                <a:solidFill>
                  <a:srgbClr val="0000CD"/>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Sheet1!$B$2:$B$7</c:f>
              <c:numCache>
                <c:formatCode>General</c:formatCode>
                <c:ptCount val="6"/>
                <c:pt idx="0">
                  <c:v>13.7</c:v>
                </c:pt>
                <c:pt idx="1">
                  <c:v>66.7</c:v>
                </c:pt>
                <c:pt idx="2">
                  <c:v>33</c:v>
                </c:pt>
                <c:pt idx="3">
                  <c:v>89.7</c:v>
                </c:pt>
                <c:pt idx="4">
                  <c:v>32</c:v>
                </c:pt>
                <c:pt idx="5">
                  <c:v>48.3</c:v>
                </c:pt>
              </c:numCache>
            </c:numRef>
          </c:val>
          <c:smooth val="0"/>
          <c:extLst>
            <c:ext xmlns:c16="http://schemas.microsoft.com/office/drawing/2014/chart" uri="{C3380CC4-5D6E-409C-BE32-E72D297353CC}">
              <c16:uniqueId val="{00000000-A846-1243-9AA5-F52B16F17AF4}"/>
            </c:ext>
          </c:extLst>
        </c:ser>
        <c:ser>
          <c:idx val="1"/>
          <c:order val="1"/>
          <c:tx>
            <c:strRef>
              <c:f>Sheet1!$C$1</c:f>
              <c:strCache>
                <c:ptCount val="1"/>
                <c:pt idx="0">
                  <c:v>Baseline mean</c:v>
                </c:pt>
              </c:strCache>
            </c:strRef>
          </c:tx>
          <c:spPr>
            <a:ln w="31750" cap="flat">
              <a:solidFill>
                <a:srgbClr val="B25500"/>
              </a:solidFill>
              <a:prstDash val="solid"/>
              <a:round/>
            </a:ln>
            <a:effectLst/>
          </c:spPr>
          <c:marker>
            <c:symbol val="circle"/>
            <c:size val="6"/>
            <c:spPr>
              <a:solidFill>
                <a:srgbClr val="B25500"/>
              </a:solidFill>
              <a:ln w="9525" cap="flat">
                <a:solidFill>
                  <a:srgbClr val="B25500"/>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Sheet1!$C$2:$C$7</c:f>
              <c:numCache>
                <c:formatCode>General</c:formatCode>
                <c:ptCount val="6"/>
                <c:pt idx="0">
                  <c:v>11.5</c:v>
                </c:pt>
                <c:pt idx="1">
                  <c:v>20</c:v>
                </c:pt>
                <c:pt idx="2">
                  <c:v>15.5</c:v>
                </c:pt>
                <c:pt idx="3">
                  <c:v>76.5</c:v>
                </c:pt>
                <c:pt idx="4">
                  <c:v>44.5</c:v>
                </c:pt>
                <c:pt idx="5">
                  <c:v>27</c:v>
                </c:pt>
              </c:numCache>
            </c:numRef>
          </c:val>
          <c:smooth val="0"/>
          <c:extLst>
            <c:ext xmlns:c16="http://schemas.microsoft.com/office/drawing/2014/chart" uri="{C3380CC4-5D6E-409C-BE32-E72D297353CC}">
              <c16:uniqueId val="{00000001-A846-1243-9AA5-F52B16F17AF4}"/>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lineChart>
        <c:grouping val="standard"/>
        <c:varyColors val="0"/>
        <c:ser>
          <c:idx val="0"/>
          <c:order val="0"/>
          <c:tx>
            <c:strRef>
              <c:f>Sheet1!$B$1</c:f>
              <c:strCache>
                <c:ptCount val="1"/>
                <c:pt idx="0">
                  <c:v>Feedback mean</c:v>
                </c:pt>
              </c:strCache>
            </c:strRef>
          </c:tx>
          <c:spPr>
            <a:ln w="38100" cap="flat">
              <a:solidFill>
                <a:srgbClr val="0000CD"/>
              </a:solidFill>
              <a:prstDash val="solid"/>
              <a:round/>
            </a:ln>
            <a:effectLst/>
          </c:spPr>
          <c:marker>
            <c:symbol val="circle"/>
            <c:size val="7"/>
            <c:spPr>
              <a:solidFill>
                <a:srgbClr val="0000CD"/>
              </a:solidFill>
              <a:ln w="9525" cap="flat">
                <a:solidFill>
                  <a:srgbClr val="0000CD"/>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Sheet1!$B$2:$B$7</c:f>
              <c:numCache>
                <c:formatCode>General</c:formatCode>
                <c:ptCount val="6"/>
                <c:pt idx="0">
                  <c:v>26.7</c:v>
                </c:pt>
                <c:pt idx="1">
                  <c:v>22</c:v>
                </c:pt>
                <c:pt idx="2">
                  <c:v>38.700000000000003</c:v>
                </c:pt>
                <c:pt idx="3">
                  <c:v>47.7</c:v>
                </c:pt>
                <c:pt idx="4">
                  <c:v>36.700000000000003</c:v>
                </c:pt>
                <c:pt idx="5">
                  <c:v>49</c:v>
                </c:pt>
              </c:numCache>
            </c:numRef>
          </c:val>
          <c:smooth val="0"/>
          <c:extLst>
            <c:ext xmlns:c16="http://schemas.microsoft.com/office/drawing/2014/chart" uri="{C3380CC4-5D6E-409C-BE32-E72D297353CC}">
              <c16:uniqueId val="{00000000-AF72-2D45-9A60-988E414B1165}"/>
            </c:ext>
          </c:extLst>
        </c:ser>
        <c:ser>
          <c:idx val="1"/>
          <c:order val="1"/>
          <c:tx>
            <c:strRef>
              <c:f>Sheet1!$C$1</c:f>
              <c:strCache>
                <c:ptCount val="1"/>
                <c:pt idx="0">
                  <c:v>Baseline mean</c:v>
                </c:pt>
              </c:strCache>
            </c:strRef>
          </c:tx>
          <c:spPr>
            <a:ln w="38100" cap="flat">
              <a:solidFill>
                <a:srgbClr val="B25500"/>
              </a:solidFill>
              <a:prstDash val="solid"/>
              <a:round/>
            </a:ln>
            <a:effectLst/>
          </c:spPr>
          <c:marker>
            <c:symbol val="circle"/>
            <c:size val="7"/>
            <c:spPr>
              <a:solidFill>
                <a:srgbClr val="B25500"/>
              </a:solidFill>
              <a:ln w="9525" cap="flat">
                <a:solidFill>
                  <a:srgbClr val="B25500"/>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Sheet1!$C$2:$C$7</c:f>
              <c:numCache>
                <c:formatCode>General</c:formatCode>
                <c:ptCount val="6"/>
                <c:pt idx="0">
                  <c:v>22.5</c:v>
                </c:pt>
                <c:pt idx="1">
                  <c:v>17.5</c:v>
                </c:pt>
                <c:pt idx="2">
                  <c:v>11</c:v>
                </c:pt>
                <c:pt idx="3">
                  <c:v>39</c:v>
                </c:pt>
                <c:pt idx="4">
                  <c:v>16.5</c:v>
                </c:pt>
                <c:pt idx="5">
                  <c:v>20.5</c:v>
                </c:pt>
              </c:numCache>
            </c:numRef>
          </c:val>
          <c:smooth val="0"/>
          <c:extLst>
            <c:ext xmlns:c16="http://schemas.microsoft.com/office/drawing/2014/chart" uri="{C3380CC4-5D6E-409C-BE32-E72D297353CC}">
              <c16:uniqueId val="{00000001-AF72-2D45-9A60-988E414B116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overlay val="0"/>
    </c:title>
    <c:autoTitleDeleted val="0"/>
    <c:plotArea>
      <c:layout/>
      <c:lineChart>
        <c:grouping val="standard"/>
        <c:varyColors val="0"/>
        <c:ser>
          <c:idx val="0"/>
          <c:order val="0"/>
          <c:tx>
            <c:strRef>
              <c:f>Sheet1!$B$1</c:f>
              <c:strCache>
                <c:ptCount val="1"/>
                <c:pt idx="0">
                  <c:v>Feedback mean (n=6)</c:v>
                </c:pt>
              </c:strCache>
            </c:strRef>
          </c:tx>
          <c:spPr>
            <a:ln w="31750" cap="flat">
              <a:solidFill>
                <a:srgbClr val="0000CD"/>
              </a:solidFill>
              <a:prstDash val="solid"/>
              <a:round/>
            </a:ln>
            <a:effectLst/>
          </c:spPr>
          <c:marker>
            <c:symbol val="circle"/>
            <c:size val="6"/>
            <c:spPr>
              <a:solidFill>
                <a:srgbClr val="0000CD"/>
              </a:solidFill>
              <a:ln w="9525" cap="flat">
                <a:solidFill>
                  <a:srgbClr val="0000CD"/>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Sheet1!$B$2:$B$7</c:f>
              <c:numCache>
                <c:formatCode>General</c:formatCode>
                <c:ptCount val="6"/>
                <c:pt idx="0">
                  <c:v>36.700000000000003</c:v>
                </c:pt>
                <c:pt idx="1">
                  <c:v>40</c:v>
                </c:pt>
                <c:pt idx="2">
                  <c:v>40</c:v>
                </c:pt>
                <c:pt idx="3">
                  <c:v>50</c:v>
                </c:pt>
                <c:pt idx="4">
                  <c:v>42</c:v>
                </c:pt>
                <c:pt idx="5">
                  <c:v>39.700000000000003</c:v>
                </c:pt>
              </c:numCache>
            </c:numRef>
          </c:val>
          <c:smooth val="0"/>
          <c:extLst>
            <c:ext xmlns:c16="http://schemas.microsoft.com/office/drawing/2014/chart" uri="{C3380CC4-5D6E-409C-BE32-E72D297353CC}">
              <c16:uniqueId val="{00000000-42A0-1C45-89B0-C7D4E099ED44}"/>
            </c:ext>
          </c:extLst>
        </c:ser>
        <c:ser>
          <c:idx val="1"/>
          <c:order val="1"/>
          <c:tx>
            <c:strRef>
              <c:f>Sheet1!$C$1</c:f>
              <c:strCache>
                <c:ptCount val="1"/>
                <c:pt idx="0">
                  <c:v>Baseline mean (n=2)</c:v>
                </c:pt>
              </c:strCache>
            </c:strRef>
          </c:tx>
          <c:spPr>
            <a:ln w="31750" cap="flat">
              <a:solidFill>
                <a:srgbClr val="B25500"/>
              </a:solidFill>
              <a:prstDash val="solid"/>
              <a:round/>
            </a:ln>
            <a:effectLst/>
          </c:spPr>
          <c:marker>
            <c:symbol val="circle"/>
            <c:size val="6"/>
            <c:spPr>
              <a:solidFill>
                <a:srgbClr val="B25500"/>
              </a:solidFill>
              <a:ln w="9525" cap="flat">
                <a:solidFill>
                  <a:srgbClr val="B25500"/>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Sheet1!$C$2:$C$7</c:f>
              <c:numCache>
                <c:formatCode>General</c:formatCode>
                <c:ptCount val="6"/>
                <c:pt idx="0">
                  <c:v>34.5</c:v>
                </c:pt>
                <c:pt idx="1">
                  <c:v>40</c:v>
                </c:pt>
                <c:pt idx="2">
                  <c:v>40</c:v>
                </c:pt>
                <c:pt idx="3">
                  <c:v>50</c:v>
                </c:pt>
                <c:pt idx="4">
                  <c:v>42</c:v>
                </c:pt>
                <c:pt idx="5">
                  <c:v>41</c:v>
                </c:pt>
              </c:numCache>
            </c:numRef>
          </c:val>
          <c:smooth val="0"/>
          <c:extLst>
            <c:ext xmlns:c16="http://schemas.microsoft.com/office/drawing/2014/chart" uri="{C3380CC4-5D6E-409C-BE32-E72D297353CC}">
              <c16:uniqueId val="{00000001-42A0-1C45-89B0-C7D4E099ED44}"/>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26655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AFAFA"/>
        </a:solidFill>
        <a:effectLst/>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000CD"/>
          </a:solidFill>
          <a:ln/>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ages/Imperial_College_London_new_logo.png"/>
          <p:cNvPicPr>
            <a:picLocks noChangeAspect="1"/>
          </p:cNvPicPr>
          <p:nvPr/>
        </p:nvPicPr>
        <p:blipFill>
          <a:blip r:embed="rId3"/>
          <a:stretch>
            <a:fillRect/>
          </a:stretch>
        </p:blipFill>
        <p:spPr>
          <a:xfrm>
            <a:off x="365760" y="274320"/>
            <a:ext cx="1645920" cy="181051"/>
          </a:xfrm>
          <a:prstGeom prst="rect">
            <a:avLst/>
          </a:prstGeom>
        </p:spPr>
      </p:pic>
      <p:sp>
        <p:nvSpPr>
          <p:cNvPr id="3" name="Text 0"/>
          <p:cNvSpPr/>
          <p:nvPr/>
        </p:nvSpPr>
        <p:spPr>
          <a:xfrm>
            <a:off x="457200" y="1234440"/>
            <a:ext cx="8229600" cy="365760"/>
          </a:xfrm>
          <a:prstGeom prst="rect">
            <a:avLst/>
          </a:prstGeom>
          <a:noFill/>
          <a:ln/>
        </p:spPr>
        <p:txBody>
          <a:bodyPr wrap="square" lIns="0" tIns="0" rIns="0" bIns="0" rtlCol="0" anchor="ctr"/>
          <a:lstStyle/>
          <a:p>
            <a:pPr marL="0" indent="0" algn="ctr">
              <a:buNone/>
            </a:pPr>
            <a:r>
              <a:rPr lang="en-US" sz="1800" i="1" dirty="0">
                <a:solidFill>
                  <a:srgbClr val="555555"/>
                </a:solidFill>
              </a:rPr>
              <a:t>Beyond Before-and-After:</a:t>
            </a:r>
            <a:endParaRPr lang="en-US" sz="1800" dirty="0"/>
          </a:p>
        </p:txBody>
      </p:sp>
      <p:sp>
        <p:nvSpPr>
          <p:cNvPr id="4" name="Text 1"/>
          <p:cNvSpPr/>
          <p:nvPr/>
        </p:nvSpPr>
        <p:spPr>
          <a:xfrm>
            <a:off x="457200" y="1783080"/>
            <a:ext cx="8229600" cy="822960"/>
          </a:xfrm>
          <a:prstGeom prst="rect">
            <a:avLst/>
          </a:prstGeom>
          <a:noFill/>
          <a:ln/>
        </p:spPr>
        <p:txBody>
          <a:bodyPr wrap="square" lIns="0" tIns="0" rIns="0" bIns="0" rtlCol="0" anchor="ctr"/>
          <a:lstStyle/>
          <a:p>
            <a:pPr marL="0" indent="0" algn="ctr">
              <a:buNone/>
            </a:pPr>
            <a:r>
              <a:rPr lang="en-US" sz="3200" b="1" dirty="0">
                <a:solidFill>
                  <a:srgbClr val="000000"/>
                </a:solidFill>
              </a:rPr>
              <a:t>Process-Quality Evaluation of Refactoring Sessions</a:t>
            </a:r>
            <a:endParaRPr lang="en-US" sz="3200" dirty="0"/>
          </a:p>
        </p:txBody>
      </p:sp>
      <p:sp>
        <p:nvSpPr>
          <p:cNvPr id="5" name="Text 2"/>
          <p:cNvSpPr/>
          <p:nvPr/>
        </p:nvSpPr>
        <p:spPr>
          <a:xfrm>
            <a:off x="457200" y="2788920"/>
            <a:ext cx="8229600" cy="822960"/>
          </a:xfrm>
          <a:prstGeom prst="rect">
            <a:avLst/>
          </a:prstGeom>
          <a:noFill/>
          <a:ln/>
        </p:spPr>
        <p:txBody>
          <a:bodyPr wrap="square" rtlCol="0" anchor="ctr"/>
          <a:lstStyle/>
          <a:p>
            <a:pPr marL="0" indent="0" algn="ctr">
              <a:buNone/>
            </a:pPr>
            <a:r>
              <a:rPr lang="en-US" sz="1800" i="1" dirty="0">
                <a:solidFill>
                  <a:srgbClr val="555555"/>
                </a:solidFill>
              </a:rPr>
              <a:t>Scoring the path a developer takes through a refactoring session, and generating reference trajectories where a better path existed.</a:t>
            </a:r>
            <a:endParaRPr lang="en-US" sz="1800" dirty="0"/>
          </a:p>
        </p:txBody>
      </p:sp>
      <p:sp>
        <p:nvSpPr>
          <p:cNvPr id="6" name="Text 3"/>
          <p:cNvSpPr/>
          <p:nvPr/>
        </p:nvSpPr>
        <p:spPr>
          <a:xfrm>
            <a:off x="457200" y="4023360"/>
            <a:ext cx="8229600" cy="365760"/>
          </a:xfrm>
          <a:prstGeom prst="rect">
            <a:avLst/>
          </a:prstGeom>
          <a:noFill/>
          <a:ln/>
        </p:spPr>
        <p:txBody>
          <a:bodyPr wrap="square" rtlCol="0" anchor="ctr"/>
          <a:lstStyle/>
          <a:p>
            <a:pPr marL="0" indent="0" algn="ctr">
              <a:buNone/>
            </a:pPr>
            <a:r>
              <a:rPr lang="en-US" sz="1400" dirty="0">
                <a:solidFill>
                  <a:srgbClr val="777777"/>
                </a:solidFill>
              </a:rPr>
              <a:t>Ethan Hosier  ·  Imperial College London  ·  Department of Computing</a:t>
            </a:r>
            <a:endParaRPr lang="en-US" sz="1400" dirty="0"/>
          </a:p>
        </p:txBody>
      </p:sp>
      <p:sp>
        <p:nvSpPr>
          <p:cNvPr id="7" name="Text 4"/>
          <p:cNvSpPr/>
          <p:nvPr/>
        </p:nvSpPr>
        <p:spPr>
          <a:xfrm>
            <a:off x="457200" y="4389120"/>
            <a:ext cx="8229600" cy="365760"/>
          </a:xfrm>
          <a:prstGeom prst="rect">
            <a:avLst/>
          </a:prstGeom>
          <a:noFill/>
          <a:ln/>
        </p:spPr>
        <p:txBody>
          <a:bodyPr wrap="square" rtlCol="0" anchor="ctr"/>
          <a:lstStyle/>
          <a:p>
            <a:pPr marL="0" indent="0" algn="ctr">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411480"/>
          </a:xfrm>
          <a:prstGeom prst="rect">
            <a:avLst/>
          </a:prstGeom>
          <a:noFill/>
          <a:ln/>
        </p:spPr>
        <p:txBody>
          <a:bodyPr wrap="square" lIns="0" tIns="0" rIns="0" bIns="0" rtlCol="0" anchor="ctr"/>
          <a:lstStyle/>
          <a:p>
            <a:pPr marL="0" indent="0" algn="ctr">
              <a:buNone/>
            </a:pPr>
            <a:r>
              <a:rPr lang="en-US" sz="1600" i="1" dirty="0">
                <a:solidFill>
                  <a:srgbClr val="555555"/>
                </a:solidFill>
              </a:rPr>
              <a:t>Two developers refactor the same code </a:t>
            </a:r>
            <a:r>
              <a:rPr lang="en-US" sz="1600" b="1" i="1" dirty="0">
                <a:solidFill>
                  <a:srgbClr val="555555"/>
                </a:solidFill>
              </a:rPr>
              <a:t>and arrive at the same final state</a:t>
            </a:r>
            <a:r>
              <a:rPr lang="en-US" sz="1600" i="1" dirty="0">
                <a:solidFill>
                  <a:srgbClr val="555555"/>
                </a:solidFill>
              </a:rPr>
              <a:t>.</a:t>
            </a:r>
            <a:endParaRPr lang="en-US" sz="1600" dirty="0"/>
          </a:p>
        </p:txBody>
      </p:sp>
      <p:sp>
        <p:nvSpPr>
          <p:cNvPr id="4" name="Shape 2"/>
          <p:cNvSpPr/>
          <p:nvPr/>
        </p:nvSpPr>
        <p:spPr>
          <a:xfrm>
            <a:off x="548640" y="1691640"/>
            <a:ext cx="3840480" cy="1874520"/>
          </a:xfrm>
          <a:prstGeom prst="roundRect">
            <a:avLst>
              <a:gd name="adj" fmla="val 4878"/>
            </a:avLst>
          </a:prstGeom>
          <a:solidFill>
            <a:srgbClr val="EBF7F0"/>
          </a:solidFill>
          <a:ln w="12700">
            <a:solidFill>
              <a:srgbClr val="0A7D2A"/>
            </a:solidFill>
            <a:prstDash val="solid"/>
          </a:ln>
        </p:spPr>
        <p:txBody>
          <a:bodyPr/>
          <a:lstStyle/>
          <a:p>
            <a:endParaRPr lang="en-US"/>
          </a:p>
        </p:txBody>
      </p:sp>
      <p:sp>
        <p:nvSpPr>
          <p:cNvPr id="5" name="Text 3"/>
          <p:cNvSpPr/>
          <p:nvPr/>
        </p:nvSpPr>
        <p:spPr>
          <a:xfrm>
            <a:off x="548640" y="1755648"/>
            <a:ext cx="3840480" cy="365760"/>
          </a:xfrm>
          <a:prstGeom prst="rect">
            <a:avLst/>
          </a:prstGeom>
          <a:noFill/>
          <a:ln/>
        </p:spPr>
        <p:txBody>
          <a:bodyPr wrap="square" lIns="0" tIns="0" rIns="0" bIns="0" rtlCol="0" anchor="ctr"/>
          <a:lstStyle/>
          <a:p>
            <a:pPr marL="0" indent="0" algn="ctr">
              <a:buNone/>
            </a:pPr>
            <a:r>
              <a:rPr lang="en-US" sz="1800" b="1" dirty="0">
                <a:solidFill>
                  <a:srgbClr val="0A7D2A"/>
                </a:solidFill>
              </a:rPr>
              <a:t>Developer A</a:t>
            </a:r>
            <a:endParaRPr lang="en-US" sz="1800" dirty="0"/>
          </a:p>
        </p:txBody>
      </p:sp>
      <p:sp>
        <p:nvSpPr>
          <p:cNvPr id="6" name="Text 4"/>
          <p:cNvSpPr/>
          <p:nvPr/>
        </p:nvSpPr>
        <p:spPr>
          <a:xfrm>
            <a:off x="86868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Ran tests.</a:t>
            </a:r>
            <a:endParaRPr lang="en-US" sz="1300" dirty="0"/>
          </a:p>
          <a:p>
            <a:pPr marL="342900" indent="-342900">
              <a:spcAft>
                <a:spcPts val="600"/>
              </a:spcAft>
              <a:buSzPct val="100000"/>
              <a:buChar char="•"/>
            </a:pPr>
            <a:r>
              <a:rPr lang="en-US" sz="1300" dirty="0">
                <a:solidFill>
                  <a:srgbClr val="1A1A1A"/>
                </a:solidFill>
              </a:rPr>
              <a:t>Committed checkpoints.</a:t>
            </a:r>
            <a:endParaRPr lang="en-US" sz="1300" dirty="0"/>
          </a:p>
          <a:p>
            <a:pPr marL="342900" indent="-342900">
              <a:spcAft>
                <a:spcPts val="600"/>
              </a:spcAft>
              <a:buSzPct val="100000"/>
              <a:buChar char="•"/>
            </a:pPr>
            <a:r>
              <a:rPr lang="en-US" sz="1300" dirty="0">
                <a:solidFill>
                  <a:srgbClr val="1A1A1A"/>
                </a:solidFill>
              </a:rPr>
              <a:t>Used IDE refactorings.</a:t>
            </a:r>
            <a:endParaRPr lang="en-US" sz="1300" dirty="0"/>
          </a:p>
        </p:txBody>
      </p:sp>
      <p:sp>
        <p:nvSpPr>
          <p:cNvPr id="7" name="Shape 5"/>
          <p:cNvSpPr/>
          <p:nvPr/>
        </p:nvSpPr>
        <p:spPr>
          <a:xfrm>
            <a:off x="4754880" y="1691640"/>
            <a:ext cx="3840480" cy="1874520"/>
          </a:xfrm>
          <a:prstGeom prst="roundRect">
            <a:avLst>
              <a:gd name="adj" fmla="val 4878"/>
            </a:avLst>
          </a:prstGeom>
          <a:solidFill>
            <a:srgbClr val="FBEDE9"/>
          </a:solidFill>
          <a:ln w="12700">
            <a:solidFill>
              <a:srgbClr val="B33A1E"/>
            </a:solidFill>
            <a:prstDash val="solid"/>
          </a:ln>
        </p:spPr>
        <p:txBody>
          <a:bodyPr/>
          <a:lstStyle/>
          <a:p>
            <a:endParaRPr lang="en-US"/>
          </a:p>
        </p:txBody>
      </p:sp>
      <p:sp>
        <p:nvSpPr>
          <p:cNvPr id="8" name="Text 6"/>
          <p:cNvSpPr/>
          <p:nvPr/>
        </p:nvSpPr>
        <p:spPr>
          <a:xfrm>
            <a:off x="4754880" y="1755648"/>
            <a:ext cx="3840480" cy="365760"/>
          </a:xfrm>
          <a:prstGeom prst="rect">
            <a:avLst/>
          </a:prstGeom>
          <a:noFill/>
          <a:ln/>
        </p:spPr>
        <p:txBody>
          <a:bodyPr wrap="square" lIns="0" tIns="0" rIns="0" bIns="0" rtlCol="0" anchor="ctr"/>
          <a:lstStyle/>
          <a:p>
            <a:pPr marL="0" indent="0" algn="ctr">
              <a:buNone/>
            </a:pPr>
            <a:r>
              <a:rPr lang="en-US" sz="1800" b="1" dirty="0">
                <a:solidFill>
                  <a:srgbClr val="B33A1E"/>
                </a:solidFill>
              </a:rPr>
              <a:t>Developer B</a:t>
            </a:r>
            <a:endParaRPr lang="en-US" sz="1800" dirty="0"/>
          </a:p>
        </p:txBody>
      </p:sp>
      <p:sp>
        <p:nvSpPr>
          <p:cNvPr id="9" name="Text 7"/>
          <p:cNvSpPr/>
          <p:nvPr/>
        </p:nvSpPr>
        <p:spPr>
          <a:xfrm>
            <a:off x="507492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Broke the build twice.</a:t>
            </a:r>
            <a:endParaRPr lang="en-US" sz="1300" dirty="0"/>
          </a:p>
          <a:p>
            <a:pPr marL="342900" indent="-342900">
              <a:spcAft>
                <a:spcPts val="600"/>
              </a:spcAft>
              <a:buSzPct val="100000"/>
              <a:buChar char="•"/>
            </a:pPr>
            <a:r>
              <a:rPr lang="en-US" sz="1300" dirty="0">
                <a:solidFill>
                  <a:srgbClr val="1A1A1A"/>
                </a:solidFill>
              </a:rPr>
              <a:t>Added then removed 80 lines.</a:t>
            </a:r>
            <a:endParaRPr lang="en-US" sz="1300" dirty="0"/>
          </a:p>
          <a:p>
            <a:pPr marL="342900" indent="-342900">
              <a:spcAft>
                <a:spcPts val="600"/>
              </a:spcAft>
              <a:buSzPct val="100000"/>
              <a:buChar char="•"/>
            </a:pPr>
            <a:r>
              <a:rPr lang="en-US" sz="1300" dirty="0">
                <a:solidFill>
                  <a:srgbClr val="1A1A1A"/>
                </a:solidFill>
              </a:rPr>
              <a:t>Hand-edited what the IDE could do safely.</a:t>
            </a:r>
            <a:endParaRPr lang="en-US" sz="1300" dirty="0"/>
          </a:p>
        </p:txBody>
      </p:sp>
      <p:sp>
        <p:nvSpPr>
          <p:cNvPr id="10" name="Text 8"/>
          <p:cNvSpPr/>
          <p:nvPr/>
        </p:nvSpPr>
        <p:spPr>
          <a:xfrm>
            <a:off x="457200" y="3794760"/>
            <a:ext cx="8229600" cy="11887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41148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Motivation: what's missing in prior work</a:t>
            </a:r>
            <a:endParaRPr lang="en-US" sz="2800" dirty="0"/>
          </a:p>
        </p:txBody>
      </p:sp>
      <p:sp>
        <p:nvSpPr>
          <p:cNvPr id="3" name="Text 1"/>
          <p:cNvSpPr/>
          <p:nvPr/>
        </p:nvSpPr>
        <p:spPr>
          <a:xfrm>
            <a:off x="548640" y="1097280"/>
            <a:ext cx="8046720" cy="640080"/>
          </a:xfrm>
          <a:prstGeom prst="rect">
            <a:avLst/>
          </a:prstGeom>
          <a:noFill/>
          <a:ln/>
        </p:spPr>
        <p:txBody>
          <a:bodyPr wrap="square" lIns="0" tIns="0" rIns="0" bIns="0" rtlCol="0" anchor="ctr"/>
          <a:lstStyle/>
          <a:p>
            <a:pPr marL="0" indent="0" algn="ctr">
              <a:buNone/>
            </a:pPr>
            <a:r>
              <a:rPr lang="en-US" sz="1500" i="1" dirty="0">
                <a:solidFill>
                  <a:srgbClr val="333333"/>
                </a:solidFill>
              </a:rPr>
              <a:t>To help developers refactor better, we need to measure what a good refactoring session actually looks like - not just what code it produces.</a:t>
            </a:r>
            <a:endParaRPr lang="en-US" sz="1500" dirty="0"/>
          </a:p>
        </p:txBody>
      </p:sp>
      <p:sp>
        <p:nvSpPr>
          <p:cNvPr id="4" name="Text 2"/>
          <p:cNvSpPr/>
          <p:nvPr/>
        </p:nvSpPr>
        <p:spPr>
          <a:xfrm>
            <a:off x="457200" y="1783080"/>
            <a:ext cx="8229600" cy="320040"/>
          </a:xfrm>
          <a:prstGeom prst="rect">
            <a:avLst/>
          </a:prstGeom>
          <a:noFill/>
          <a:ln/>
        </p:spPr>
        <p:txBody>
          <a:bodyPr wrap="square" lIns="0" tIns="0" rIns="0" bIns="0" rtlCol="0" anchor="ctr"/>
          <a:lstStyle/>
          <a:p>
            <a:pPr marL="0" indent="0" algn="ctr">
              <a:buNone/>
            </a:pPr>
            <a:r>
              <a:rPr lang="en-US" sz="1400" b="1" dirty="0">
                <a:solidFill>
                  <a:srgbClr val="1A1A1A"/>
                </a:solidFill>
              </a:rPr>
              <a:t>But prior work mostly measures outcomes, not the process:</a:t>
            </a:r>
            <a:endParaRPr lang="en-US" sz="1400" dirty="0"/>
          </a:p>
        </p:txBody>
      </p:sp>
      <p:sp>
        <p:nvSpPr>
          <p:cNvPr id="5" name="Text 3"/>
          <p:cNvSpPr/>
          <p:nvPr/>
        </p:nvSpPr>
        <p:spPr>
          <a:xfrm>
            <a:off x="457200" y="2240280"/>
            <a:ext cx="8229600" cy="2743200"/>
          </a:xfrm>
          <a:prstGeom prst="rect">
            <a:avLst/>
          </a:prstGeom>
          <a:noFill/>
          <a:ln/>
        </p:spPr>
        <p:txBody>
          <a:bodyPr wrap="square" rtlCol="0" anchor="t"/>
          <a:lstStyle/>
          <a:p>
            <a:pPr marL="342900" indent="-342900">
              <a:spcAft>
                <a:spcPts val="800"/>
              </a:spcAft>
              <a:buSzPct val="100000"/>
              <a:buChar char="•"/>
            </a:pPr>
            <a:r>
              <a:rPr lang="en-US" sz="1300" b="1" dirty="0">
                <a:solidFill>
                  <a:srgbClr val="000000"/>
                </a:solidFill>
              </a:rPr>
              <a:t>Endpoint quality metrics </a:t>
            </a:r>
            <a:r>
              <a:rPr lang="en-US" sz="1300" i="1" dirty="0">
                <a:solidFill>
                  <a:srgbClr val="555555"/>
                </a:solidFill>
              </a:rPr>
              <a:t>(CK, smells, cohesion, coupling)</a:t>
            </a:r>
            <a:r>
              <a:rPr lang="en-US" sz="1300" dirty="0">
                <a:solidFill>
                  <a:srgbClr val="555555"/>
                </a:solidFill>
              </a:rPr>
              <a:t> - compare before vs after; ignore the path between, and can't distinguish two sessions ending at the same code.</a:t>
            </a:r>
            <a:endParaRPr lang="en-US" sz="1300" dirty="0"/>
          </a:p>
          <a:p>
            <a:pPr marL="0" indent="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Refactoring recommenders / sequence generators </a:t>
            </a:r>
            <a:r>
              <a:rPr lang="en-US" sz="1300" i="1" dirty="0">
                <a:solidFill>
                  <a:srgbClr val="555555"/>
                </a:solidFill>
              </a:rPr>
              <a:t>(search-based, ReSynth)</a:t>
            </a:r>
            <a:r>
              <a:rPr lang="en-US" sz="1300" dirty="0">
                <a:solidFill>
                  <a:srgbClr val="555555"/>
                </a:solidFill>
              </a:rPr>
              <a:t> - generate paths toward a target end state; don't score the developer's own path.</a:t>
            </a:r>
            <a:endParaRPr lang="en-US" sz="1300" dirty="0"/>
          </a:p>
          <a:p>
            <a:pPr marL="0" indent="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Exercise-scoped feedback tools </a:t>
            </a:r>
            <a:r>
              <a:rPr lang="en-US" sz="1300" dirty="0">
                <a:solidFill>
                  <a:srgbClr val="555555"/>
                </a:solidFill>
              </a:rPr>
              <a:t>- match explicit events inside predefined exercises; don't generalise to arbitrary sessions.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Closest Existing Tool...</a:t>
            </a:r>
            <a:r>
              <a:rPr lang="en-US" sz="2800" b="1" dirty="0">
                <a:solidFill>
                  <a:srgbClr val="888888"/>
                </a:solidFill>
              </a:rPr>
              <a:t>  Industrial Logic</a:t>
            </a:r>
            <a:endParaRPr lang="en-US" sz="2800" dirty="0"/>
          </a:p>
        </p:txBody>
      </p:sp>
      <p:pic>
        <p:nvPicPr>
          <p:cNvPr id="3" name="Image 0" descr="images/industrial-logic-score.png"/>
          <p:cNvPicPr>
            <a:picLocks noChangeAspect="1"/>
          </p:cNvPicPr>
          <p:nvPr/>
        </p:nvPicPr>
        <p:blipFill>
          <a:blip r:embed="rId3"/>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marL="0" indent="0" algn="ctr">
              <a:buNone/>
            </a:pPr>
            <a:r>
              <a:rPr lang="en-US" sz="1200" i="1" dirty="0">
                <a:solidFill>
                  <a:srgbClr val="555555"/>
                </a:solidFill>
              </a:rPr>
              <a:t>Score</a:t>
            </a:r>
            <a:endParaRPr lang="en-US" sz="1200" dirty="0"/>
          </a:p>
        </p:txBody>
      </p:sp>
      <p:pic>
        <p:nvPicPr>
          <p:cNvPr id="5" name="Image 1" descr="images/industrial-logic-compilation-tests.png"/>
          <p:cNvPicPr>
            <a:picLocks noChangeAspect="1"/>
          </p:cNvPicPr>
          <p:nvPr/>
        </p:nvPicPr>
        <p:blipFill>
          <a:blip r:embed="rId4"/>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marL="0" indent="0" algn="ctr">
              <a:buNone/>
            </a:pPr>
            <a:r>
              <a:rPr lang="en-US" sz="1200" i="1" dirty="0">
                <a:solidFill>
                  <a:srgbClr val="555555"/>
                </a:solidFill>
              </a:rPr>
              <a:t>Compilation + tests</a:t>
            </a:r>
            <a:endParaRPr lang="en-US" sz="1200" dirty="0"/>
          </a:p>
        </p:txBody>
      </p:sp>
      <p:pic>
        <p:nvPicPr>
          <p:cNvPr id="7" name="Image 2" descr="images/industrial-logic-refactorings.png"/>
          <p:cNvPicPr>
            <a:picLocks noChangeAspect="1"/>
          </p:cNvPicPr>
          <p:nvPr/>
        </p:nvPicPr>
        <p:blipFill>
          <a:blip r:embed="rId5"/>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marL="0" indent="0" algn="ctr">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marL="0" indent="0" algn="ctr">
              <a:buNone/>
            </a:pPr>
            <a:r>
              <a:rPr lang="en-US" sz="1400" b="1" i="1" dirty="0">
                <a:solidFill>
                  <a:srgbClr val="0000CD"/>
                </a:solidFill>
              </a:rPr>
              <a:t>Gap: </a:t>
            </a:r>
            <a:r>
              <a:rPr lang="en-US" sz="1400" i="1" dirty="0">
                <a:solidFill>
                  <a:srgbClr val="0000CD"/>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marL="0" indent="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buSzPct val="100000"/>
              <a:buChar char="•"/>
            </a:pPr>
            <a:r>
              <a:rPr lang="en-US" sz="1400" b="1" dirty="0">
                <a:solidFill>
                  <a:srgbClr val="000000"/>
                </a:solidFill>
              </a:rPr>
              <a:t>Quantifiable + comparable score </a:t>
            </a:r>
            <a:r>
              <a:rPr lang="en-US" sz="1400" dirty="0">
                <a:solidFill>
                  <a:srgbClr val="888888"/>
                </a:solidFill>
              </a:rPr>
              <a:t>- one number per trajectory so sessions can be compared. [1]</a:t>
            </a:r>
            <a:endParaRPr lang="en-US" sz="1400" dirty="0"/>
          </a:p>
          <a:p>
            <a:pPr marL="0" indent="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Actionable, moment-specific feedback </a:t>
            </a:r>
            <a:r>
              <a:rPr lang="en-US" sz="1400" dirty="0">
                <a:solidFill>
                  <a:srgbClr val="888888"/>
                </a:solidFill>
              </a:rPr>
              <a:t>- point to a specific moment AND a "what you could have done instead" alternative. [2]</a:t>
            </a:r>
            <a:endParaRPr lang="en-US" sz="1400" dirty="0"/>
          </a:p>
          <a:p>
            <a:pPr marL="0" indent="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Efficient alternative synthesis </a:t>
            </a:r>
            <a:r>
              <a:rPr lang="en-US" sz="1400" dirty="0">
                <a:solidFill>
                  <a:srgbClr val="888888"/>
                </a:solidFill>
              </a:rPr>
              <a:t>- the state-action space over a real codebase is too large to enumerate, so we must find efficient methods of identifying "better" alternatives.</a:t>
            </a:r>
            <a:endParaRPr lang="en-US" sz="1400" dirty="0"/>
          </a:p>
          <a:p>
            <a:pPr marL="0" indent="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Seamless, in-workflow capture </a:t>
            </a:r>
            <a:r>
              <a:rPr lang="en-US" sz="1400" dirty="0">
                <a:solidFill>
                  <a:srgbClr val="888888"/>
                </a:solidFill>
              </a:rPr>
              <a:t>- zero extra developer effort to use the tool. [3]</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marL="0" indent="0" algn="l">
              <a:buNone/>
            </a:pPr>
            <a:r>
              <a:rPr lang="en-US" sz="900" i="1" dirty="0">
                <a:solidFill>
                  <a:srgbClr val="888888"/>
                </a:solidFill>
              </a:rPr>
              <a:t>[1] Composite quality models (Quamoco, QMOOD), adapted from snapshot- to trajectory-level.   [2] Inverts prior refactoring recommenders (ReSynth, Refactoring Navigator, search-based refactoring).   [3] IDE-event logging (Damevski et al., CodeWatcher).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The tool, end to end: actionable refactoring process analysis</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txBody>
          <a:bodyPr/>
          <a:lstStyle/>
          <a:p>
            <a:endParaRPr lang="en-US"/>
          </a:p>
        </p:txBody>
      </p:sp>
      <p:sp>
        <p:nvSpPr>
          <p:cNvPr id="4" name="Text 2"/>
          <p:cNvSpPr/>
          <p:nvPr/>
        </p:nvSpPr>
        <p:spPr>
          <a:xfrm>
            <a:off x="274320" y="1645920"/>
            <a:ext cx="2194560" cy="457200"/>
          </a:xfrm>
          <a:prstGeom prst="rect">
            <a:avLst/>
          </a:prstGeom>
          <a:noFill/>
          <a:ln/>
        </p:spPr>
        <p:txBody>
          <a:bodyPr wrap="square" lIns="0" tIns="0" rIns="0" bIns="0" rtlCol="0" anchor="ctr"/>
          <a:lstStyle/>
          <a:p>
            <a:pPr marL="0" indent="0" algn="ctr">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txBody>
          <a:bodyPr/>
          <a:lstStyle/>
          <a:p>
            <a:endParaRPr lang="en-US"/>
          </a:p>
        </p:txBody>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txBody>
          <a:bodyPr/>
          <a:lstStyle/>
          <a:p>
            <a:endParaRPr lang="en-US"/>
          </a:p>
        </p:txBody>
      </p:sp>
      <p:sp>
        <p:nvSpPr>
          <p:cNvPr id="8" name="Text 6"/>
          <p:cNvSpPr/>
          <p:nvPr/>
        </p:nvSpPr>
        <p:spPr>
          <a:xfrm>
            <a:off x="3474720" y="1645920"/>
            <a:ext cx="2194560" cy="457200"/>
          </a:xfrm>
          <a:prstGeom prst="rect">
            <a:avLst/>
          </a:prstGeom>
          <a:noFill/>
          <a:ln/>
        </p:spPr>
        <p:txBody>
          <a:bodyPr wrap="square" lIns="0" tIns="0" rIns="0" bIns="0" rtlCol="0" anchor="ctr"/>
          <a:lstStyle/>
          <a:p>
            <a:pPr marL="0" indent="0" algn="ctr">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txBody>
          <a:bodyPr/>
          <a:lstStyle/>
          <a:p>
            <a:endParaRPr lang="en-US"/>
          </a:p>
        </p:txBody>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txBody>
          <a:bodyPr/>
          <a:lstStyle/>
          <a:p>
            <a:endParaRPr lang="en-US"/>
          </a:p>
        </p:txBody>
      </p:sp>
      <p:sp>
        <p:nvSpPr>
          <p:cNvPr id="12" name="Text 10"/>
          <p:cNvSpPr/>
          <p:nvPr/>
        </p:nvSpPr>
        <p:spPr>
          <a:xfrm>
            <a:off x="6675120" y="1645920"/>
            <a:ext cx="2194560" cy="457200"/>
          </a:xfrm>
          <a:prstGeom prst="rect">
            <a:avLst/>
          </a:prstGeom>
          <a:noFill/>
          <a:ln/>
        </p:spPr>
        <p:txBody>
          <a:bodyPr wrap="square" lIns="0" tIns="0" rIns="0" bIns="0" rtlCol="0" anchor="ctr"/>
          <a:lstStyle/>
          <a:p>
            <a:pPr marL="0" indent="0" algn="ctr">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txBody>
          <a:bodyPr/>
          <a:lstStyle/>
          <a:p>
            <a:endParaRPr lang="en-US"/>
          </a:p>
        </p:txBody>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txBody>
          <a:bodyPr/>
          <a:lstStyle/>
          <a:p>
            <a:endParaRPr lang="en-US"/>
          </a:p>
        </p:txBody>
      </p:sp>
      <p:sp>
        <p:nvSpPr>
          <p:cNvPr id="16" name="Text 14"/>
          <p:cNvSpPr/>
          <p:nvPr/>
        </p:nvSpPr>
        <p:spPr>
          <a:xfrm>
            <a:off x="2514600" y="2148840"/>
            <a:ext cx="914400" cy="457200"/>
          </a:xfrm>
          <a:prstGeom prst="rect">
            <a:avLst/>
          </a:prstGeom>
          <a:noFill/>
          <a:ln/>
        </p:spPr>
        <p:txBody>
          <a:bodyPr wrap="square" lIns="0" tIns="0" rIns="0" bIns="0" rtlCol="0" anchor="b"/>
          <a:lstStyle/>
          <a:p>
            <a:pPr marL="0" indent="0" algn="ctr">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txBody>
          <a:bodyPr/>
          <a:lstStyle/>
          <a:p>
            <a:endParaRPr lang="en-US"/>
          </a:p>
        </p:txBody>
      </p:sp>
      <p:sp>
        <p:nvSpPr>
          <p:cNvPr id="18" name="Text 16"/>
          <p:cNvSpPr/>
          <p:nvPr/>
        </p:nvSpPr>
        <p:spPr>
          <a:xfrm>
            <a:off x="5715000" y="2148840"/>
            <a:ext cx="914400" cy="457200"/>
          </a:xfrm>
          <a:prstGeom prst="rect">
            <a:avLst/>
          </a:prstGeom>
          <a:noFill/>
          <a:ln/>
        </p:spPr>
        <p:txBody>
          <a:bodyPr wrap="square" lIns="0" tIns="0" rIns="0" bIns="0" rtlCol="0" anchor="b"/>
          <a:lstStyle/>
          <a:p>
            <a:pPr marL="0" indent="0" algn="ctr">
              <a:buNone/>
            </a:pPr>
            <a:r>
              <a:rPr lang="en-US" sz="900" i="1" dirty="0">
                <a:solidFill>
                  <a:srgbClr val="555555"/>
                </a:solidFill>
              </a:rPr>
              <a:t>analysis</a:t>
            </a:r>
            <a:endParaRPr lang="en-US" sz="900" dirty="0"/>
          </a:p>
          <a:p>
            <a:pPr marL="0" indent="0" algn="ctr">
              <a:buNone/>
            </a:pPr>
            <a:r>
              <a:rPr lang="en-US" sz="900" i="1" dirty="0">
                <a:solidFill>
                  <a:srgbClr val="555555"/>
                </a:solidFill>
              </a:rPr>
              <a:t>-report.json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marL="0" indent="0" algn="ctr">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marL="0" indent="0" algn="ctr">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marL="0" indent="0" algn="ctr">
              <a:buNone/>
            </a:pPr>
            <a:r>
              <a:rPr lang="en-US" sz="2200" dirty="0">
                <a:solidFill>
                  <a:srgbClr val="000000"/>
                </a:solidFill>
              </a:rPr>
              <a:t>J(τ)  =  clip</a:t>
            </a:r>
            <a:r>
              <a:rPr lang="en-US" sz="2200" baseline="-40000" dirty="0">
                <a:solidFill>
                  <a:srgbClr val="000000"/>
                </a:solidFill>
              </a:rPr>
              <a:t>[0,100]</a:t>
            </a:r>
            <a:r>
              <a:rPr lang="en-US" sz="2200" dirty="0">
                <a:solidFill>
                  <a:srgbClr val="000000"/>
                </a:solidFill>
              </a:rPr>
              <a:t>  (    50    </a:t>
            </a:r>
            <a:r>
              <a:rPr lang="en-US" sz="2200" i="1" dirty="0">
                <a:solidFill>
                  <a:srgbClr val="777777"/>
                </a:solidFill>
              </a:rPr>
              <a:t>(baseline)</a:t>
            </a: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3236976"/>
        </p:xfrm>
        <a:graphic>
          <a:graphicData uri="http://schemas.openxmlformats.org/drawingml/2006/table">
            <a:tbl>
              <a:tblPr/>
              <a:tblGrid>
                <a:gridCol w="731520">
                  <a:extLst>
                    <a:ext uri="{9D8B030D-6E8A-4147-A177-3AD203B41FA5}">
                      <a16:colId xmlns:a16="http://schemas.microsoft.com/office/drawing/2014/main" val="20000"/>
                    </a:ext>
                  </a:extLst>
                </a:gridCol>
                <a:gridCol w="36576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lgn="r">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92608">
                <a:tc>
                  <a:txBody>
                    <a:bodyPr/>
                    <a:lstStyle/>
                    <a:p>
                      <a:pPr marL="0" indent="0" algn="r">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92608">
                <a:tc>
                  <a:txBody>
                    <a:bodyPr/>
                    <a:lstStyle/>
                    <a:p>
                      <a:pPr marL="0" indent="0" algn="r">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92608">
                <a:tc>
                  <a:txBody>
                    <a:bodyPr/>
                    <a:lstStyle/>
                    <a:p>
                      <a:pPr marL="0" indent="0" algn="r">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92608">
                <a:tc>
                  <a:txBody>
                    <a:bodyPr/>
                    <a:lstStyle/>
                    <a:p>
                      <a:pPr marL="0" indent="0" algn="r">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92608">
                <a:tc>
                  <a:txBody>
                    <a:bodyPr/>
                    <a:lstStyle/>
                    <a:p>
                      <a:pPr marL="0" indent="0" algn="r">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r h="292608">
                <a:tc>
                  <a:txBody>
                    <a:bodyPr/>
                    <a:lstStyle/>
                    <a:p>
                      <a:pPr marL="0" indent="0" algn="r">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6"/>
                  </a:ext>
                </a:extLst>
              </a:tr>
            </a:tbl>
          </a:graphicData>
        </a:graphic>
      </p:graphicFrame>
      <p:sp>
        <p:nvSpPr>
          <p:cNvPr id="5" name="Text 2"/>
          <p:cNvSpPr/>
          <p:nvPr/>
        </p:nvSpPr>
        <p:spPr>
          <a:xfrm>
            <a:off x="457200" y="4526280"/>
            <a:ext cx="8229600" cy="548640"/>
          </a:xfrm>
          <a:prstGeom prst="rect">
            <a:avLst/>
          </a:prstGeom>
          <a:noFill/>
          <a:ln/>
        </p:spPr>
        <p:txBody>
          <a:bodyPr wrap="square" lIns="0" tIns="0" rIns="0" bIns="0" rtlCol="0" anchor="ctr"/>
          <a:lstStyle/>
          <a:p>
            <a:pPr marL="0" indent="0" algn="ctr">
              <a:buNone/>
            </a:pPr>
            <a:r>
              <a:rPr lang="en-US" sz="1100" i="1" dirty="0">
                <a:solidFill>
                  <a:srgbClr val="777777"/>
                </a:solidFill>
              </a:rPr>
              <a:t>* cleanliness gain = mean of 6 normalised signals: complexity, coupling, duplication, readability, smells, cohesion.</a:t>
            </a:r>
            <a:endParaRPr lang="en-US" sz="1100" dirty="0"/>
          </a:p>
          <a:p>
            <a:pPr marL="0" indent="0" algn="ctr">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buSzPct val="100000"/>
              <a:buChar char="•"/>
            </a:pPr>
            <a:r>
              <a:rPr lang="en-US" sz="1800" dirty="0">
                <a:solidFill>
                  <a:srgbClr val="000000"/>
                </a:solidFill>
              </a:rPr>
              <a:t>Manual-Refactor </a:t>
            </a:r>
            <a:r>
              <a:rPr lang="en-US" sz="1800" dirty="0">
                <a:solidFill>
                  <a:srgbClr val="888888"/>
                </a:solidFill>
              </a:rPr>
              <a:t>- unnecessary risk (hand-edit when the IDE could have safely done it).</a:t>
            </a:r>
            <a:endParaRPr lang="en-US" sz="1800" dirty="0"/>
          </a:p>
          <a:p>
            <a:pPr marL="0" indent="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Ordering </a:t>
            </a:r>
            <a:r>
              <a:rPr lang="en-US" sz="1800" dirty="0">
                <a:solidFill>
                  <a:srgbClr val="888888"/>
                </a:solidFill>
              </a:rPr>
              <a:t>- right refactorings, wrong sequence.</a:t>
            </a:r>
            <a:endParaRPr lang="en-US" sz="1800" dirty="0"/>
          </a:p>
          <a:p>
            <a:pPr marL="0" indent="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Rework </a:t>
            </a:r>
            <a:r>
              <a:rPr lang="en-US" sz="1800" dirty="0">
                <a:solidFill>
                  <a:srgbClr val="888888"/>
                </a:solidFill>
              </a:rPr>
              <a:t>- unnecessary churn (added then removed).</a:t>
            </a:r>
            <a:endParaRPr lang="en-US" sz="1800" dirty="0"/>
          </a:p>
          <a:p>
            <a:pPr marL="0" indent="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Hygiene </a:t>
            </a: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marL="0" indent="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marL="685800" lvl="1" indent="-342900">
              <a:spcAft>
                <a:spcPts val="600"/>
              </a:spcAft>
              <a:buSzPct val="100000"/>
              <a:buFont typeface="+mj-lt"/>
              <a:buAutoNum type="arabicPeriod"/>
            </a:pPr>
            <a:r>
              <a:rPr lang="en-US" sz="1300" dirty="0">
                <a:solidFill>
                  <a:srgbClr val="000000"/>
                </a:solidFill>
              </a:rPr>
              <a:t>Refactoring Miner on sliding commit windows (of shadow repo) - anything we find that the IDE did not emit an event for is a manual refactoring.</a:t>
            </a:r>
            <a:endParaRPr lang="en-US" sz="1300" dirty="0"/>
          </a:p>
          <a:p>
            <a:pPr marL="685800" lvl="1" indent="-342900">
              <a:spcAft>
                <a:spcPts val="600"/>
              </a:spcAft>
              <a:buSzPct val="100000"/>
              <a:buFont typeface="+mj-lt"/>
              <a:buAutoNum type="arabicPeriod"/>
            </a:pPr>
            <a:r>
              <a:rPr lang="en-US" sz="1300" dirty="0">
                <a:solidFill>
                  <a:srgbClr val="000000"/>
                </a:solidFill>
              </a:rPr>
              <a:t>Apply the equivalent IDE refactoring (Eclipse / JDT).</a:t>
            </a:r>
            <a:endParaRPr lang="en-US" sz="1300" dirty="0"/>
          </a:p>
          <a:p>
            <a:pPr marL="685800" lvl="1" indent="-342900">
              <a:spcAft>
                <a:spcPts val="600"/>
              </a:spcAft>
              <a:buSzPct val="100000"/>
              <a:buFont typeface="+mj-lt"/>
              <a:buAutoNum type="arabicPeriod"/>
            </a:pPr>
            <a:r>
              <a:rPr lang="en-US" sz="1300" dirty="0">
                <a:solidFill>
                  <a:srgbClr val="000000"/>
                </a:solidFill>
              </a:rPr>
              <a:t>Reconcile minor JDT ↔ IntelliJ AST differences (e.g. static modifiers, variable liveness).</a:t>
            </a:r>
            <a:endParaRPr lang="en-US" sz="1300" dirty="0"/>
          </a:p>
          <a:p>
            <a:pPr marL="685800" lvl="1" indent="-342900">
              <a:spcAft>
                <a:spcPts val="600"/>
              </a:spcAft>
              <a:buSzPct val="100000"/>
              <a:buFont typeface="+mj-lt"/>
              <a:buAutoNum type="arabicPeriod"/>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marL="0" indent="0">
              <a:spcAft>
                <a:spcPts val="200"/>
              </a:spcAft>
              <a:buNone/>
            </a:pPr>
            <a:r>
              <a:rPr lang="en-US" sz="1100" i="1" dirty="0">
                <a:solidFill>
                  <a:srgbClr val="333333"/>
                </a:solidFill>
              </a:rPr>
              <a:t>“ Very actionable - at the start I didn't know most IntelliJ actions. ”</a:t>
            </a:r>
            <a:endParaRPr lang="en-US" sz="1100" dirty="0"/>
          </a:p>
          <a:p>
            <a:pPr marL="0" indent="0">
              <a:buNone/>
            </a:pPr>
            <a:r>
              <a:rPr lang="en-US" sz="1100" i="1" dirty="0">
                <a:solidFill>
                  <a:srgbClr val="888888"/>
                </a:solidFill>
              </a:rPr>
              <a:t>— P2</a:t>
            </a:r>
            <a:endParaRPr lang="en-US" sz="1100" dirty="0"/>
          </a:p>
        </p:txBody>
      </p:sp>
      <p:pic>
        <p:nvPicPr>
          <p:cNvPr id="5" name="Image 0" descr="images/manual-refactor.png"/>
          <p:cNvPicPr>
            <a:picLocks noChangeAspect="1"/>
          </p:cNvPicPr>
          <p:nvPr/>
        </p:nvPicPr>
        <p:blipFill>
          <a:blip r:embed="rId3"/>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marL="0" indent="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marL="685800" lvl="1" indent="-342900">
              <a:spcAft>
                <a:spcPts val="600"/>
              </a:spcAft>
              <a:buSzPct val="100000"/>
              <a:buFont typeface="+mj-lt"/>
              <a:buAutoNum type="arabicPeriod"/>
            </a:pPr>
            <a:r>
              <a:rPr lang="en-US" sz="1400" dirty="0">
                <a:solidFill>
                  <a:srgbClr val="000000"/>
                </a:solidFill>
              </a:rPr>
              <a:t>Identify dependencies between steps → DAG.</a:t>
            </a:r>
            <a:endParaRPr lang="en-US" sz="1400" dirty="0"/>
          </a:p>
          <a:p>
            <a:pPr marL="685800" lvl="1" indent="-342900">
              <a:spcAft>
                <a:spcPts val="600"/>
              </a:spcAft>
              <a:buSzPct val="100000"/>
              <a:buFont typeface="+mj-lt"/>
              <a:buAutoNum type="arabicPeriod"/>
            </a:pPr>
            <a:r>
              <a:rPr lang="en-US" sz="1400" dirty="0">
                <a:solidFill>
                  <a:srgbClr val="000000"/>
                </a:solidFill>
              </a:rPr>
              <a:t>Enumerate valid topological orderings.</a:t>
            </a:r>
            <a:endParaRPr lang="en-US" sz="1400" dirty="0"/>
          </a:p>
          <a:p>
            <a:pPr marL="685800" lvl="1" indent="-342900">
              <a:spcAft>
                <a:spcPts val="600"/>
              </a:spcAft>
              <a:buSzPct val="100000"/>
              <a:buFont typeface="+mj-lt"/>
              <a:buAutoNum type="arabicPeriod"/>
            </a:pPr>
            <a:r>
              <a:rPr lang="en-US" sz="1400" dirty="0">
                <a:solidFill>
                  <a:srgbClr val="000000"/>
                </a:solidFill>
              </a:rPr>
              <a:t>Synthesise (Eclipse / JDT), utilising Prefix Trie (DFS) and git checkouts on backtrack.</a:t>
            </a:r>
            <a:endParaRPr lang="en-US" sz="1400" dirty="0"/>
          </a:p>
          <a:p>
            <a:pPr marL="685800" lvl="1" indent="-342900">
              <a:spcAft>
                <a:spcPts val="600"/>
              </a:spcAft>
              <a:buSzPct val="100000"/>
              <a:buFont typeface="+mj-lt"/>
              <a:buAutoNum type="arabicPeriod"/>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marL="0" indent="0">
              <a:spcAft>
                <a:spcPts val="200"/>
              </a:spcAft>
              <a:buNone/>
            </a:pPr>
            <a:r>
              <a:rPr lang="en-US" sz="1100" i="1" dirty="0">
                <a:solidFill>
                  <a:srgbClr val="333333"/>
                </a:solidFill>
              </a:rPr>
              <a:t>“ How can you actually apply that in the future without knowing beforehand? ”</a:t>
            </a:r>
            <a:endParaRPr lang="en-US" sz="1100" dirty="0"/>
          </a:p>
          <a:p>
            <a:pPr marL="0" indent="0">
              <a:buNone/>
            </a:pPr>
            <a:r>
              <a:rPr lang="en-US" sz="1100" i="1" dirty="0">
                <a:solidFill>
                  <a:srgbClr val="888888"/>
                </a:solidFill>
              </a:rPr>
              <a:t>— P2</a:t>
            </a:r>
            <a:endParaRPr lang="en-US" sz="1100" dirty="0"/>
          </a:p>
        </p:txBody>
      </p:sp>
      <p:pic>
        <p:nvPicPr>
          <p:cNvPr id="5" name="Image 0" descr="images/reorder-synthesis.png"/>
          <p:cNvPicPr>
            <a:picLocks noChangeAspect="1"/>
          </p:cNvPicPr>
          <p:nvPr/>
        </p:nvPicPr>
        <p:blipFill>
          <a:blip r:embed="rId3"/>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marL="0" indent="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marL="685800" lvl="1" indent="-342900">
              <a:spcAft>
                <a:spcPts val="600"/>
              </a:spcAft>
              <a:buSzPct val="100000"/>
              <a:buFont typeface="+mj-lt"/>
              <a:buAutoNum type="arabicPeriod"/>
            </a:pPr>
            <a:r>
              <a:rPr lang="en-US" sz="1300" dirty="0">
                <a:solidFill>
                  <a:srgbClr val="000000"/>
                </a:solidFill>
              </a:rPr>
              <a:t>Compare git diffs between adjacent steps of shadow repo.</a:t>
            </a:r>
            <a:endParaRPr lang="en-US" sz="1300" dirty="0"/>
          </a:p>
          <a:p>
            <a:pPr marL="685800" lvl="1" indent="-342900">
              <a:spcAft>
                <a:spcPts val="600"/>
              </a:spcAft>
              <a:buSzPct val="100000"/>
              <a:buFont typeface="+mj-lt"/>
              <a:buAutoNum type="arabicPeriod"/>
            </a:pPr>
            <a:r>
              <a:rPr lang="en-US" sz="1300" dirty="0">
                <a:solidFill>
                  <a:srgbClr val="000000"/>
                </a:solidFill>
              </a:rPr>
              <a:t>Hash each hunk, and look for a matching, opposite hunk with matching (file, scope, content-hash) in a future git diff.</a:t>
            </a:r>
            <a:endParaRPr lang="en-US" sz="1300" dirty="0"/>
          </a:p>
          <a:p>
            <a:pPr marL="685800" lvl="1" indent="-342900">
              <a:spcAft>
                <a:spcPts val="600"/>
              </a:spcAft>
              <a:buSzPct val="100000"/>
              <a:buFont typeface="+mj-lt"/>
              <a:buAutoNum type="arabicPeriod"/>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marL="0" indent="0">
              <a:spcAft>
                <a:spcPts val="200"/>
              </a:spcAft>
              <a:buNone/>
            </a:pPr>
            <a:r>
              <a:rPr lang="en-US" sz="1100" i="1" dirty="0">
                <a:solidFill>
                  <a:srgbClr val="333333"/>
                </a:solidFill>
              </a:rPr>
              <a:t>“ Over-penalised undos + redos. ”</a:t>
            </a:r>
            <a:endParaRPr lang="en-US" sz="1100" dirty="0"/>
          </a:p>
          <a:p>
            <a:pPr marL="0" indent="0">
              <a:buNone/>
            </a:pPr>
            <a:r>
              <a:rPr lang="en-US" sz="1100" i="1" dirty="0">
                <a:solidFill>
                  <a:srgbClr val="888888"/>
                </a:solidFill>
              </a:rPr>
              <a:t>— P1</a:t>
            </a:r>
            <a:endParaRPr lang="en-US" sz="1100" dirty="0"/>
          </a:p>
        </p:txBody>
      </p:sp>
      <p:pic>
        <p:nvPicPr>
          <p:cNvPr id="5" name="Image 0" descr="images/rework.png"/>
          <p:cNvPicPr>
            <a:picLocks noChangeAspect="1"/>
          </p:cNvPicPr>
          <p:nvPr/>
        </p:nvPicPr>
        <p:blipFill>
          <a:blip r:embed="rId3"/>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marL="0" indent="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marL="685800" lvl="1" indent="-342900">
              <a:spcAft>
                <a:spcPts val="600"/>
              </a:spcAft>
              <a:buSzPct val="100000"/>
              <a:buFont typeface="+mj-lt"/>
              <a:buAutoNum type="arabicPeriod"/>
            </a:pPr>
            <a:r>
              <a:rPr lang="en-US" sz="1400" dirty="0">
                <a:solidFill>
                  <a:srgbClr val="000000"/>
                </a:solidFill>
              </a:rPr>
              <a:t>Iterate through each run's IDE events.</a:t>
            </a:r>
            <a:endParaRPr lang="en-US" sz="1400" dirty="0"/>
          </a:p>
          <a:p>
            <a:pPr marL="685800" lvl="1" indent="-342900">
              <a:spcAft>
                <a:spcPts val="600"/>
              </a:spcAft>
              <a:buSzPct val="100000"/>
              <a:buFont typeface="+mj-lt"/>
              <a:buAutoNum type="arabicPeriod"/>
            </a:pPr>
            <a:r>
              <a:rPr lang="en-US" sz="1400" dirty="0">
                <a:solidFill>
                  <a:srgbClr val="000000"/>
                </a:solidFill>
              </a:rPr>
              <a:t>If there has been &gt; 1 minute since the last edit and still no test run, flag a Test DP.</a:t>
            </a:r>
            <a:endParaRPr lang="en-US" sz="1400" dirty="0"/>
          </a:p>
          <a:p>
            <a:pPr marL="685800" lvl="1" indent="-342900">
              <a:spcAft>
                <a:spcPts val="600"/>
              </a:spcAft>
              <a:buSzPct val="100000"/>
              <a:buFont typeface="+mj-lt"/>
              <a:buAutoNum type="arabicPeriod"/>
            </a:pPr>
            <a:r>
              <a:rPr lang="en-US" sz="1400" dirty="0">
                <a:solidFill>
                  <a:srgbClr val="000000"/>
                </a:solidFill>
              </a:rPr>
              <a:t>If there has been &gt; 5 refactoring steps since the last commit, flag a Commit DP.</a:t>
            </a:r>
            <a:endParaRPr lang="en-US" sz="1400" dirty="0"/>
          </a:p>
          <a:p>
            <a:pPr marL="685800" lvl="1" indent="-342900">
              <a:spcAft>
                <a:spcPts val="2000"/>
              </a:spcAft>
              <a:buSzPct val="100000"/>
              <a:buFont typeface="+mj-lt"/>
              <a:buAutoNum type="arabicPeriod"/>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marL="0" indent="0">
              <a:spcAft>
                <a:spcPts val="200"/>
              </a:spcAft>
              <a:buNone/>
            </a:pPr>
            <a:r>
              <a:rPr lang="en-US" sz="1100" i="1" dirty="0">
                <a:solidFill>
                  <a:srgbClr val="333333"/>
                </a:solidFill>
              </a:rPr>
              <a:t>“ The most actionable kind - committing more frequently in particular. ”</a:t>
            </a:r>
            <a:endParaRPr lang="en-US" sz="1100" dirty="0"/>
          </a:p>
          <a:p>
            <a:pPr marL="0" indent="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marL="762000" lvl="1" indent="-381000">
              <a:spcAft>
                <a:spcPts val="600"/>
              </a:spcAft>
              <a:buSzPct val="100000"/>
              <a:buChar char="•"/>
            </a:pPr>
            <a:r>
              <a:rPr lang="en-US" sz="1600" dirty="0">
                <a:solidFill>
                  <a:srgbClr val="000000"/>
                </a:solidFill>
              </a:rPr>
              <a:t>Is the tool accurate?</a:t>
            </a:r>
            <a:endParaRPr lang="en-US" sz="1600" dirty="0"/>
          </a:p>
          <a:p>
            <a:pPr marL="762000" lvl="1" indent="-381000">
              <a:spcAft>
                <a:spcPts val="600"/>
              </a:spcAft>
              <a:buSzPct val="100000"/>
              <a:buChar char="•"/>
            </a:pPr>
            <a:r>
              <a:rPr lang="en-US" sz="1600" dirty="0">
                <a:solidFill>
                  <a:srgbClr val="000000"/>
                </a:solidFill>
              </a:rPr>
              <a:t>Is the process score reliable?</a:t>
            </a:r>
            <a:endParaRPr lang="en-US" sz="1600" dirty="0"/>
          </a:p>
          <a:p>
            <a:pPr marL="762000" lvl="1"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marL="762000" lvl="1" indent="-381000">
              <a:spcAft>
                <a:spcPts val="600"/>
              </a:spcAft>
              <a:buSzPct val="100000"/>
              <a:buChar char="•"/>
            </a:pPr>
            <a:r>
              <a:rPr lang="en-US" sz="1600" dirty="0">
                <a:solidFill>
                  <a:srgbClr val="000000"/>
                </a:solidFill>
              </a:rPr>
              <a:t>45-session labelled injection set </a:t>
            </a:r>
            <a:r>
              <a:rPr lang="en-US" sz="1600" dirty="0">
                <a:solidFill>
                  <a:srgbClr val="555555"/>
                </a:solidFill>
              </a:rPr>
              <a:t>- controlled, balanced per-kind coverage.</a:t>
            </a:r>
            <a:endParaRPr lang="en-US" sz="1600" dirty="0"/>
          </a:p>
          <a:p>
            <a:pPr marL="762000" lvl="1" indent="-381000">
              <a:spcAft>
                <a:spcPts val="600"/>
              </a:spcAft>
              <a:buSzPct val="100000"/>
              <a:buChar char="•"/>
            </a:pPr>
            <a:r>
              <a:rPr lang="en-US" sz="1600" dirty="0">
                <a:solidFill>
                  <a:srgbClr val="000000"/>
                </a:solidFill>
              </a:rPr>
              <a:t>30-session randomised user study </a:t>
            </a: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marL="0" indent="0" algn="ctr">
              <a:buNone/>
            </a:pPr>
            <a:r>
              <a:rPr lang="en-US" sz="1400" b="1" i="1" dirty="0">
                <a:solidFill>
                  <a:srgbClr val="0000CD"/>
                </a:solidFill>
              </a:rPr>
              <a:t>Reproducible: </a:t>
            </a:r>
            <a:r>
              <a:rPr lang="en-US" sz="1400" i="1" dirty="0">
                <a:solidFill>
                  <a:srgbClr val="0000CD"/>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marL="0" indent="0" algn="ctr">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marL="0" indent="0" algn="ctr">
              <a:buNone/>
            </a:pPr>
            <a:r>
              <a:rPr lang="en-US" sz="2400" b="1" dirty="0">
                <a:solidFill>
                  <a:srgbClr val="000000"/>
                </a:solidFill>
              </a:rPr>
              <a:t>Experiment 1: Is the tool accurate?</a:t>
            </a:r>
            <a:endParaRPr lang="en-US" sz="2400" dirty="0"/>
          </a:p>
        </p:txBody>
      </p:sp>
      <p:sp>
        <p:nvSpPr>
          <p:cNvPr id="3" name="Text 1"/>
          <p:cNvSpPr/>
          <p:nvPr/>
        </p:nvSpPr>
        <p:spPr>
          <a:xfrm>
            <a:off x="274320" y="731520"/>
            <a:ext cx="4160520" cy="228600"/>
          </a:xfrm>
          <a:prstGeom prst="rect">
            <a:avLst/>
          </a:prstGeom>
          <a:noFill/>
          <a:ln/>
        </p:spPr>
        <p:txBody>
          <a:bodyPr wrap="square" lIns="0" tIns="0" rIns="0" bIns="0" rtlCol="0" anchor="ctr"/>
          <a:lstStyle/>
          <a:p>
            <a:pPr marL="0" indent="0" algn="ctr">
              <a:buNone/>
            </a:pPr>
            <a:r>
              <a:rPr lang="en-US" sz="1000" b="1" kern="0" spc="200" dirty="0">
                <a:solidFill>
                  <a:srgbClr val="888888"/>
                </a:solidFill>
              </a:rPr>
              <a:t>DETECTION</a:t>
            </a:r>
            <a:endParaRPr lang="en-US" sz="1000" dirty="0"/>
          </a:p>
        </p:txBody>
      </p:sp>
      <p:sp>
        <p:nvSpPr>
          <p:cNvPr id="4" name="Text 2"/>
          <p:cNvSpPr/>
          <p:nvPr/>
        </p:nvSpPr>
        <p:spPr>
          <a:xfrm>
            <a:off x="4709160" y="731520"/>
            <a:ext cx="4160520" cy="228600"/>
          </a:xfrm>
          <a:prstGeom prst="rect">
            <a:avLst/>
          </a:prstGeom>
          <a:noFill/>
          <a:ln/>
        </p:spPr>
        <p:txBody>
          <a:bodyPr wrap="square" lIns="0" tIns="0" rIns="0" bIns="0" rtlCol="0" anchor="ctr"/>
          <a:lstStyle/>
          <a:p>
            <a:pPr marL="0" indent="0" algn="ctr">
              <a:buNone/>
            </a:pPr>
            <a:r>
              <a:rPr lang="en-US" sz="1000" b="1" kern="0" spc="200" dirty="0">
                <a:solidFill>
                  <a:srgbClr val="888888"/>
                </a:solidFill>
              </a:rPr>
              <a:t>SYNTHESIS</a:t>
            </a:r>
            <a:endParaRPr lang="en-US" sz="1000" dirty="0"/>
          </a:p>
        </p:txBody>
      </p:sp>
      <p:sp>
        <p:nvSpPr>
          <p:cNvPr id="5" name="Shape 3"/>
          <p:cNvSpPr/>
          <p:nvPr/>
        </p:nvSpPr>
        <p:spPr>
          <a:xfrm>
            <a:off x="274320" y="1005840"/>
            <a:ext cx="4160520" cy="1783080"/>
          </a:xfrm>
          <a:prstGeom prst="roundRect">
            <a:avLst>
              <a:gd name="adj" fmla="val 4103"/>
            </a:avLst>
          </a:prstGeom>
          <a:solidFill>
            <a:srgbClr val="F5F5F5"/>
          </a:solidFill>
          <a:ln/>
        </p:spPr>
        <p:txBody>
          <a:bodyPr/>
          <a:lstStyle/>
          <a:p>
            <a:endParaRPr lang="en-US"/>
          </a:p>
        </p:txBody>
      </p:sp>
      <p:sp>
        <p:nvSpPr>
          <p:cNvPr id="6" name="Text 4"/>
          <p:cNvSpPr/>
          <p:nvPr/>
        </p:nvSpPr>
        <p:spPr>
          <a:xfrm>
            <a:off x="457200" y="1097280"/>
            <a:ext cx="3794760" cy="1600200"/>
          </a:xfrm>
          <a:prstGeom prst="rect">
            <a:avLst/>
          </a:prstGeom>
          <a:noFill/>
          <a:ln/>
        </p:spPr>
        <p:txBody>
          <a:bodyPr wrap="square" lIns="0" tIns="0" rIns="0" bIns="0" rtlCol="0" anchor="ctr"/>
          <a:lstStyle/>
          <a:p>
            <a:pPr marL="0" indent="0" algn="ctr">
              <a:spcAft>
                <a:spcPts val="600"/>
              </a:spcAft>
              <a:buNone/>
            </a:pPr>
            <a:r>
              <a:rPr lang="en-US" sz="4400" b="1" dirty="0">
                <a:solidFill>
                  <a:srgbClr val="0000CD"/>
                </a:solidFill>
              </a:rPr>
              <a:t>1.00</a:t>
            </a:r>
            <a:endParaRPr lang="en-US" sz="4400" dirty="0"/>
          </a:p>
          <a:p>
            <a:pPr marL="0" indent="0" algn="ctr">
              <a:spcAft>
                <a:spcPts val="800"/>
              </a:spcAft>
              <a:buNone/>
            </a:pPr>
            <a:r>
              <a:rPr lang="en-US" sz="1100" b="1" dirty="0">
                <a:solidFill>
                  <a:srgbClr val="1A1A1A"/>
                </a:solidFill>
              </a:rPr>
              <a:t>Precision  ·  all four kinds</a:t>
            </a:r>
            <a:endParaRPr lang="en-US" sz="4400" dirty="0"/>
          </a:p>
          <a:p>
            <a:pPr marL="0" indent="0" algn="ctr">
              <a:buNone/>
            </a:pPr>
            <a:r>
              <a:rPr lang="en-US" sz="1000" i="1" dirty="0">
                <a:solidFill>
                  <a:srgbClr val="555555"/>
                </a:solidFill>
              </a:rPr>
              <a:t>When the detector flags a divergence, it's never a false positive. (45 labelled sessions, three raters at Cohen's κ ≥ 0.72.)</a:t>
            </a:r>
            <a:endParaRPr lang="en-US" sz="4400" dirty="0"/>
          </a:p>
        </p:txBody>
      </p:sp>
      <p:sp>
        <p:nvSpPr>
          <p:cNvPr id="7" name="Shape 5"/>
          <p:cNvSpPr/>
          <p:nvPr/>
        </p:nvSpPr>
        <p:spPr>
          <a:xfrm>
            <a:off x="4709160" y="1005840"/>
            <a:ext cx="4160520" cy="1783080"/>
          </a:xfrm>
          <a:prstGeom prst="roundRect">
            <a:avLst>
              <a:gd name="adj" fmla="val 4103"/>
            </a:avLst>
          </a:prstGeom>
          <a:solidFill>
            <a:srgbClr val="F5F5F5"/>
          </a:solidFill>
          <a:ln/>
        </p:spPr>
        <p:txBody>
          <a:bodyPr/>
          <a:lstStyle/>
          <a:p>
            <a:endParaRPr lang="en-US"/>
          </a:p>
        </p:txBody>
      </p:sp>
      <p:sp>
        <p:nvSpPr>
          <p:cNvPr id="8" name="Text 6"/>
          <p:cNvSpPr/>
          <p:nvPr/>
        </p:nvSpPr>
        <p:spPr>
          <a:xfrm>
            <a:off x="4892040" y="1097280"/>
            <a:ext cx="3794760" cy="1600200"/>
          </a:xfrm>
          <a:prstGeom prst="rect">
            <a:avLst/>
          </a:prstGeom>
          <a:noFill/>
          <a:ln/>
        </p:spPr>
        <p:txBody>
          <a:bodyPr wrap="square" lIns="0" tIns="0" rIns="0" bIns="0" rtlCol="0" anchor="ctr"/>
          <a:lstStyle/>
          <a:p>
            <a:pPr marL="0" indent="0" algn="ctr">
              <a:spcAft>
                <a:spcPts val="600"/>
              </a:spcAft>
              <a:buNone/>
            </a:pPr>
            <a:r>
              <a:rPr lang="en-US" sz="4400" b="1" dirty="0">
                <a:solidFill>
                  <a:srgbClr val="0000CD"/>
                </a:solidFill>
              </a:rPr>
              <a:t>62%</a:t>
            </a:r>
            <a:endParaRPr lang="en-US" sz="4400" dirty="0"/>
          </a:p>
          <a:p>
            <a:pPr marL="0" indent="0" algn="ctr">
              <a:spcAft>
                <a:spcPts val="800"/>
              </a:spcAft>
              <a:buNone/>
            </a:pPr>
            <a:r>
              <a:rPr lang="en-US" sz="1100" b="1" dirty="0">
                <a:solidFill>
                  <a:srgbClr val="1A1A1A"/>
                </a:solidFill>
              </a:rPr>
              <a:t>Alternatives beat user trajectory  ·  41 of 66</a:t>
            </a:r>
            <a:endParaRPr lang="en-US" sz="4400" dirty="0"/>
          </a:p>
          <a:p>
            <a:pPr marL="0" indent="0" algn="ctr">
              <a:buNone/>
            </a:pPr>
            <a:r>
              <a:rPr lang="en-US" sz="1000" i="1" dirty="0">
                <a:solidFill>
                  <a:srgbClr val="555555"/>
                </a:solidFill>
              </a:rPr>
              <a:t>When the tool flags a divergence, the synthesised alternative usually scores higher than the path the user actually took.</a:t>
            </a:r>
            <a:endParaRPr lang="en-US" sz="4400" dirty="0"/>
          </a:p>
        </p:txBody>
      </p:sp>
      <p:sp>
        <p:nvSpPr>
          <p:cNvPr id="9" name="Shape 7"/>
          <p:cNvSpPr/>
          <p:nvPr/>
        </p:nvSpPr>
        <p:spPr>
          <a:xfrm>
            <a:off x="274320" y="2926080"/>
            <a:ext cx="4160520" cy="1691640"/>
          </a:xfrm>
          <a:prstGeom prst="roundRect">
            <a:avLst>
              <a:gd name="adj" fmla="val 4324"/>
            </a:avLst>
          </a:prstGeom>
          <a:solidFill>
            <a:srgbClr val="F5F5F5"/>
          </a:solidFill>
          <a:ln/>
        </p:spPr>
        <p:txBody>
          <a:bodyPr/>
          <a:lstStyle/>
          <a:p>
            <a:endParaRPr lang="en-US"/>
          </a:p>
        </p:txBody>
      </p:sp>
      <p:sp>
        <p:nvSpPr>
          <p:cNvPr id="10" name="Text 8"/>
          <p:cNvSpPr/>
          <p:nvPr/>
        </p:nvSpPr>
        <p:spPr>
          <a:xfrm>
            <a:off x="457200" y="3017520"/>
            <a:ext cx="3794760" cy="1508760"/>
          </a:xfrm>
          <a:prstGeom prst="rect">
            <a:avLst/>
          </a:prstGeom>
          <a:noFill/>
          <a:ln/>
        </p:spPr>
        <p:txBody>
          <a:bodyPr wrap="square" lIns="0" tIns="0" rIns="0" bIns="0" rtlCol="0" anchor="ctr"/>
          <a:lstStyle/>
          <a:p>
            <a:pPr marL="0" indent="0" algn="ctr">
              <a:spcAft>
                <a:spcPts val="600"/>
              </a:spcAft>
              <a:buNone/>
            </a:pPr>
            <a:r>
              <a:rPr lang="en-US" sz="2200" b="1" dirty="0">
                <a:solidFill>
                  <a:srgbClr val="0000CD"/>
                </a:solidFill>
              </a:rPr>
              <a:t>1.00  /  1.00  /  0.76  /  0.36</a:t>
            </a:r>
            <a:endParaRPr lang="en-US" sz="2200" dirty="0"/>
          </a:p>
          <a:p>
            <a:pPr marL="0" indent="0" algn="ctr">
              <a:spcAft>
                <a:spcPts val="800"/>
              </a:spcAft>
              <a:buNone/>
            </a:pPr>
            <a:r>
              <a:rPr lang="en-US" sz="1100" b="1" dirty="0">
                <a:solidFill>
                  <a:srgbClr val="1A1A1A"/>
                </a:solidFill>
              </a:rPr>
              <a:t>Recall  ·  Hygiene / Rework / MR / Ordering</a:t>
            </a:r>
            <a:endParaRPr lang="en-US" sz="2200" dirty="0"/>
          </a:p>
          <a:p>
            <a:pPr marL="0" indent="0" algn="ctr">
              <a:buNone/>
            </a:pPr>
            <a:r>
              <a:rPr lang="en-US" sz="1000" i="1" dirty="0">
                <a:solidFill>
                  <a:srgbClr val="555555"/>
                </a:solidFill>
              </a:rPr>
              <a:t>Three kinds catch everything; Ordering's validator is deliberately conservative - a known scope limit.</a:t>
            </a:r>
            <a:endParaRPr lang="en-US" sz="2200" dirty="0"/>
          </a:p>
        </p:txBody>
      </p:sp>
      <p:sp>
        <p:nvSpPr>
          <p:cNvPr id="11" name="Shape 9"/>
          <p:cNvSpPr/>
          <p:nvPr/>
        </p:nvSpPr>
        <p:spPr>
          <a:xfrm>
            <a:off x="4709160" y="2926080"/>
            <a:ext cx="4160520" cy="1691640"/>
          </a:xfrm>
          <a:prstGeom prst="roundRect">
            <a:avLst>
              <a:gd name="adj" fmla="val 4324"/>
            </a:avLst>
          </a:prstGeom>
          <a:solidFill>
            <a:srgbClr val="F5F5F5"/>
          </a:solidFill>
          <a:ln/>
        </p:spPr>
        <p:txBody>
          <a:bodyPr/>
          <a:lstStyle/>
          <a:p>
            <a:endParaRPr lang="en-US"/>
          </a:p>
        </p:txBody>
      </p:sp>
      <p:sp>
        <p:nvSpPr>
          <p:cNvPr id="12" name="Text 10"/>
          <p:cNvSpPr/>
          <p:nvPr/>
        </p:nvSpPr>
        <p:spPr>
          <a:xfrm>
            <a:off x="4892040" y="3017520"/>
            <a:ext cx="3794760" cy="1508760"/>
          </a:xfrm>
          <a:prstGeom prst="rect">
            <a:avLst/>
          </a:prstGeom>
          <a:noFill/>
          <a:ln/>
        </p:spPr>
        <p:txBody>
          <a:bodyPr wrap="square" lIns="0" tIns="0" rIns="0" bIns="0" rtlCol="0" anchor="ctr"/>
          <a:lstStyle/>
          <a:p>
            <a:pPr marL="0" indent="0" algn="ctr">
              <a:spcAft>
                <a:spcPts val="600"/>
              </a:spcAft>
              <a:buNone/>
            </a:pPr>
            <a:r>
              <a:rPr lang="en-US" sz="2200" b="1" dirty="0">
                <a:solidFill>
                  <a:srgbClr val="0000CD"/>
                </a:solidFill>
              </a:rPr>
              <a:t>100%  /  75%  /  46%  /  42%</a:t>
            </a:r>
            <a:endParaRPr lang="en-US" sz="2200" dirty="0"/>
          </a:p>
          <a:p>
            <a:pPr marL="0" indent="0" algn="ctr">
              <a:spcAft>
                <a:spcPts val="800"/>
              </a:spcAft>
              <a:buNone/>
            </a:pPr>
            <a:r>
              <a:rPr lang="en-US" sz="1100" b="1" dirty="0">
                <a:solidFill>
                  <a:srgbClr val="1A1A1A"/>
                </a:solidFill>
              </a:rPr>
              <a:t>Beat rate by kind  ·  Hygiene / MR / Rework / Ordering</a:t>
            </a:r>
            <a:endParaRPr lang="en-US" sz="2200" dirty="0"/>
          </a:p>
          <a:p>
            <a:pPr marL="0" indent="0" algn="ctr">
              <a:buNone/>
            </a:pPr>
            <a:r>
              <a:rPr lang="en-US" sz="1000" i="1" dirty="0">
                <a:solidFill>
                  <a:srgbClr val="555555"/>
                </a:solidFill>
              </a:rPr>
              <a:t>Hygiene and Manual-Refactor reliably improve the score; Ordering ties often because alternatives reach the same end state.</a:t>
            </a:r>
            <a:endParaRPr lang="en-US" sz="2200" dirty="0"/>
          </a:p>
        </p:txBody>
      </p:sp>
      <p:sp>
        <p:nvSpPr>
          <p:cNvPr id="13" name="Text 11"/>
          <p:cNvSpPr/>
          <p:nvPr/>
        </p:nvSpPr>
        <p:spPr>
          <a:xfrm>
            <a:off x="457200" y="4709160"/>
            <a:ext cx="8229600" cy="365760"/>
          </a:xfrm>
          <a:prstGeom prst="rect">
            <a:avLst/>
          </a:prstGeom>
          <a:noFill/>
          <a:ln/>
        </p:spPr>
        <p:txBody>
          <a:bodyPr wrap="square" lIns="0" tIns="0" rIns="0" bIns="0" rtlCol="0" anchor="ctr"/>
          <a:lstStyle/>
          <a:p>
            <a:pPr marL="0" indent="0" algn="ctr">
              <a:buNone/>
            </a:pPr>
            <a:r>
              <a:rPr lang="en-US" sz="1100" i="1" dirty="0">
                <a:solidFill>
                  <a:srgbClr val="0000CD"/>
                </a:solidFill>
              </a:rPr>
              <a:t>Precision-perfect detection, balanced recall (one known scope limit on Ordering), and a higher-scoring alternative in roughly two-thirds of detected moments.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marL="0" indent="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marL="0" indent="0" algn="ctr">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marL="0" indent="0" algn="ctr">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txBody>
          <a:bodyPr/>
          <a:lstStyle/>
          <a:p>
            <a:endParaRPr lang="en-US"/>
          </a:p>
        </p:txBody>
      </p:sp>
      <p:sp>
        <p:nvSpPr>
          <p:cNvPr id="10" name="Text 8"/>
          <p:cNvSpPr/>
          <p:nvPr/>
        </p:nvSpPr>
        <p:spPr>
          <a:xfrm>
            <a:off x="1188720" y="1289304"/>
            <a:ext cx="1143000" cy="548640"/>
          </a:xfrm>
          <a:prstGeom prst="rect">
            <a:avLst/>
          </a:prstGeom>
          <a:noFill/>
          <a:ln/>
        </p:spPr>
        <p:txBody>
          <a:bodyPr wrap="square" lIns="0" tIns="0" rIns="0" bIns="0" rtlCol="0" anchor="ctr"/>
          <a:lstStyle/>
          <a:p>
            <a:pPr marL="0" indent="0" algn="ctr">
              <a:buNone/>
            </a:pPr>
            <a:r>
              <a:rPr lang="en-US" sz="2000" b="1" dirty="0">
                <a:solidFill>
                  <a:srgbClr val="0A7D2A"/>
                </a:solidFill>
              </a:rPr>
              <a:t>16</a:t>
            </a:r>
            <a:endParaRPr lang="en-US" sz="2000" dirty="0"/>
          </a:p>
          <a:p>
            <a:pPr marL="0" indent="0" algn="ctr">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txBody>
          <a:bodyPr/>
          <a:lstStyle/>
          <a:p>
            <a:endParaRPr lang="en-US"/>
          </a:p>
        </p:txBody>
      </p:sp>
      <p:sp>
        <p:nvSpPr>
          <p:cNvPr id="12" name="Text 10"/>
          <p:cNvSpPr/>
          <p:nvPr/>
        </p:nvSpPr>
        <p:spPr>
          <a:xfrm>
            <a:off x="2331720" y="1289304"/>
            <a:ext cx="1143000" cy="548640"/>
          </a:xfrm>
          <a:prstGeom prst="rect">
            <a:avLst/>
          </a:prstGeom>
          <a:noFill/>
          <a:ln/>
        </p:spPr>
        <p:txBody>
          <a:bodyPr wrap="square" lIns="0" tIns="0" rIns="0" bIns="0" rtlCol="0" anchor="ctr"/>
          <a:lstStyle/>
          <a:p>
            <a:pPr marL="0" indent="0" algn="ctr">
              <a:buNone/>
            </a:pPr>
            <a:r>
              <a:rPr lang="en-US" sz="2000" b="1" dirty="0">
                <a:solidFill>
                  <a:srgbClr val="B33A1E"/>
                </a:solidFill>
              </a:rPr>
              <a:t>5</a:t>
            </a:r>
            <a:endParaRPr lang="en-US" sz="2000" dirty="0"/>
          </a:p>
          <a:p>
            <a:pPr marL="0" indent="0" algn="ctr">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txBody>
          <a:bodyPr/>
          <a:lstStyle/>
          <a:p>
            <a:endParaRPr lang="en-US"/>
          </a:p>
        </p:txBody>
      </p:sp>
      <p:sp>
        <p:nvSpPr>
          <p:cNvPr id="14" name="Text 12"/>
          <p:cNvSpPr/>
          <p:nvPr/>
        </p:nvSpPr>
        <p:spPr>
          <a:xfrm>
            <a:off x="1188720" y="1837944"/>
            <a:ext cx="1143000" cy="548640"/>
          </a:xfrm>
          <a:prstGeom prst="rect">
            <a:avLst/>
          </a:prstGeom>
          <a:noFill/>
          <a:ln/>
        </p:spPr>
        <p:txBody>
          <a:bodyPr wrap="square" lIns="0" tIns="0" rIns="0" bIns="0" rtlCol="0" anchor="ctr"/>
          <a:lstStyle/>
          <a:p>
            <a:pPr marL="0" indent="0" algn="ctr">
              <a:buNone/>
            </a:pPr>
            <a:r>
              <a:rPr lang="en-US" sz="2000" b="1" dirty="0">
                <a:solidFill>
                  <a:srgbClr val="888888"/>
                </a:solidFill>
              </a:rPr>
              <a:t>0</a:t>
            </a:r>
            <a:endParaRPr lang="en-US" sz="2000" dirty="0"/>
          </a:p>
          <a:p>
            <a:pPr marL="0" indent="0" algn="ctr">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txBody>
          <a:bodyPr/>
          <a:lstStyle/>
          <a:p>
            <a:endParaRPr lang="en-US"/>
          </a:p>
        </p:txBody>
      </p:sp>
      <p:sp>
        <p:nvSpPr>
          <p:cNvPr id="16" name="Text 14"/>
          <p:cNvSpPr/>
          <p:nvPr/>
        </p:nvSpPr>
        <p:spPr>
          <a:xfrm>
            <a:off x="2331720" y="1837944"/>
            <a:ext cx="1143000" cy="548640"/>
          </a:xfrm>
          <a:prstGeom prst="rect">
            <a:avLst/>
          </a:prstGeom>
          <a:noFill/>
          <a:ln/>
        </p:spPr>
        <p:txBody>
          <a:bodyPr wrap="square" lIns="0" tIns="0" rIns="0" bIns="0" rtlCol="0" anchor="ctr"/>
          <a:lstStyle/>
          <a:p>
            <a:pPr marL="0" indent="0" algn="ctr">
              <a:buNone/>
            </a:pPr>
            <a:r>
              <a:rPr lang="en-US" sz="2000" b="1" dirty="0">
                <a:solidFill>
                  <a:srgbClr val="555555"/>
                </a:solidFill>
              </a:rPr>
              <a:t>24</a:t>
            </a:r>
            <a:endParaRPr lang="en-US" sz="2000" dirty="0"/>
          </a:p>
          <a:p>
            <a:pPr marL="0" indent="0" algn="ctr">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marL="0" indent="0" algn="ctr">
              <a:buNone/>
            </a:pPr>
            <a:r>
              <a:rPr lang="en-US" sz="1100" i="1" dirty="0">
                <a:solidFill>
                  <a:srgbClr val="555555"/>
                </a:solidFill>
              </a:rPr>
              <a:t>Precision </a:t>
            </a:r>
            <a:r>
              <a:rPr lang="en-US" sz="1100" b="1" i="1" dirty="0">
                <a:solidFill>
                  <a:srgbClr val="1A1A1A"/>
                </a:solidFill>
              </a:rPr>
              <a:t>1.00</a:t>
            </a:r>
            <a:r>
              <a:rPr lang="en-US" sz="1100" i="1" dirty="0">
                <a:solidFill>
                  <a:srgbClr val="555555"/>
                </a:solidFill>
              </a:rPr>
              <a:t>   ·   Recall </a:t>
            </a: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marL="0" indent="0" algn="ctr">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txBody>
          <a:bodyPr/>
          <a:lstStyle/>
          <a:p>
            <a:endParaRPr lang="en-US"/>
          </a:p>
        </p:txBody>
      </p:sp>
      <p:sp>
        <p:nvSpPr>
          <p:cNvPr id="24" name="Text 22"/>
          <p:cNvSpPr/>
          <p:nvPr/>
        </p:nvSpPr>
        <p:spPr>
          <a:xfrm>
            <a:off x="5303520" y="1289304"/>
            <a:ext cx="1143000" cy="548640"/>
          </a:xfrm>
          <a:prstGeom prst="rect">
            <a:avLst/>
          </a:prstGeom>
          <a:noFill/>
          <a:ln/>
        </p:spPr>
        <p:txBody>
          <a:bodyPr wrap="square" lIns="0" tIns="0" rIns="0" bIns="0" rtlCol="0" anchor="ctr"/>
          <a:lstStyle/>
          <a:p>
            <a:pPr marL="0" indent="0" algn="ctr">
              <a:buNone/>
            </a:pPr>
            <a:r>
              <a:rPr lang="en-US" sz="2000" b="1" dirty="0">
                <a:solidFill>
                  <a:srgbClr val="0A7D2A"/>
                </a:solidFill>
              </a:rPr>
              <a:t>14</a:t>
            </a:r>
            <a:endParaRPr lang="en-US" sz="2000" dirty="0"/>
          </a:p>
          <a:p>
            <a:pPr marL="0" indent="0" algn="ctr">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txBody>
          <a:bodyPr/>
          <a:lstStyle/>
          <a:p>
            <a:endParaRPr lang="en-US"/>
          </a:p>
        </p:txBody>
      </p:sp>
      <p:sp>
        <p:nvSpPr>
          <p:cNvPr id="26" name="Text 24"/>
          <p:cNvSpPr/>
          <p:nvPr/>
        </p:nvSpPr>
        <p:spPr>
          <a:xfrm>
            <a:off x="6446520" y="1289304"/>
            <a:ext cx="1143000" cy="548640"/>
          </a:xfrm>
          <a:prstGeom prst="rect">
            <a:avLst/>
          </a:prstGeom>
          <a:noFill/>
          <a:ln/>
        </p:spPr>
        <p:txBody>
          <a:bodyPr wrap="square" lIns="0" tIns="0" rIns="0" bIns="0" rtlCol="0" anchor="ctr"/>
          <a:lstStyle/>
          <a:p>
            <a:pPr marL="0" indent="0" algn="ctr">
              <a:buNone/>
            </a:pPr>
            <a:r>
              <a:rPr lang="en-US" sz="2000" b="1" dirty="0">
                <a:solidFill>
                  <a:srgbClr val="B33A1E"/>
                </a:solidFill>
              </a:rPr>
              <a:t>24</a:t>
            </a:r>
            <a:endParaRPr lang="en-US" sz="2000" dirty="0"/>
          </a:p>
          <a:p>
            <a:pPr marL="0" indent="0" algn="ctr">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txBody>
          <a:bodyPr/>
          <a:lstStyle/>
          <a:p>
            <a:endParaRPr lang="en-US"/>
          </a:p>
        </p:txBody>
      </p:sp>
      <p:sp>
        <p:nvSpPr>
          <p:cNvPr id="28" name="Text 26"/>
          <p:cNvSpPr/>
          <p:nvPr/>
        </p:nvSpPr>
        <p:spPr>
          <a:xfrm>
            <a:off x="5303520" y="1837944"/>
            <a:ext cx="1143000" cy="548640"/>
          </a:xfrm>
          <a:prstGeom prst="rect">
            <a:avLst/>
          </a:prstGeom>
          <a:noFill/>
          <a:ln/>
        </p:spPr>
        <p:txBody>
          <a:bodyPr wrap="square" lIns="0" tIns="0" rIns="0" bIns="0" rtlCol="0" anchor="ctr"/>
          <a:lstStyle/>
          <a:p>
            <a:pPr marL="0" indent="0" algn="ctr">
              <a:buNone/>
            </a:pPr>
            <a:r>
              <a:rPr lang="en-US" sz="2000" b="1" dirty="0">
                <a:solidFill>
                  <a:srgbClr val="888888"/>
                </a:solidFill>
              </a:rPr>
              <a:t>0</a:t>
            </a:r>
            <a:endParaRPr lang="en-US" sz="2000" dirty="0"/>
          </a:p>
          <a:p>
            <a:pPr marL="0" indent="0" algn="ctr">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txBody>
          <a:bodyPr/>
          <a:lstStyle/>
          <a:p>
            <a:endParaRPr lang="en-US"/>
          </a:p>
        </p:txBody>
      </p:sp>
      <p:sp>
        <p:nvSpPr>
          <p:cNvPr id="30" name="Text 28"/>
          <p:cNvSpPr/>
          <p:nvPr/>
        </p:nvSpPr>
        <p:spPr>
          <a:xfrm>
            <a:off x="6446520" y="1837944"/>
            <a:ext cx="1143000" cy="548640"/>
          </a:xfrm>
          <a:prstGeom prst="rect">
            <a:avLst/>
          </a:prstGeom>
          <a:noFill/>
          <a:ln/>
        </p:spPr>
        <p:txBody>
          <a:bodyPr wrap="square" lIns="0" tIns="0" rIns="0" bIns="0" rtlCol="0" anchor="ctr"/>
          <a:lstStyle/>
          <a:p>
            <a:pPr marL="0" indent="0" algn="ctr">
              <a:buNone/>
            </a:pPr>
            <a:r>
              <a:rPr lang="en-US" sz="2000" b="1" dirty="0">
                <a:solidFill>
                  <a:srgbClr val="555555"/>
                </a:solidFill>
              </a:rPr>
              <a:t>7</a:t>
            </a:r>
            <a:endParaRPr lang="en-US" sz="2000" dirty="0"/>
          </a:p>
          <a:p>
            <a:pPr marL="0" indent="0" algn="ctr">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marL="0" indent="0" algn="ctr">
              <a:buNone/>
            </a:pPr>
            <a:r>
              <a:rPr lang="en-US" sz="1100" i="1" dirty="0">
                <a:solidFill>
                  <a:srgbClr val="555555"/>
                </a:solidFill>
              </a:rPr>
              <a:t>Precision </a:t>
            </a:r>
            <a:r>
              <a:rPr lang="en-US" sz="1100" b="1" i="1" dirty="0">
                <a:solidFill>
                  <a:srgbClr val="1A1A1A"/>
                </a:solidFill>
              </a:rPr>
              <a:t>1.00</a:t>
            </a:r>
            <a:r>
              <a:rPr lang="en-US" sz="1100" i="1" dirty="0">
                <a:solidFill>
                  <a:srgbClr val="555555"/>
                </a:solidFill>
              </a:rPr>
              <a:t>   ·   Recall </a:t>
            </a: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marL="0" indent="0" algn="ctr">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txBody>
          <a:bodyPr/>
          <a:lstStyle/>
          <a:p>
            <a:endParaRPr lang="en-US"/>
          </a:p>
        </p:txBody>
      </p:sp>
      <p:sp>
        <p:nvSpPr>
          <p:cNvPr id="38" name="Text 36"/>
          <p:cNvSpPr/>
          <p:nvPr/>
        </p:nvSpPr>
        <p:spPr>
          <a:xfrm>
            <a:off x="1188720" y="3209544"/>
            <a:ext cx="1143000" cy="548640"/>
          </a:xfrm>
          <a:prstGeom prst="rect">
            <a:avLst/>
          </a:prstGeom>
          <a:noFill/>
          <a:ln/>
        </p:spPr>
        <p:txBody>
          <a:bodyPr wrap="square" lIns="0" tIns="0" rIns="0" bIns="0" rtlCol="0" anchor="ctr"/>
          <a:lstStyle/>
          <a:p>
            <a:pPr marL="0" indent="0" algn="ctr">
              <a:buNone/>
            </a:pPr>
            <a:r>
              <a:rPr lang="en-US" sz="2000" b="1" dirty="0">
                <a:solidFill>
                  <a:srgbClr val="0A7D2A"/>
                </a:solidFill>
              </a:rPr>
              <a:t>9</a:t>
            </a:r>
            <a:endParaRPr lang="en-US" sz="2000" dirty="0"/>
          </a:p>
          <a:p>
            <a:pPr marL="0" indent="0" algn="ctr">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txBody>
          <a:bodyPr/>
          <a:lstStyle/>
          <a:p>
            <a:endParaRPr lang="en-US"/>
          </a:p>
        </p:txBody>
      </p:sp>
      <p:sp>
        <p:nvSpPr>
          <p:cNvPr id="40" name="Text 38"/>
          <p:cNvSpPr/>
          <p:nvPr/>
        </p:nvSpPr>
        <p:spPr>
          <a:xfrm>
            <a:off x="2331720" y="3209544"/>
            <a:ext cx="1143000" cy="548640"/>
          </a:xfrm>
          <a:prstGeom prst="rect">
            <a:avLst/>
          </a:prstGeom>
          <a:noFill/>
          <a:ln/>
        </p:spPr>
        <p:txBody>
          <a:bodyPr wrap="square" lIns="0" tIns="0" rIns="0" bIns="0" rtlCol="0" anchor="ctr"/>
          <a:lstStyle/>
          <a:p>
            <a:pPr marL="0" indent="0" algn="ctr">
              <a:buNone/>
            </a:pPr>
            <a:r>
              <a:rPr lang="en-US" sz="2000" b="1" dirty="0">
                <a:solidFill>
                  <a:srgbClr val="B33A1E"/>
                </a:solidFill>
              </a:rPr>
              <a:t>0</a:t>
            </a:r>
            <a:endParaRPr lang="en-US" sz="2000" dirty="0"/>
          </a:p>
          <a:p>
            <a:pPr marL="0" indent="0" algn="ctr">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txBody>
          <a:bodyPr/>
          <a:lstStyle/>
          <a:p>
            <a:endParaRPr lang="en-US"/>
          </a:p>
        </p:txBody>
      </p:sp>
      <p:sp>
        <p:nvSpPr>
          <p:cNvPr id="42" name="Text 40"/>
          <p:cNvSpPr/>
          <p:nvPr/>
        </p:nvSpPr>
        <p:spPr>
          <a:xfrm>
            <a:off x="1188720" y="3758184"/>
            <a:ext cx="1143000" cy="548640"/>
          </a:xfrm>
          <a:prstGeom prst="rect">
            <a:avLst/>
          </a:prstGeom>
          <a:noFill/>
          <a:ln/>
        </p:spPr>
        <p:txBody>
          <a:bodyPr wrap="square" lIns="0" tIns="0" rIns="0" bIns="0" rtlCol="0" anchor="ctr"/>
          <a:lstStyle/>
          <a:p>
            <a:pPr marL="0" indent="0" algn="ctr">
              <a:buNone/>
            </a:pPr>
            <a:r>
              <a:rPr lang="en-US" sz="2000" b="1" dirty="0">
                <a:solidFill>
                  <a:srgbClr val="888888"/>
                </a:solidFill>
              </a:rPr>
              <a:t>0</a:t>
            </a:r>
            <a:endParaRPr lang="en-US" sz="2000" dirty="0"/>
          </a:p>
          <a:p>
            <a:pPr marL="0" indent="0" algn="ctr">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txBody>
          <a:bodyPr/>
          <a:lstStyle/>
          <a:p>
            <a:endParaRPr lang="en-US"/>
          </a:p>
        </p:txBody>
      </p:sp>
      <p:sp>
        <p:nvSpPr>
          <p:cNvPr id="44" name="Text 42"/>
          <p:cNvSpPr/>
          <p:nvPr/>
        </p:nvSpPr>
        <p:spPr>
          <a:xfrm>
            <a:off x="2331720" y="3758184"/>
            <a:ext cx="1143000" cy="548640"/>
          </a:xfrm>
          <a:prstGeom prst="rect">
            <a:avLst/>
          </a:prstGeom>
          <a:noFill/>
          <a:ln/>
        </p:spPr>
        <p:txBody>
          <a:bodyPr wrap="square" lIns="0" tIns="0" rIns="0" bIns="0" rtlCol="0" anchor="ctr"/>
          <a:lstStyle/>
          <a:p>
            <a:pPr marL="0" indent="0" algn="ctr">
              <a:buNone/>
            </a:pPr>
            <a:r>
              <a:rPr lang="en-US" sz="2000" b="1" dirty="0">
                <a:solidFill>
                  <a:srgbClr val="555555"/>
                </a:solidFill>
              </a:rPr>
              <a:t>36</a:t>
            </a:r>
            <a:endParaRPr lang="en-US" sz="2000" dirty="0"/>
          </a:p>
          <a:p>
            <a:pPr marL="0" indent="0" algn="ctr">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marL="0" indent="0" algn="ctr">
              <a:buNone/>
            </a:pPr>
            <a:r>
              <a:rPr lang="en-US" sz="1100" i="1" dirty="0">
                <a:solidFill>
                  <a:srgbClr val="555555"/>
                </a:solidFill>
              </a:rPr>
              <a:t>Precision </a:t>
            </a:r>
            <a:r>
              <a:rPr lang="en-US" sz="1100" b="1" i="1" dirty="0">
                <a:solidFill>
                  <a:srgbClr val="1A1A1A"/>
                </a:solidFill>
              </a:rPr>
              <a:t>1.00</a:t>
            </a:r>
            <a:r>
              <a:rPr lang="en-US" sz="1100" i="1" dirty="0">
                <a:solidFill>
                  <a:srgbClr val="555555"/>
                </a:solidFill>
              </a:rPr>
              <a:t>   ·   Recall </a:t>
            </a: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marL="0" indent="0" algn="ctr">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txBody>
          <a:bodyPr/>
          <a:lstStyle/>
          <a:p>
            <a:endParaRPr lang="en-US"/>
          </a:p>
        </p:txBody>
      </p:sp>
      <p:sp>
        <p:nvSpPr>
          <p:cNvPr id="52" name="Text 50"/>
          <p:cNvSpPr/>
          <p:nvPr/>
        </p:nvSpPr>
        <p:spPr>
          <a:xfrm>
            <a:off x="5303520" y="3209544"/>
            <a:ext cx="1143000" cy="548640"/>
          </a:xfrm>
          <a:prstGeom prst="rect">
            <a:avLst/>
          </a:prstGeom>
          <a:noFill/>
          <a:ln/>
        </p:spPr>
        <p:txBody>
          <a:bodyPr wrap="square" lIns="0" tIns="0" rIns="0" bIns="0" rtlCol="0" anchor="ctr"/>
          <a:lstStyle/>
          <a:p>
            <a:pPr marL="0" indent="0" algn="ctr">
              <a:buNone/>
            </a:pPr>
            <a:r>
              <a:rPr lang="en-US" sz="2000" b="1" dirty="0">
                <a:solidFill>
                  <a:srgbClr val="0A7D2A"/>
                </a:solidFill>
              </a:rPr>
              <a:t>8</a:t>
            </a:r>
            <a:endParaRPr lang="en-US" sz="2000" dirty="0"/>
          </a:p>
          <a:p>
            <a:pPr marL="0" indent="0" algn="ctr">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txBody>
          <a:bodyPr/>
          <a:lstStyle/>
          <a:p>
            <a:endParaRPr lang="en-US"/>
          </a:p>
        </p:txBody>
      </p:sp>
      <p:sp>
        <p:nvSpPr>
          <p:cNvPr id="54" name="Text 52"/>
          <p:cNvSpPr/>
          <p:nvPr/>
        </p:nvSpPr>
        <p:spPr>
          <a:xfrm>
            <a:off x="6446520" y="3209544"/>
            <a:ext cx="1143000" cy="548640"/>
          </a:xfrm>
          <a:prstGeom prst="rect">
            <a:avLst/>
          </a:prstGeom>
          <a:noFill/>
          <a:ln/>
        </p:spPr>
        <p:txBody>
          <a:bodyPr wrap="square" lIns="0" tIns="0" rIns="0" bIns="0" rtlCol="0" anchor="ctr"/>
          <a:lstStyle/>
          <a:p>
            <a:pPr marL="0" indent="0" algn="ctr">
              <a:buNone/>
            </a:pPr>
            <a:r>
              <a:rPr lang="en-US" sz="2000" b="1" dirty="0">
                <a:solidFill>
                  <a:srgbClr val="B33A1E"/>
                </a:solidFill>
              </a:rPr>
              <a:t>0</a:t>
            </a:r>
            <a:endParaRPr lang="en-US" sz="2000" dirty="0"/>
          </a:p>
          <a:p>
            <a:pPr marL="0" indent="0" algn="ctr">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txBody>
          <a:bodyPr/>
          <a:lstStyle/>
          <a:p>
            <a:endParaRPr lang="en-US"/>
          </a:p>
        </p:txBody>
      </p:sp>
      <p:sp>
        <p:nvSpPr>
          <p:cNvPr id="56" name="Text 54"/>
          <p:cNvSpPr/>
          <p:nvPr/>
        </p:nvSpPr>
        <p:spPr>
          <a:xfrm>
            <a:off x="5303520" y="3758184"/>
            <a:ext cx="1143000" cy="548640"/>
          </a:xfrm>
          <a:prstGeom prst="rect">
            <a:avLst/>
          </a:prstGeom>
          <a:noFill/>
          <a:ln/>
        </p:spPr>
        <p:txBody>
          <a:bodyPr wrap="square" lIns="0" tIns="0" rIns="0" bIns="0" rtlCol="0" anchor="ctr"/>
          <a:lstStyle/>
          <a:p>
            <a:pPr marL="0" indent="0" algn="ctr">
              <a:buNone/>
            </a:pPr>
            <a:r>
              <a:rPr lang="en-US" sz="2000" b="1" dirty="0">
                <a:solidFill>
                  <a:srgbClr val="888888"/>
                </a:solidFill>
              </a:rPr>
              <a:t>0</a:t>
            </a:r>
            <a:endParaRPr lang="en-US" sz="2000" dirty="0"/>
          </a:p>
          <a:p>
            <a:pPr marL="0" indent="0" algn="ctr">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txBody>
          <a:bodyPr/>
          <a:lstStyle/>
          <a:p>
            <a:endParaRPr lang="en-US"/>
          </a:p>
        </p:txBody>
      </p:sp>
      <p:sp>
        <p:nvSpPr>
          <p:cNvPr id="58" name="Text 56"/>
          <p:cNvSpPr/>
          <p:nvPr/>
        </p:nvSpPr>
        <p:spPr>
          <a:xfrm>
            <a:off x="6446520" y="3758184"/>
            <a:ext cx="1143000" cy="548640"/>
          </a:xfrm>
          <a:prstGeom prst="rect">
            <a:avLst/>
          </a:prstGeom>
          <a:noFill/>
          <a:ln/>
        </p:spPr>
        <p:txBody>
          <a:bodyPr wrap="square" lIns="0" tIns="0" rIns="0" bIns="0" rtlCol="0" anchor="ctr"/>
          <a:lstStyle/>
          <a:p>
            <a:pPr marL="0" indent="0" algn="ctr">
              <a:buNone/>
            </a:pPr>
            <a:r>
              <a:rPr lang="en-US" sz="2000" b="1" dirty="0">
                <a:solidFill>
                  <a:srgbClr val="555555"/>
                </a:solidFill>
              </a:rPr>
              <a:t>37</a:t>
            </a:r>
            <a:endParaRPr lang="en-US" sz="2000" dirty="0"/>
          </a:p>
          <a:p>
            <a:pPr marL="0" indent="0" algn="ctr">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marL="0" indent="0" algn="ctr">
              <a:buNone/>
            </a:pPr>
            <a:r>
              <a:rPr lang="en-US" sz="1100" i="1" dirty="0">
                <a:solidFill>
                  <a:srgbClr val="555555"/>
                </a:solidFill>
              </a:rPr>
              <a:t>Precision </a:t>
            </a:r>
            <a:r>
              <a:rPr lang="en-US" sz="1100" b="1" i="1" dirty="0">
                <a:solidFill>
                  <a:srgbClr val="1A1A1A"/>
                </a:solidFill>
              </a:rPr>
              <a:t>1.00</a:t>
            </a:r>
            <a:r>
              <a:rPr lang="en-US" sz="1100" i="1" dirty="0">
                <a:solidFill>
                  <a:srgbClr val="555555"/>
                </a:solidFill>
              </a:rPr>
              <a:t>   ·   Recall </a:t>
            </a: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marL="0" indent="0" algn="ctr">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marL="0" indent="0" algn="ctr">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marL="0" indent="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marL="0" indent="0" algn="ctr">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463040">
                  <a:extLst>
                    <a:ext uri="{9D8B030D-6E8A-4147-A177-3AD203B41FA5}">
                      <a16:colId xmlns:a16="http://schemas.microsoft.com/office/drawing/2014/main" val="20006"/>
                    </a:ext>
                  </a:extLst>
                </a:gridCol>
              </a:tblGrid>
              <a:tr h="411480">
                <a:tc>
                  <a:txBody>
                    <a:bodyPr/>
                    <a:lstStyle/>
                    <a:p>
                      <a:pPr marL="0" indent="0" algn="l">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extLst>
                  <a:ext uri="{0D108BD9-81ED-4DB2-BD59-A6C34878D82A}">
                    <a16:rowId xmlns:a16="http://schemas.microsoft.com/office/drawing/2014/main" val="10000"/>
                  </a:ext>
                </a:extLst>
              </a:tr>
              <a:tr h="411480">
                <a:tc>
                  <a:txBody>
                    <a:bodyPr/>
                    <a:lstStyle/>
                    <a:p>
                      <a:pPr marL="0" indent="0" algn="l">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marL="0" indent="0" algn="ctr">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marL="0" indent="0" algn="ctr">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marL="0" indent="0" algn="ctr">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lgn="l">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marL="0" indent="0" algn="ctr">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marL="0" indent="0" algn="ctr">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marL="0" indent="0" algn="ctr">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lgn="l">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marL="0" indent="0" algn="ctr">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marL="0" indent="0" algn="ctr">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marL="0" indent="0" algn="ctr">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lgn="l">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marL="0" indent="0" algn="ctr">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marL="0" indent="0" algn="ctr">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marL="0" indent="0" algn="ctr">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marL="0" indent="0" algn="ctr">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marL="0" indent="0" algn="ctr">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marL="0" indent="0" algn="ctr">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marL="762000" lvl="1" indent="-381000">
              <a:spcAft>
                <a:spcPts val="600"/>
              </a:spcAft>
              <a:buSzPct val="100000"/>
              <a:buChar char="•"/>
            </a:pPr>
            <a:r>
              <a:rPr lang="en-US" sz="1500" dirty="0">
                <a:solidFill>
                  <a:srgbClr val="000000"/>
                </a:solidFill>
              </a:rPr>
              <a:t>Two perturbation sweeps </a:t>
            </a:r>
            <a:r>
              <a:rPr lang="en-US" sz="1500" dirty="0">
                <a:solidFill>
                  <a:srgbClr val="888888"/>
                </a:solidFill>
              </a:rPr>
              <a:t>- single-knob (one weight scaled ×0.1 to ×10) + multi-knob Monte Carlo (200 samples, σ = ln 2, so ~×0.25 to ×4 of production).</a:t>
            </a:r>
            <a:endParaRPr lang="en-US" sz="1500" dirty="0"/>
          </a:p>
          <a:p>
            <a:pPr marL="762000" lvl="1" indent="-381000">
              <a:spcAft>
                <a:spcPts val="1800"/>
              </a:spcAft>
              <a:buSzPct val="100000"/>
              <a:buChar char="•"/>
            </a:pPr>
            <a:r>
              <a:rPr lang="en-US" sz="1500" dirty="0">
                <a:solidFill>
                  <a:srgbClr val="000000"/>
                </a:solidFill>
              </a:rPr>
              <a:t>Stability metrics </a:t>
            </a: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marL="762000" lvl="1" indent="-381000">
              <a:spcAft>
                <a:spcPts val="600"/>
              </a:spcAft>
              <a:buSzPct val="100000"/>
              <a:buChar char="•"/>
            </a:pPr>
            <a:r>
              <a:rPr lang="en-US" sz="1500" dirty="0">
                <a:solidFill>
                  <a:srgbClr val="000000"/>
                </a:solidFill>
              </a:rPr>
              <a:t>Process-side ablation </a:t>
            </a:r>
            <a:r>
              <a:rPr lang="en-US" sz="1500" dirty="0">
                <a:solidFill>
                  <a:srgbClr val="888888"/>
                </a:solidFill>
              </a:rPr>
              <a:t>- enumerate all 2⁷ = 128 subsets of the 7 process weights → 5,760 cases per session set.</a:t>
            </a:r>
            <a:endParaRPr lang="en-US" sz="1500" dirty="0"/>
          </a:p>
          <a:p>
            <a:pPr marL="762000" lvl="1" indent="-381000">
              <a:spcAft>
                <a:spcPts val="600"/>
              </a:spcAft>
              <a:buSzPct val="100000"/>
              <a:buChar char="•"/>
            </a:pPr>
            <a:r>
              <a:rPr lang="en-US" sz="1500" dirty="0">
                <a:solidFill>
                  <a:srgbClr val="000000"/>
                </a:solidFill>
              </a:rPr>
              <a:t>Recovery metrics </a:t>
            </a: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marL="0" indent="0" algn="ctr">
              <a:buNone/>
            </a:pPr>
            <a:r>
              <a:rPr lang="en-US" sz="2400" b="1" dirty="0">
                <a:solidFill>
                  <a:srgbClr val="000000"/>
                </a:solidFill>
              </a:rPr>
              <a:t>Experiment 2: Is the process score reliable?</a:t>
            </a:r>
            <a:endParaRPr lang="en-US" sz="2400" dirty="0"/>
          </a:p>
        </p:txBody>
      </p:sp>
      <p:sp>
        <p:nvSpPr>
          <p:cNvPr id="3" name="Text 1"/>
          <p:cNvSpPr/>
          <p:nvPr/>
        </p:nvSpPr>
        <p:spPr>
          <a:xfrm>
            <a:off x="274320" y="731520"/>
            <a:ext cx="4160520" cy="228600"/>
          </a:xfrm>
          <a:prstGeom prst="rect">
            <a:avLst/>
          </a:prstGeom>
          <a:noFill/>
          <a:ln/>
        </p:spPr>
        <p:txBody>
          <a:bodyPr wrap="square" lIns="0" tIns="0" rIns="0" bIns="0" rtlCol="0" anchor="ctr"/>
          <a:lstStyle/>
          <a:p>
            <a:pPr marL="0" indent="0" algn="ctr">
              <a:buNone/>
            </a:pPr>
            <a:r>
              <a:rPr lang="en-US" sz="1000" b="1" kern="0" spc="200" dirty="0">
                <a:solidFill>
                  <a:srgbClr val="888888"/>
                </a:solidFill>
              </a:rPr>
              <a:t>STABILITY</a:t>
            </a:r>
            <a:endParaRPr lang="en-US" sz="1000" dirty="0"/>
          </a:p>
        </p:txBody>
      </p:sp>
      <p:sp>
        <p:nvSpPr>
          <p:cNvPr id="4" name="Text 2"/>
          <p:cNvSpPr/>
          <p:nvPr/>
        </p:nvSpPr>
        <p:spPr>
          <a:xfrm>
            <a:off x="4709160" y="731520"/>
            <a:ext cx="4160520" cy="228600"/>
          </a:xfrm>
          <a:prstGeom prst="rect">
            <a:avLst/>
          </a:prstGeom>
          <a:noFill/>
          <a:ln/>
        </p:spPr>
        <p:txBody>
          <a:bodyPr wrap="square" lIns="0" tIns="0" rIns="0" bIns="0" rtlCol="0" anchor="ctr"/>
          <a:lstStyle/>
          <a:p>
            <a:pPr marL="0" indent="0" algn="ctr">
              <a:buNone/>
            </a:pPr>
            <a:r>
              <a:rPr lang="en-US" sz="1000" b="1" kern="0" spc="200" dirty="0">
                <a:solidFill>
                  <a:srgbClr val="888888"/>
                </a:solidFill>
              </a:rPr>
              <a:t>ABLATION</a:t>
            </a:r>
            <a:endParaRPr lang="en-US" sz="1000" dirty="0"/>
          </a:p>
        </p:txBody>
      </p:sp>
      <p:sp>
        <p:nvSpPr>
          <p:cNvPr id="5" name="Shape 3"/>
          <p:cNvSpPr/>
          <p:nvPr/>
        </p:nvSpPr>
        <p:spPr>
          <a:xfrm>
            <a:off x="274320" y="1005840"/>
            <a:ext cx="4160520" cy="1783080"/>
          </a:xfrm>
          <a:prstGeom prst="roundRect">
            <a:avLst>
              <a:gd name="adj" fmla="val 4103"/>
            </a:avLst>
          </a:prstGeom>
          <a:solidFill>
            <a:srgbClr val="F5F5F5"/>
          </a:solidFill>
          <a:ln/>
        </p:spPr>
        <p:txBody>
          <a:bodyPr/>
          <a:lstStyle/>
          <a:p>
            <a:endParaRPr lang="en-US"/>
          </a:p>
        </p:txBody>
      </p:sp>
      <p:sp>
        <p:nvSpPr>
          <p:cNvPr id="6" name="Text 4"/>
          <p:cNvSpPr/>
          <p:nvPr/>
        </p:nvSpPr>
        <p:spPr>
          <a:xfrm>
            <a:off x="457200" y="1097280"/>
            <a:ext cx="3794760" cy="1600200"/>
          </a:xfrm>
          <a:prstGeom prst="rect">
            <a:avLst/>
          </a:prstGeom>
          <a:noFill/>
          <a:ln/>
        </p:spPr>
        <p:txBody>
          <a:bodyPr wrap="square" lIns="0" tIns="0" rIns="0" bIns="0" rtlCol="0" anchor="ctr"/>
          <a:lstStyle/>
          <a:p>
            <a:pPr marL="0" indent="0" algn="ctr">
              <a:spcAft>
                <a:spcPts val="600"/>
              </a:spcAft>
              <a:buNone/>
            </a:pPr>
            <a:r>
              <a:rPr lang="en-US" sz="4400" b="1" dirty="0">
                <a:solidFill>
                  <a:srgbClr val="0000CD"/>
                </a:solidFill>
              </a:rPr>
              <a:t>96.5%</a:t>
            </a:r>
            <a:endParaRPr lang="en-US" sz="4400" dirty="0"/>
          </a:p>
          <a:p>
            <a:pPr marL="0" indent="0" algn="ctr">
              <a:spcAft>
                <a:spcPts val="800"/>
              </a:spcAft>
              <a:buNone/>
            </a:pPr>
            <a:r>
              <a:rPr lang="en-US" sz="1100" b="1" dirty="0">
                <a:solidFill>
                  <a:srgbClr val="1A1A1A"/>
                </a:solidFill>
              </a:rPr>
              <a:t>Single-knob top-1 preserved</a:t>
            </a:r>
            <a:endParaRPr lang="en-US" sz="4400" dirty="0"/>
          </a:p>
          <a:p>
            <a:pPr marL="0" indent="0" algn="ctr">
              <a:buNone/>
            </a:pPr>
            <a:r>
              <a:rPr lang="en-US" sz="1000" i="1" dirty="0">
                <a:solidFill>
                  <a:srgbClr val="555555"/>
                </a:solidFill>
              </a:rPr>
              <a:t>Top-ranked divergence rarely changes under any one-weight perturbation. Only 1.8% of cases are clamp-frozen, so this is genuine response - not a clamp artefact.</a:t>
            </a:r>
            <a:endParaRPr lang="en-US" sz="4400" dirty="0"/>
          </a:p>
        </p:txBody>
      </p:sp>
      <p:sp>
        <p:nvSpPr>
          <p:cNvPr id="7" name="Shape 5"/>
          <p:cNvSpPr/>
          <p:nvPr/>
        </p:nvSpPr>
        <p:spPr>
          <a:xfrm>
            <a:off x="4709160" y="1005840"/>
            <a:ext cx="4160520" cy="1783080"/>
          </a:xfrm>
          <a:prstGeom prst="roundRect">
            <a:avLst>
              <a:gd name="adj" fmla="val 4103"/>
            </a:avLst>
          </a:prstGeom>
          <a:solidFill>
            <a:srgbClr val="F5F5F5"/>
          </a:solidFill>
          <a:ln/>
        </p:spPr>
        <p:txBody>
          <a:bodyPr/>
          <a:lstStyle/>
          <a:p>
            <a:endParaRPr lang="en-US"/>
          </a:p>
        </p:txBody>
      </p:sp>
      <p:sp>
        <p:nvSpPr>
          <p:cNvPr id="8" name="Text 6"/>
          <p:cNvSpPr/>
          <p:nvPr/>
        </p:nvSpPr>
        <p:spPr>
          <a:xfrm>
            <a:off x="4892040" y="1097280"/>
            <a:ext cx="3794760" cy="1600200"/>
          </a:xfrm>
          <a:prstGeom prst="rect">
            <a:avLst/>
          </a:prstGeom>
          <a:noFill/>
          <a:ln/>
        </p:spPr>
        <p:txBody>
          <a:bodyPr wrap="square" lIns="0" tIns="0" rIns="0" bIns="0" rtlCol="0" anchor="ctr"/>
          <a:lstStyle/>
          <a:p>
            <a:pPr marL="0" indent="0" algn="ctr">
              <a:spcAft>
                <a:spcPts val="600"/>
              </a:spcAft>
              <a:buNone/>
            </a:pPr>
            <a:r>
              <a:rPr lang="en-US" sz="4400" b="1" dirty="0">
                <a:solidFill>
                  <a:srgbClr val="0000CD"/>
                </a:solidFill>
              </a:rPr>
              <a:t>7 / 7</a:t>
            </a:r>
            <a:endParaRPr lang="en-US" sz="4400" dirty="0"/>
          </a:p>
          <a:p>
            <a:pPr marL="0" indent="0" algn="ctr">
              <a:spcAft>
                <a:spcPts val="800"/>
              </a:spcAft>
              <a:buNone/>
            </a:pPr>
            <a:r>
              <a:rPr lang="en-US" sz="1100" b="1" dirty="0">
                <a:solidFill>
                  <a:srgbClr val="1A1A1A"/>
                </a:solidFill>
              </a:rPr>
              <a:t>Process terms with measurable rank effect  ·  LOO τ-b range 0.527 - 0.784</a:t>
            </a:r>
            <a:endParaRPr lang="en-US" sz="4400" dirty="0"/>
          </a:p>
          <a:p>
            <a:pPr marL="0" indent="0" algn="ctr">
              <a:buNone/>
            </a:pPr>
            <a:r>
              <a:rPr lang="en-US" sz="1000" i="1" dirty="0">
                <a:solidFill>
                  <a:srgbClr val="555555"/>
                </a:solidFill>
              </a:rPr>
              <a:t>Length is the strongest rank-carrier (0.527); lag the weakest (0.784, but contributes via magnitude). No process term is redundant.</a:t>
            </a:r>
            <a:endParaRPr lang="en-US" sz="4400" dirty="0"/>
          </a:p>
        </p:txBody>
      </p:sp>
      <p:sp>
        <p:nvSpPr>
          <p:cNvPr id="9" name="Shape 7"/>
          <p:cNvSpPr/>
          <p:nvPr/>
        </p:nvSpPr>
        <p:spPr>
          <a:xfrm>
            <a:off x="274320" y="2926080"/>
            <a:ext cx="4160520" cy="1691640"/>
          </a:xfrm>
          <a:prstGeom prst="roundRect">
            <a:avLst>
              <a:gd name="adj" fmla="val 4324"/>
            </a:avLst>
          </a:prstGeom>
          <a:solidFill>
            <a:srgbClr val="F5F5F5"/>
          </a:solidFill>
          <a:ln/>
        </p:spPr>
        <p:txBody>
          <a:bodyPr/>
          <a:lstStyle/>
          <a:p>
            <a:endParaRPr lang="en-US"/>
          </a:p>
        </p:txBody>
      </p:sp>
      <p:sp>
        <p:nvSpPr>
          <p:cNvPr id="10" name="Text 8"/>
          <p:cNvSpPr/>
          <p:nvPr/>
        </p:nvSpPr>
        <p:spPr>
          <a:xfrm>
            <a:off x="457200" y="3017520"/>
            <a:ext cx="3794760" cy="1508760"/>
          </a:xfrm>
          <a:prstGeom prst="rect">
            <a:avLst/>
          </a:prstGeom>
          <a:noFill/>
          <a:ln/>
        </p:spPr>
        <p:txBody>
          <a:bodyPr wrap="square" lIns="0" tIns="0" rIns="0" bIns="0" rtlCol="0" anchor="ctr"/>
          <a:lstStyle/>
          <a:p>
            <a:pPr marL="0" indent="0" algn="ctr">
              <a:spcAft>
                <a:spcPts val="600"/>
              </a:spcAft>
              <a:buNone/>
            </a:pPr>
            <a:r>
              <a:rPr lang="en-US" sz="4400" b="1" dirty="0">
                <a:solidFill>
                  <a:srgbClr val="0000CD"/>
                </a:solidFill>
              </a:rPr>
              <a:t>84.6%</a:t>
            </a:r>
            <a:endParaRPr lang="en-US" sz="4400" dirty="0"/>
          </a:p>
          <a:p>
            <a:pPr marL="0" indent="0" algn="ctr">
              <a:spcAft>
                <a:spcPts val="800"/>
              </a:spcAft>
              <a:buNone/>
            </a:pPr>
            <a:r>
              <a:rPr lang="en-US" sz="1100" b="1" dirty="0">
                <a:solidFill>
                  <a:srgbClr val="1A1A1A"/>
                </a:solidFill>
              </a:rPr>
              <a:t>Multi-knob top-1 preserved  ·  mean τ-b = 0.586</a:t>
            </a:r>
            <a:endParaRPr lang="en-US" sz="4400" dirty="0"/>
          </a:p>
          <a:p>
            <a:pPr marL="0" indent="0" algn="ctr">
              <a:buNone/>
            </a:pPr>
            <a:r>
              <a:rPr lang="en-US" sz="1000" i="1" dirty="0">
                <a:solidFill>
                  <a:srgbClr val="555555"/>
                </a:solidFill>
              </a:rPr>
              <a:t>When all 7 weights move at once (σ = ln 2 ≈ ×0.25 to ×4), the top-ranked divergence holds in ~85% of samples. Meaningful rank correlation, not full preservation.</a:t>
            </a:r>
            <a:endParaRPr lang="en-US" sz="4400" dirty="0"/>
          </a:p>
        </p:txBody>
      </p:sp>
      <p:sp>
        <p:nvSpPr>
          <p:cNvPr id="11" name="Shape 9"/>
          <p:cNvSpPr/>
          <p:nvPr/>
        </p:nvSpPr>
        <p:spPr>
          <a:xfrm>
            <a:off x="4709160" y="2926080"/>
            <a:ext cx="4160520" cy="1691640"/>
          </a:xfrm>
          <a:prstGeom prst="roundRect">
            <a:avLst>
              <a:gd name="adj" fmla="val 4324"/>
            </a:avLst>
          </a:prstGeom>
          <a:solidFill>
            <a:srgbClr val="F5F5F5"/>
          </a:solidFill>
          <a:ln/>
        </p:spPr>
        <p:txBody>
          <a:bodyPr/>
          <a:lstStyle/>
          <a:p>
            <a:endParaRPr lang="en-US"/>
          </a:p>
        </p:txBody>
      </p:sp>
      <p:sp>
        <p:nvSpPr>
          <p:cNvPr id="12" name="Text 10"/>
          <p:cNvSpPr/>
          <p:nvPr/>
        </p:nvSpPr>
        <p:spPr>
          <a:xfrm>
            <a:off x="4892040" y="3017520"/>
            <a:ext cx="3794760" cy="1508760"/>
          </a:xfrm>
          <a:prstGeom prst="rect">
            <a:avLst/>
          </a:prstGeom>
          <a:noFill/>
          <a:ln/>
        </p:spPr>
        <p:txBody>
          <a:bodyPr wrap="square" lIns="0" tIns="0" rIns="0" bIns="0" rtlCol="0" anchor="ctr"/>
          <a:lstStyle/>
          <a:p>
            <a:pPr marL="0" indent="0" algn="ctr">
              <a:spcAft>
                <a:spcPts val="600"/>
              </a:spcAft>
              <a:buNone/>
            </a:pPr>
            <a:r>
              <a:rPr lang="en-US" sz="4400" b="1" dirty="0">
                <a:solidFill>
                  <a:srgbClr val="0000CD"/>
                </a:solidFill>
              </a:rPr>
              <a:t>≤ 0.9%</a:t>
            </a:r>
            <a:endParaRPr lang="en-US" sz="4400" dirty="0"/>
          </a:p>
          <a:p>
            <a:pPr marL="0" indent="0" algn="ctr">
              <a:spcAft>
                <a:spcPts val="800"/>
              </a:spcAft>
              <a:buNone/>
            </a:pPr>
            <a:r>
              <a:rPr lang="en-US" sz="1100" b="1" dirty="0">
                <a:solidFill>
                  <a:srgbClr val="1A1A1A"/>
                </a:solidFill>
              </a:rPr>
              <a:t>Top-1 disruption from any single cleanliness sub-weight</a:t>
            </a:r>
            <a:endParaRPr lang="en-US" sz="4400" dirty="0"/>
          </a:p>
          <a:p>
            <a:pPr marL="0" indent="0" algn="ctr">
              <a:buNone/>
            </a:pPr>
            <a:r>
              <a:rPr lang="en-US" sz="1000" i="1" dirty="0">
                <a:solidFill>
                  <a:srgbClr val="555555"/>
                </a:solidFill>
              </a:rPr>
              <a:t>Perturbing any of the 6 cleanliness signals (complexity, coupling, duplication, readability, smells, cohesion) barely shifts the ranking - ~10× less than process weights. Equal weights are defensible.</a:t>
            </a:r>
            <a:endParaRPr lang="en-US" sz="4400" dirty="0"/>
          </a:p>
        </p:txBody>
      </p:sp>
      <p:sp>
        <p:nvSpPr>
          <p:cNvPr id="13" name="Text 11"/>
          <p:cNvSpPr/>
          <p:nvPr/>
        </p:nvSpPr>
        <p:spPr>
          <a:xfrm>
            <a:off x="457200" y="4709160"/>
            <a:ext cx="8229600" cy="365760"/>
          </a:xfrm>
          <a:prstGeom prst="rect">
            <a:avLst/>
          </a:prstGeom>
          <a:noFill/>
          <a:ln/>
        </p:spPr>
        <p:txBody>
          <a:bodyPr wrap="square" lIns="0" tIns="0" rIns="0" bIns="0" rtlCol="0" anchor="ctr"/>
          <a:lstStyle/>
          <a:p>
            <a:pPr marL="0" indent="0" algn="ctr">
              <a:buNone/>
            </a:pPr>
            <a:r>
              <a:rPr lang="en-US" sz="1100" i="1" dirty="0">
                <a:solidFill>
                  <a:srgbClr val="0000CD"/>
                </a:solidFill>
              </a:rPr>
              <a:t>Top-1 holds under both single- and multi-knob perturbation, and every process term carries measurable rank effect. Robustness ≠ calibration: weights aren't validated against downstream outcomes.</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marL="762000" lvl="1" indent="-381000">
              <a:spcAft>
                <a:spcPts val="400"/>
              </a:spcAft>
              <a:buSzPct val="100000"/>
              <a:buChar char="•"/>
            </a:pPr>
            <a:r>
              <a:rPr lang="en-US" sz="1300" dirty="0">
                <a:solidFill>
                  <a:srgbClr val="000000"/>
                </a:solidFill>
              </a:rPr>
              <a:t>Single-knob: 96.5% top-1 preserved </a:t>
            </a:r>
            <a:r>
              <a:rPr lang="en-US" sz="1300" dirty="0">
                <a:solidFill>
                  <a:srgbClr val="888888"/>
                </a:solidFill>
              </a:rPr>
              <a:t>- only 1.8% of cases are clamp-frozen.</a:t>
            </a:r>
            <a:endParaRPr lang="en-US" sz="1300" dirty="0"/>
          </a:p>
          <a:p>
            <a:pPr marL="762000" lvl="1" indent="-381000">
              <a:spcAft>
                <a:spcPts val="400"/>
              </a:spcAft>
              <a:buSzPct val="100000"/>
              <a:buChar char="•"/>
            </a:pPr>
            <a:r>
              <a:rPr lang="en-US" sz="1300" dirty="0">
                <a:solidFill>
                  <a:srgbClr val="000000"/>
                </a:solidFill>
              </a:rPr>
              <a:t>Multi-knob: 84.6% top-1 preserved </a:t>
            </a: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marL="0" indent="0">
              <a:buNone/>
            </a:pPr>
            <a:r>
              <a:rPr lang="en-US" sz="1300" b="1" dirty="0">
                <a:solidFill>
                  <a:srgbClr val="1A1A1A"/>
                </a:solidFill>
              </a:rPr>
              <a:t>Does every component of the process score hold weight?</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292608">
                <a:tc>
                  <a:txBody>
                    <a:bodyPr/>
                    <a:lstStyle/>
                    <a:p>
                      <a:pPr marL="0" indent="0" algn="ctr">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lgn="ctr">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lgn="ctr">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marL="0" indent="0" algn="ctr">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marL="0" indent="0" algn="ctr">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marL="762000" lvl="1"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marL="762000" lvl="1" indent="-381000">
              <a:spcAft>
                <a:spcPts val="1800"/>
              </a:spcAft>
              <a:buSzPct val="100000"/>
              <a:buChar char="•"/>
            </a:pPr>
            <a:r>
              <a:rPr lang="en-US" sz="1500" dirty="0">
                <a:solidFill>
                  <a:srgbClr val="000000"/>
                </a:solidFill>
              </a:rPr>
              <a:t>Randomised into 2 arms </a:t>
            </a: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marL="762000" lvl="1" indent="-381000">
              <a:spcAft>
                <a:spcPts val="600"/>
              </a:spcAft>
              <a:buSzPct val="100000"/>
              <a:buChar char="•"/>
            </a:pPr>
            <a:r>
              <a:rPr lang="en-US" sz="1500" dirty="0">
                <a:solidFill>
                  <a:srgbClr val="000000"/>
                </a:solidFill>
              </a:rPr>
              <a:t>Divergence-point count per session </a:t>
            </a:r>
            <a:r>
              <a:rPr lang="en-US" sz="1500" dirty="0">
                <a:solidFill>
                  <a:srgbClr val="888888"/>
                </a:solidFill>
              </a:rPr>
              <a:t>- does the detector still surface the same kinds of friction over time?</a:t>
            </a:r>
            <a:endParaRPr lang="en-US" sz="1500" dirty="0"/>
          </a:p>
          <a:p>
            <a:pPr marL="762000" lvl="1"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marL="0" indent="0" algn="ctr">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marL="0" indent="0" algn="ctr">
              <a:buNone/>
            </a:pPr>
            <a:r>
              <a:rPr lang="en-US" sz="2400" b="1" dirty="0">
                <a:solidFill>
                  <a:srgbClr val="000000"/>
                </a:solidFill>
              </a:rPr>
              <a:t>Fewer divergences with feedback - but the raw score is noisy</a:t>
            </a:r>
            <a:endParaRPr lang="en-US" sz="2400" dirty="0"/>
          </a:p>
        </p:txBody>
      </p:sp>
      <p:graphicFrame>
        <p:nvGraphicFramePr>
          <p:cNvPr id="3" name="Chart 0"/>
          <p:cNvGraphicFramePr/>
          <p:nvPr/>
        </p:nvGraphicFramePr>
        <p:xfrm>
          <a:off x="274320" y="914400"/>
          <a:ext cx="452628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4937760" y="1417320"/>
            <a:ext cx="3977640" cy="2331720"/>
          </a:xfrm>
          <a:prstGeom prst="roundRect">
            <a:avLst>
              <a:gd name="adj" fmla="val 3137"/>
            </a:avLst>
          </a:prstGeom>
          <a:solidFill>
            <a:srgbClr val="F5F5F5"/>
          </a:solidFill>
          <a:ln/>
        </p:spPr>
        <p:txBody>
          <a:bodyPr/>
          <a:lstStyle/>
          <a:p>
            <a:endParaRPr lang="en-US"/>
          </a:p>
        </p:txBody>
      </p:sp>
      <p:sp>
        <p:nvSpPr>
          <p:cNvPr id="5" name="Text 2"/>
          <p:cNvSpPr/>
          <p:nvPr/>
        </p:nvSpPr>
        <p:spPr>
          <a:xfrm>
            <a:off x="5120640" y="1508760"/>
            <a:ext cx="3611880" cy="2148840"/>
          </a:xfrm>
          <a:prstGeom prst="rect">
            <a:avLst/>
          </a:prstGeom>
          <a:noFill/>
          <a:ln/>
        </p:spPr>
        <p:txBody>
          <a:bodyPr wrap="square" lIns="0" tIns="0" rIns="0" bIns="0" rtlCol="0" anchor="ctr"/>
          <a:lstStyle/>
          <a:p>
            <a:pPr marL="0" indent="0" algn="ctr">
              <a:spcAft>
                <a:spcPts val="600"/>
              </a:spcAft>
              <a:buNone/>
            </a:pPr>
            <a:r>
              <a:rPr lang="en-US" sz="4000" b="1" dirty="0">
                <a:solidFill>
                  <a:srgbClr val="0000CD"/>
                </a:solidFill>
              </a:rPr>
              <a:t>2.7  vs  6.0</a:t>
            </a:r>
            <a:endParaRPr lang="en-US" sz="4000" dirty="0"/>
          </a:p>
          <a:p>
            <a:pPr marL="0" indent="0" algn="ctr">
              <a:spcAft>
                <a:spcPts val="800"/>
              </a:spcAft>
              <a:buNone/>
            </a:pPr>
            <a:r>
              <a:rPr lang="en-US" sz="1100" b="1" dirty="0">
                <a:solidFill>
                  <a:srgbClr val="1A1A1A"/>
                </a:solidFill>
              </a:rPr>
              <a:t>DPs per session per participant  ·  feedback vs baseline</a:t>
            </a:r>
            <a:endParaRPr lang="en-US" sz="4000" dirty="0"/>
          </a:p>
          <a:p>
            <a:pPr marL="0" indent="0" algn="ctr">
              <a:buNone/>
            </a:pPr>
            <a:r>
              <a:rPr lang="en-US" sz="1000" i="1" dirty="0">
                <a:solidFill>
                  <a:srgbClr val="555555"/>
                </a:solidFill>
              </a:rPr>
              <a:t>Participants who saw feedback flagged a divergence less than half as often. 2.2× difference across the 30-session study.</a:t>
            </a:r>
            <a:endParaRPr lang="en-US" sz="4000" dirty="0"/>
          </a:p>
        </p:txBody>
      </p:sp>
      <p:sp>
        <p:nvSpPr>
          <p:cNvPr id="6" name="Text 3"/>
          <p:cNvSpPr/>
          <p:nvPr/>
        </p:nvSpPr>
        <p:spPr>
          <a:xfrm>
            <a:off x="457200" y="4434840"/>
            <a:ext cx="8229600" cy="457200"/>
          </a:xfrm>
          <a:prstGeom prst="rect">
            <a:avLst/>
          </a:prstGeom>
          <a:noFill/>
          <a:ln/>
        </p:spPr>
        <p:txBody>
          <a:bodyPr wrap="square" lIns="0" tIns="0" rIns="0" bIns="0" rtlCol="0" anchor="ctr"/>
          <a:lstStyle/>
          <a:p>
            <a:pPr marL="0" indent="0" algn="ctr">
              <a:buNone/>
            </a:pPr>
            <a:r>
              <a:rPr lang="en-US" sz="1200" i="1" dirty="0">
                <a:solidFill>
                  <a:srgbClr val="0000CD"/>
                </a:solidFill>
              </a:rPr>
              <a:t>But the production-weighted score is dominated by task difficulty - both groups peak at S4. The behavioural signal needs the gain-stripped view (next slide).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marL="0" indent="0" algn="ctr">
              <a:buNone/>
            </a:pPr>
            <a:r>
              <a:rPr lang="en-US" sz="2400" b="1" dirty="0">
                <a:solidFill>
                  <a:srgbClr val="000000"/>
                </a:solidFill>
              </a:rPr>
              <a:t>Strip the task signal - process discipline emerges</a:t>
            </a:r>
            <a:endParaRPr lang="en-US" sz="2400" dirty="0"/>
          </a:p>
        </p:txBody>
      </p:sp>
      <p:sp>
        <p:nvSpPr>
          <p:cNvPr id="3" name="Text 1"/>
          <p:cNvSpPr/>
          <p:nvPr/>
        </p:nvSpPr>
        <p:spPr>
          <a:xfrm>
            <a:off x="457200" y="777240"/>
            <a:ext cx="8229600" cy="274320"/>
          </a:xfrm>
          <a:prstGeom prst="rect">
            <a:avLst/>
          </a:prstGeom>
          <a:noFill/>
          <a:ln/>
        </p:spPr>
        <p:txBody>
          <a:bodyPr wrap="square" lIns="0" tIns="0" rIns="0" bIns="0" rtlCol="0" anchor="ctr"/>
          <a:lstStyle/>
          <a:p>
            <a:pPr marL="0" indent="0" algn="ctr">
              <a:buNone/>
            </a:pPr>
            <a:r>
              <a:rPr lang="en-US" sz="1200" dirty="0">
                <a:solidFill>
                  <a:srgbClr val="333333"/>
                </a:solidFill>
              </a:rPr>
              <a:t>Gain-stripped process score (W</a:t>
            </a:r>
            <a:r>
              <a:rPr lang="en-US" sz="1200" baseline="-40000" dirty="0">
                <a:solidFill>
                  <a:srgbClr val="333333"/>
                </a:solidFill>
              </a:rPr>
              <a:t>g</a:t>
            </a:r>
            <a:r>
              <a:rPr lang="en-US" sz="1200" dirty="0">
                <a:solidFill>
                  <a:srgbClr val="333333"/>
                </a:solidFill>
              </a:rPr>
              <a:t> = W</a:t>
            </a:r>
            <a:r>
              <a:rPr lang="en-US" sz="1200" baseline="-40000" dirty="0">
                <a:solidFill>
                  <a:srgbClr val="333333"/>
                </a:solidFill>
              </a:rPr>
              <a:t>lag</a:t>
            </a:r>
            <a:r>
              <a:rPr lang="en-US" sz="1200" dirty="0">
                <a:solidFill>
                  <a:srgbClr val="333333"/>
                </a:solidFill>
              </a:rPr>
              <a:t> = 0)</a:t>
            </a:r>
            <a:endParaRPr lang="en-US" sz="1200" dirty="0"/>
          </a:p>
        </p:txBody>
      </p:sp>
      <p:graphicFrame>
        <p:nvGraphicFramePr>
          <p:cNvPr id="4" name="Chart 0"/>
          <p:cNvGraphicFramePr/>
          <p:nvPr/>
        </p:nvGraphicFramePr>
        <p:xfrm>
          <a:off x="1554480" y="1097280"/>
          <a:ext cx="603504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457200" y="4069080"/>
            <a:ext cx="8229600" cy="868680"/>
          </a:xfrm>
          <a:prstGeom prst="rect">
            <a:avLst/>
          </a:prstGeom>
          <a:noFill/>
          <a:ln/>
        </p:spPr>
        <p:txBody>
          <a:bodyPr wrap="square" lIns="50800" tIns="50800" rIns="50800" bIns="50800" rtlCol="0" anchor="t"/>
          <a:lstStyle/>
          <a:p>
            <a:pPr marL="0" indent="0" algn="ctr">
              <a:buNone/>
            </a:pPr>
            <a:r>
              <a:rPr lang="en-US" sz="1200" dirty="0">
                <a:solidFill>
                  <a:srgbClr val="000000"/>
                </a:solidFill>
              </a:rPr>
              <a:t>Once cleanliness gain is removed, the score reflects </a:t>
            </a:r>
            <a:r>
              <a:rPr lang="en-US" sz="1200" i="1" dirty="0">
                <a:solidFill>
                  <a:srgbClr val="000000"/>
                </a:solidFill>
              </a:rPr>
              <a:t>how disciplined the process was</a:t>
            </a:r>
            <a:r>
              <a:rPr lang="en-US" sz="1200" dirty="0">
                <a:solidFill>
                  <a:srgbClr val="000000"/>
                </a:solidFill>
              </a:rPr>
              <a:t> - tests run, IDE refactorings used, commits at sensible points. The feedback group climbs </a:t>
            </a:r>
            <a:r>
              <a:rPr lang="en-US" sz="1200" b="1" dirty="0">
                <a:solidFill>
                  <a:srgbClr val="0000CD"/>
                </a:solidFill>
              </a:rPr>
              <a:t>+22.3</a:t>
            </a:r>
            <a:r>
              <a:rPr lang="en-US" sz="1200" dirty="0">
                <a:solidFill>
                  <a:srgbClr val="000000"/>
                </a:solidFill>
              </a:rPr>
              <a:t> across the arc; the baseline group moves </a:t>
            </a:r>
            <a:r>
              <a:rPr lang="en-US" sz="1200" b="1" dirty="0">
                <a:solidFill>
                  <a:srgbClr val="B25500"/>
                </a:solidFill>
              </a:rPr>
              <a:t>−2.0</a:t>
            </a:r>
            <a:r>
              <a:rPr lang="en-US" sz="1200" dirty="0">
                <a:solidFill>
                  <a:srgbClr val="000000"/>
                </a:solidFill>
              </a:rPr>
              <a:t>.</a:t>
            </a:r>
            <a:endParaRPr lang="en-US" sz="1200" dirty="0"/>
          </a:p>
          <a:p>
            <a:pPr marL="0" indent="0" algn="ctr">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marL="0" indent="0" algn="ctr">
              <a:buNone/>
            </a:pPr>
            <a:r>
              <a:rPr lang="en-US" sz="2200" b="1" dirty="0">
                <a:solidFill>
                  <a:srgbClr val="000000"/>
                </a:solidFill>
              </a:rPr>
              <a:t>Extension: tool doesn't transfer cleanly to agent traces</a:t>
            </a:r>
            <a:endParaRPr lang="en-US" sz="2200" dirty="0"/>
          </a:p>
        </p:txBody>
      </p:sp>
      <p:sp>
        <p:nvSpPr>
          <p:cNvPr id="3" name="Text 1"/>
          <p:cNvSpPr/>
          <p:nvPr/>
        </p:nvSpPr>
        <p:spPr>
          <a:xfrm>
            <a:off x="457200" y="640080"/>
            <a:ext cx="8229600" cy="274320"/>
          </a:xfrm>
          <a:prstGeom prst="rect">
            <a:avLst/>
          </a:prstGeom>
          <a:noFill/>
          <a:ln/>
        </p:spPr>
        <p:txBody>
          <a:bodyPr wrap="square" rtlCol="0" anchor="ctr"/>
          <a:lstStyle/>
          <a:p>
            <a:pPr marL="0" indent="0" algn="ctr">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p:cNvGraphicFramePr/>
          <p:nvPr/>
        </p:nvGraphicFramePr>
        <p:xfrm>
          <a:off x="274320" y="1051560"/>
          <a:ext cx="420624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457200">
                <a:tc>
                  <a:txBody>
                    <a:bodyPr/>
                    <a:lstStyle/>
                    <a:p>
                      <a:pPr marL="0" indent="0" algn="ctr">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marL="0" indent="0" algn="ctr">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marL="0" indent="0" algn="ctr">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extLst>
                  <a:ext uri="{0D108BD9-81ED-4DB2-BD59-A6C34878D82A}">
                    <a16:rowId xmlns:a16="http://schemas.microsoft.com/office/drawing/2014/main" val="10000"/>
                  </a:ext>
                </a:extLst>
              </a:tr>
              <a:tr h="457200">
                <a:tc>
                  <a:txBody>
                    <a:bodyPr/>
                    <a:lstStyle/>
                    <a:p>
                      <a:pPr marL="0" indent="0" algn="l">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457200">
                <a:tc>
                  <a:txBody>
                    <a:bodyPr/>
                    <a:lstStyle/>
                    <a:p>
                      <a:pPr marL="0" indent="0" algn="l">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457200">
                <a:tc>
                  <a:txBody>
                    <a:bodyPr/>
                    <a:lstStyle/>
                    <a:p>
                      <a:pPr marL="0" indent="0" algn="l">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457200">
                <a:tc>
                  <a:txBody>
                    <a:bodyPr/>
                    <a:lstStyle/>
                    <a:p>
                      <a:pPr marL="0" indent="0" algn="l">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marL="0" indent="0" algn="ctr">
              <a:buNone/>
            </a:pPr>
            <a:r>
              <a:rPr lang="en-US" sz="1200" b="1" dirty="0">
                <a:solidFill>
                  <a:srgbClr val="000000"/>
                </a:solidFill>
              </a:rPr>
              <a:t>Score is blind to the difference: </a:t>
            </a:r>
            <a:r>
              <a:rPr lang="en-US" sz="1200" dirty="0">
                <a:solidFill>
                  <a:srgbClr val="000000"/>
                </a:solidFill>
              </a:rPr>
              <a:t>feedback ΔJ </a:t>
            </a:r>
            <a:r>
              <a:rPr lang="en-US" sz="1200" b="1" dirty="0">
                <a:solidFill>
                  <a:srgbClr val="0000CD"/>
                </a:solidFill>
              </a:rPr>
              <a:t>+3.0</a:t>
            </a:r>
            <a:r>
              <a:rPr lang="en-US" sz="1200" dirty="0">
                <a:solidFill>
                  <a:srgbClr val="000000"/>
                </a:solidFill>
              </a:rPr>
              <a:t> vs baseline </a:t>
            </a:r>
            <a:r>
              <a:rPr lang="en-US" sz="1200" b="1" dirty="0">
                <a:solidFill>
                  <a:srgbClr val="B25500"/>
                </a:solidFill>
              </a:rPr>
              <a:t>+6.5</a:t>
            </a:r>
            <a:r>
              <a:rPr lang="en-US" sz="1200" dirty="0">
                <a:solidFill>
                  <a:srgbClr val="000000"/>
                </a:solidFill>
              </a:rPr>
              <a:t>. Yet 5 of 6 agents wrote explicit "I'll do X next session" plans citing prior warnings - the detectors just can't see those changes happen.</a:t>
            </a:r>
            <a:endParaRPr lang="en-US" sz="1200" dirty="0"/>
          </a:p>
          <a:p>
            <a:pPr marL="0" indent="0" algn="ctr">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marL="0" indent="0" algn="ctr">
              <a:buNone/>
            </a:pPr>
            <a:r>
              <a:rPr lang="en-US" sz="1500" i="1" dirty="0">
                <a:solidFill>
                  <a:srgbClr val="0000CD"/>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buSzPct val="100000"/>
              <a:buChar char="•"/>
            </a:pPr>
            <a:r>
              <a:rPr lang="en-US" sz="1600" dirty="0">
                <a:solidFill>
                  <a:srgbClr val="000000"/>
                </a:solidFill>
              </a:rPr>
              <a:t>A process-quality metric on </a:t>
            </a:r>
            <a:r>
              <a:rPr lang="en-US" sz="1600" i="1" dirty="0">
                <a:solidFill>
                  <a:srgbClr val="000000"/>
                </a:solidFill>
              </a:rPr>
              <a:t>arbitrary sessions</a:t>
            </a:r>
            <a:endParaRPr lang="en-US" sz="1600" dirty="0"/>
          </a:p>
          <a:p>
            <a:pPr marL="0" indent="0">
              <a:buNone/>
            </a:pPr>
            <a:r>
              <a:rPr lang="en-US" sz="1600" dirty="0">
                <a:solidFill>
                  <a:srgbClr val="000000"/>
                </a:solidFill>
              </a:rPr>
              <a:t> </a:t>
            </a:r>
            <a:endParaRPr lang="en-US" sz="1600" dirty="0"/>
          </a:p>
          <a:p>
            <a:pPr marL="342900" indent="-342900">
              <a:buSzPct val="100000"/>
              <a:buChar char="•"/>
            </a:pPr>
            <a:r>
              <a:rPr lang="en-US" sz="1600" dirty="0">
                <a:solidFill>
                  <a:srgbClr val="000000"/>
                </a:solidFill>
              </a:rPr>
              <a:t>A divergence-point detector &amp; synthesiser of alternative trajectories.</a:t>
            </a:r>
            <a:endParaRPr lang="en-US" sz="1600" dirty="0"/>
          </a:p>
          <a:p>
            <a:pPr marL="0" indent="0">
              <a:buNone/>
            </a:pPr>
            <a:r>
              <a:rPr lang="en-US" sz="1600" dirty="0">
                <a:solidFill>
                  <a:srgbClr val="000000"/>
                </a:solidFill>
              </a:rPr>
              <a:t> </a:t>
            </a:r>
            <a:endParaRPr lang="en-US" sz="1600" dirty="0"/>
          </a:p>
          <a:p>
            <a:pPr marL="342900" indent="-342900">
              <a:buSzPct val="100000"/>
              <a:buChar char="•"/>
            </a:pPr>
            <a:r>
              <a:rPr lang="en-US" sz="1600" dirty="0">
                <a:solidFill>
                  <a:srgbClr val="000000"/>
                </a:solidFill>
              </a:rPr>
              <a:t>Three datasets - 45 injection sessions, 30-session user study, 48-session agent extension.</a:t>
            </a:r>
            <a:endParaRPr lang="en-US" sz="1600" dirty="0"/>
          </a:p>
          <a:p>
            <a:pPr marL="0" indent="0">
              <a:buNone/>
            </a:pPr>
            <a:r>
              <a:rPr lang="en-US" sz="1600" dirty="0">
                <a:solidFill>
                  <a:srgbClr val="000000"/>
                </a:solidFill>
              </a:rPr>
              <a:t> </a:t>
            </a:r>
            <a:endParaRPr lang="en-US" sz="1600" dirty="0"/>
          </a:p>
          <a:p>
            <a:pPr marL="342900" indent="-342900">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marL="0" indent="0" algn="ctr">
              <a:buNone/>
            </a:pPr>
            <a:r>
              <a:rPr lang="en-US" sz="1100" b="1" i="1" dirty="0">
                <a:solidFill>
                  <a:srgbClr val="888888"/>
                </a:solidFill>
              </a:rPr>
              <a:t>Not yet established: </a:t>
            </a: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1828800"/>
            <a:ext cx="8229600" cy="1371600"/>
          </a:xfrm>
          <a:prstGeom prst="rect">
            <a:avLst/>
          </a:prstGeom>
          <a:noFill/>
          <a:ln/>
        </p:spPr>
        <p:txBody>
          <a:bodyPr wrap="square" lIns="0" tIns="0" rIns="0" bIns="0" rtlCol="0" anchor="ctr"/>
          <a:lstStyle/>
          <a:p>
            <a:pPr marL="0" indent="0" algn="ctr">
              <a:buNone/>
            </a:pPr>
            <a:r>
              <a:rPr lang="en-US" sz="7200" b="1" dirty="0">
                <a:solidFill>
                  <a:srgbClr val="1A1A1A"/>
                </a:solidFill>
              </a:rPr>
              <a:t>Q &amp; A</a:t>
            </a:r>
            <a:endParaRPr lang="en-US" sz="7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2711</Words>
  <Application>Microsoft Macintosh PowerPoint</Application>
  <PresentationFormat>On-screen Show (16:9)</PresentationFormat>
  <Paragraphs>386</Paragraphs>
  <Slides>30</Slides>
  <Notes>30</Notes>
  <HiddenSlides>6</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Hosier, Ethan</cp:lastModifiedBy>
  <cp:revision>1</cp:revision>
  <dcterms:created xsi:type="dcterms:W3CDTF">2026-06-21T21:34:02Z</dcterms:created>
  <dcterms:modified xsi:type="dcterms:W3CDTF">2026-06-21T21:39:26Z</dcterms:modified>
</cp:coreProperties>
</file>