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1: Is the tool accurate?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DETECTION</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SYNTHESIS</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1.00</a:t>
            </a:r>
            <a:endParaRPr lang="en-US" sz="4400" dirty="0"/>
          </a:p>
          <a:p>
            <a:pPr algn="ctr" indent="0" marL="0">
              <a:spcAft>
                <a:spcPts val="800"/>
              </a:spcAft>
              <a:buNone/>
            </a:pPr>
            <a:r>
              <a:rPr lang="en-US" sz="1100" b="1" dirty="0">
                <a:solidFill>
                  <a:srgbClr val="1A1A1A"/>
                </a:solidFill>
              </a:rPr>
              <a:t>Precision  ·  all four kinds</a:t>
            </a:r>
            <a:endParaRPr lang="en-US" sz="4400" dirty="0"/>
          </a:p>
          <a:p>
            <a:pPr algn="ctr" indent="0" marL="0">
              <a:buNone/>
            </a:pPr>
            <a:r>
              <a:rPr lang="en-US" sz="1000" i="1" dirty="0">
                <a:solidFill>
                  <a:srgbClr val="555555"/>
                </a:solidFill>
              </a:rPr>
              <a:t>When the detector flags a divergence, it's never a false positive. (45 labelled sessions, three raters at Cohen's κ ≥ 0.72.)</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62%</a:t>
            </a:r>
            <a:endParaRPr lang="en-US" sz="4400" dirty="0"/>
          </a:p>
          <a:p>
            <a:pPr algn="ctr" indent="0" marL="0">
              <a:spcAft>
                <a:spcPts val="800"/>
              </a:spcAft>
              <a:buNone/>
            </a:pPr>
            <a:r>
              <a:rPr lang="en-US" sz="1100" b="1" dirty="0">
                <a:solidFill>
                  <a:srgbClr val="1A1A1A"/>
                </a:solidFill>
              </a:rPr>
              <a:t>Alternatives beat user trajectory  ·  41 of 66</a:t>
            </a:r>
            <a:endParaRPr lang="en-US" sz="4400" dirty="0"/>
          </a:p>
          <a:p>
            <a:pPr algn="ctr" indent="0" marL="0">
              <a:buNone/>
            </a:pPr>
            <a:r>
              <a:rPr lang="en-US" sz="1000" i="1" dirty="0">
                <a:solidFill>
                  <a:srgbClr val="555555"/>
                </a:solidFill>
              </a:rPr>
              <a:t>When the tool flags a divergence, the synthesised alternative usually scores higher than the path the user actually took.</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1.00  /  0.76  /  0.36</a:t>
            </a:r>
            <a:endParaRPr lang="en-US" sz="2200" dirty="0"/>
          </a:p>
          <a:p>
            <a:pPr algn="ctr" indent="0" marL="0">
              <a:spcAft>
                <a:spcPts val="800"/>
              </a:spcAft>
              <a:buNone/>
            </a:pPr>
            <a:r>
              <a:rPr lang="en-US" sz="1100" b="1" dirty="0">
                <a:solidFill>
                  <a:srgbClr val="1A1A1A"/>
                </a:solidFill>
              </a:rPr>
              <a:t>Recall  ·  Hygiene / Rework / MR / Ordering</a:t>
            </a:r>
            <a:endParaRPr lang="en-US" sz="2200" dirty="0"/>
          </a:p>
          <a:p>
            <a:pPr algn="ctr" indent="0" marL="0">
              <a:buNone/>
            </a:pPr>
            <a:r>
              <a:rPr lang="en-US" sz="1000" i="1" dirty="0">
                <a:solidFill>
                  <a:srgbClr val="555555"/>
                </a:solidFill>
              </a:rPr>
              <a:t>Three kinds catch everything; Ordering's validator is deliberately conservative - a known scope limit.</a:t>
            </a:r>
            <a:endParaRPr lang="en-US" sz="22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75%  /  46%  /  42%</a:t>
            </a:r>
            <a:endParaRPr lang="en-US" sz="2200" dirty="0"/>
          </a:p>
          <a:p>
            <a:pPr algn="ctr" indent="0" marL="0">
              <a:spcAft>
                <a:spcPts val="800"/>
              </a:spcAft>
              <a:buNone/>
            </a:pPr>
            <a:r>
              <a:rPr lang="en-US" sz="1100" b="1" dirty="0">
                <a:solidFill>
                  <a:srgbClr val="1A1A1A"/>
                </a:solidFill>
              </a:rPr>
              <a:t>Beat rate by kind  ·  Hygiene / MR / Rework / Ordering</a:t>
            </a:r>
            <a:endParaRPr lang="en-US" sz="2200" dirty="0"/>
          </a:p>
          <a:p>
            <a:pPr algn="ctr" indent="0" marL="0">
              <a:buNone/>
            </a:pPr>
            <a:r>
              <a:rPr lang="en-US" sz="1000" i="1" dirty="0">
                <a:solidFill>
                  <a:srgbClr val="555555"/>
                </a:solidFill>
              </a:rPr>
              <a:t>Hygiene and Manual-Refactor reliably improve the score; Ordering ties often because alternatives reach the same end state.</a:t>
            </a:r>
            <a:endParaRPr lang="en-US" sz="22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Precision-perfect detection, balanced recall (one known scope limit on Ordering), and a higher-scoring alternative in roughly two-thirds of detected moments.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2: Is the process score reliable?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STABILITY</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ABLATION</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96.5%</a:t>
            </a:r>
            <a:endParaRPr lang="en-US" sz="4400" dirty="0"/>
          </a:p>
          <a:p>
            <a:pPr algn="ctr" indent="0" marL="0">
              <a:spcAft>
                <a:spcPts val="800"/>
              </a:spcAft>
              <a:buNone/>
            </a:pPr>
            <a:r>
              <a:rPr lang="en-US" sz="1100" b="1" dirty="0">
                <a:solidFill>
                  <a:srgbClr val="1A1A1A"/>
                </a:solidFill>
              </a:rPr>
              <a:t>Single-knob top-1 preserved</a:t>
            </a:r>
            <a:endParaRPr lang="en-US" sz="4400" dirty="0"/>
          </a:p>
          <a:p>
            <a:pPr algn="ctr" indent="0" marL="0">
              <a:buNone/>
            </a:pPr>
            <a:r>
              <a:rPr lang="en-US" sz="1000" i="1" dirty="0">
                <a:solidFill>
                  <a:srgbClr val="555555"/>
                </a:solidFill>
              </a:rPr>
              <a:t>Top-ranked divergence rarely changes under any one-weight perturbation. Only 1.8% of cases are clamp-frozen, so this is genuine response - not a clamp artefact.</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7 / 7</a:t>
            </a:r>
            <a:endParaRPr lang="en-US" sz="4400" dirty="0"/>
          </a:p>
          <a:p>
            <a:pPr algn="ctr" indent="0" marL="0">
              <a:spcAft>
                <a:spcPts val="800"/>
              </a:spcAft>
              <a:buNone/>
            </a:pPr>
            <a:r>
              <a:rPr lang="en-US" sz="1100" b="1" dirty="0">
                <a:solidFill>
                  <a:srgbClr val="1A1A1A"/>
                </a:solidFill>
              </a:rPr>
              <a:t>Process terms with measurable rank effect  ·  LOO τ-b range 0.527 - 0.784</a:t>
            </a:r>
            <a:endParaRPr lang="en-US" sz="4400" dirty="0"/>
          </a:p>
          <a:p>
            <a:pPr algn="ctr" indent="0" marL="0">
              <a:buNone/>
            </a:pPr>
            <a:r>
              <a:rPr lang="en-US" sz="1000" i="1" dirty="0">
                <a:solidFill>
                  <a:srgbClr val="555555"/>
                </a:solidFill>
              </a:rPr>
              <a:t>Length is the strongest rank-carrier (0.527); lag the weakest (0.784, but contributes via magnitude). No process term is redundant.</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84.6%</a:t>
            </a:r>
            <a:endParaRPr lang="en-US" sz="4400" dirty="0"/>
          </a:p>
          <a:p>
            <a:pPr algn="ctr" indent="0" marL="0">
              <a:spcAft>
                <a:spcPts val="800"/>
              </a:spcAft>
              <a:buNone/>
            </a:pPr>
            <a:r>
              <a:rPr lang="en-US" sz="1100" b="1" dirty="0">
                <a:solidFill>
                  <a:srgbClr val="1A1A1A"/>
                </a:solidFill>
              </a:rPr>
              <a:t>Multi-knob top-1 preserved  ·  mean τ-b = 0.586</a:t>
            </a:r>
            <a:endParaRPr lang="en-US" sz="4400" dirty="0"/>
          </a:p>
          <a:p>
            <a:pPr algn="ctr" indent="0" marL="0">
              <a:buNone/>
            </a:pPr>
            <a:r>
              <a:rPr lang="en-US" sz="1000" i="1" dirty="0">
                <a:solidFill>
                  <a:srgbClr val="555555"/>
                </a:solidFill>
              </a:rPr>
              <a:t>When all 7 weights move at once (σ = ln 2 ≈ ×0.25 to ×4), the top-ranked divergence holds in ~85% of samples. Meaningful rank correlation, not full preservation.</a:t>
            </a:r>
            <a:endParaRPr lang="en-US" sz="44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 0.9%</a:t>
            </a:r>
            <a:endParaRPr lang="en-US" sz="4400" dirty="0"/>
          </a:p>
          <a:p>
            <a:pPr algn="ctr" indent="0" marL="0">
              <a:spcAft>
                <a:spcPts val="800"/>
              </a:spcAft>
              <a:buNone/>
            </a:pPr>
            <a:r>
              <a:rPr lang="en-US" sz="1100" b="1" dirty="0">
                <a:solidFill>
                  <a:srgbClr val="1A1A1A"/>
                </a:solidFill>
              </a:rPr>
              <a:t>Top-1 disruption from any single cleanliness sub-weight</a:t>
            </a:r>
            <a:endParaRPr lang="en-US" sz="4400" dirty="0"/>
          </a:p>
          <a:p>
            <a:pPr algn="ctr" indent="0" marL="0">
              <a:buNone/>
            </a:pPr>
            <a:r>
              <a:rPr lang="en-US" sz="1000" i="1" dirty="0">
                <a:solidFill>
                  <a:srgbClr val="555555"/>
                </a:solidFill>
              </a:rPr>
              <a:t>Perturbing any of the 6 cleanliness signals (complexity, coupling, duplication, readability, smells, cohesion) barely shifts the ranking - ~10× less than process weights. Equal weights are defensible.</a:t>
            </a:r>
            <a:endParaRPr lang="en-US" sz="44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Top-1 holds under both single- and multi-knob perturbation, and every process term carries measurable rank effect. Robustness ≠ calibration: weights aren't validated against downstream outcomes.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0000CD"/>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2026-06-21T20:49:24Z</dcterms:created>
  <dcterms:modified xsi:type="dcterms:W3CDTF">2026-06-21T20:49:24Z</dcterms:modified>
</cp:coreProperties>
</file>