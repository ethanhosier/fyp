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810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r>
          <p:cNvPicPr>
            <a:picLocks noChangeAspect="1"/>
          </p:cNvPicPr>
          <p:nvPr/>
        </p:nvPicPr>
        <p:blipFill>
          <a:blip r:embed="rId1"/>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generating reference trajectories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algn="ctr" indent="0" marL="0">
              <a:buNone/>
            </a:pPr>
            <a:r>
              <a:rPr lang="en-US" sz="1600" i="1" dirty="0">
                <a:solidFill>
                  <a:srgbClr val="555555"/>
                </a:solidFill>
              </a:rPr>
              <a:t>Two developers refactor the same code </a:t>
            </a:r>
            <a:pPr algn="ctr" indent="0" marL="0">
              <a:buNone/>
            </a:pPr>
            <a:r>
              <a:rPr lang="en-US" sz="1600" b="1" i="1" dirty="0">
                <a:solidFill>
                  <a:srgbClr val="555555"/>
                </a:solidFill>
              </a:rPr>
              <a:t>and arrive at the same final state</a:t>
            </a:r>
            <a:pPr algn="ctr" indent="0" marL="0">
              <a:buNone/>
            </a:pPr>
            <a:r>
              <a:rPr lang="en-US" sz="1600" i="1" dirty="0">
                <a:solidFill>
                  <a:srgbClr val="555555"/>
                </a:solidFill>
              </a:rPr>
              <a:t>.</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sp>
      <p:sp>
        <p:nvSpPr>
          <p:cNvPr id="5" name="Text 3"/>
          <p:cNvSpPr/>
          <p:nvPr/>
        </p:nvSpPr>
        <p:spPr>
          <a:xfrm>
            <a:off x="548640" y="1755648"/>
            <a:ext cx="3840480" cy="365760"/>
          </a:xfrm>
          <a:prstGeom prst="rect">
            <a:avLst/>
          </a:prstGeom>
          <a:noFill/>
          <a:ln/>
        </p:spPr>
        <p:txBody>
          <a:bodyPr wrap="square" lIns="0" tIns="0" rIns="0" bIns="0" rtlCol="0" anchor="ctr"/>
          <a:lstStyle/>
          <a:p>
            <a:pPr algn="ctr" indent="0" marL="0">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sp>
      <p:sp>
        <p:nvSpPr>
          <p:cNvPr id="8" name="Text 6"/>
          <p:cNvSpPr/>
          <p:nvPr/>
        </p:nvSpPr>
        <p:spPr>
          <a:xfrm>
            <a:off x="4754880" y="1755648"/>
            <a:ext cx="3840480" cy="365760"/>
          </a:xfrm>
          <a:prstGeom prst="rect">
            <a:avLst/>
          </a:prstGeom>
          <a:noFill/>
          <a:ln/>
        </p:spPr>
        <p:txBody>
          <a:bodyPr wrap="square" lIns="0" tIns="0" rIns="0" bIns="0" rtlCol="0" anchor="ctr"/>
          <a:lstStyle/>
          <a:p>
            <a:pPr algn="ctr" indent="0" marL="0">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4114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Motivation: what's missing in prior work</a:t>
            </a:r>
            <a:endParaRPr lang="en-US" sz="2800" dirty="0"/>
          </a:p>
        </p:txBody>
      </p:sp>
      <p:sp>
        <p:nvSpPr>
          <p:cNvPr id="3" name="Text 1"/>
          <p:cNvSpPr/>
          <p:nvPr/>
        </p:nvSpPr>
        <p:spPr>
          <a:xfrm>
            <a:off x="548640" y="1097280"/>
            <a:ext cx="8046720" cy="640080"/>
          </a:xfrm>
          <a:prstGeom prst="rect">
            <a:avLst/>
          </a:prstGeom>
          <a:noFill/>
          <a:ln/>
        </p:spPr>
        <p:txBody>
          <a:bodyPr wrap="square" lIns="0" tIns="0" rIns="0" bIns="0" rtlCol="0" anchor="ctr"/>
          <a:lstStyle/>
          <a:p>
            <a:pPr algn="ctr" indent="0" marL="0">
              <a:buNone/>
            </a:pPr>
            <a:r>
              <a:rPr lang="en-US" sz="1500" i="1" dirty="0">
                <a:solidFill>
                  <a:srgbClr val="333333"/>
                </a:solidFill>
              </a:rPr>
              <a:t>To help developers refactor better, we need to measure what a </a:t>
            </a:r>
            <a:pPr algn="ctr" indent="0" marL="0">
              <a:buNone/>
            </a:pPr>
            <a:r>
              <a:rPr lang="en-US" sz="1500" i="1" dirty="0">
                <a:solidFill>
                  <a:srgbClr val="333333"/>
                </a:solidFill>
              </a:rPr>
              <a:t>good refactoring session</a:t>
            </a:r>
            <a:pPr algn="ctr" indent="0" marL="0">
              <a:buNone/>
            </a:pPr>
            <a:r>
              <a:rPr lang="en-US" sz="1500" i="1" dirty="0">
                <a:solidFill>
                  <a:srgbClr val="333333"/>
                </a:solidFill>
              </a:rPr>
              <a:t> actually looks like - not just what code it produces.</a:t>
            </a:r>
            <a:endParaRPr lang="en-US" sz="1500" dirty="0"/>
          </a:p>
        </p:txBody>
      </p:sp>
      <p:sp>
        <p:nvSpPr>
          <p:cNvPr id="4" name="Text 2"/>
          <p:cNvSpPr/>
          <p:nvPr/>
        </p:nvSpPr>
        <p:spPr>
          <a:xfrm>
            <a:off x="457200" y="1783080"/>
            <a:ext cx="8229600" cy="320040"/>
          </a:xfrm>
          <a:prstGeom prst="rect">
            <a:avLst/>
          </a:prstGeom>
          <a:noFill/>
          <a:ln/>
        </p:spPr>
        <p:txBody>
          <a:bodyPr wrap="square" lIns="0" tIns="0" rIns="0" bIns="0" rtlCol="0" anchor="ctr"/>
          <a:lstStyle/>
          <a:p>
            <a:pPr algn="ctr" indent="0" marL="0">
              <a:buNone/>
            </a:pPr>
            <a:r>
              <a:rPr lang="en-US" sz="1400" b="1" dirty="0">
                <a:solidFill>
                  <a:srgbClr val="1A1A1A"/>
                </a:solidFill>
              </a:rPr>
              <a:t>But prior work mostly measures outcomes, not the process:</a:t>
            </a:r>
            <a:endParaRPr lang="en-US" sz="1400" dirty="0"/>
          </a:p>
        </p:txBody>
      </p:sp>
      <p:sp>
        <p:nvSpPr>
          <p:cNvPr id="5" name="Text 3"/>
          <p:cNvSpPr/>
          <p:nvPr/>
        </p:nvSpPr>
        <p:spPr>
          <a:xfrm>
            <a:off x="457200" y="2240280"/>
            <a:ext cx="8229600" cy="2743200"/>
          </a:xfrm>
          <a:prstGeom prst="rect">
            <a:avLst/>
          </a:prstGeom>
          <a:noFill/>
          <a:ln/>
        </p:spPr>
        <p:txBody>
          <a:bodyPr wrap="square" rtlCol="0" anchor="t"/>
          <a:lstStyle/>
          <a:p>
            <a:pPr marL="342900" indent="-342900">
              <a:spcAft>
                <a:spcPts val="800"/>
              </a:spcAft>
              <a:buSzPct val="100000"/>
              <a:buChar char="•"/>
            </a:pPr>
            <a:r>
              <a:rPr lang="en-US" sz="1300" b="1" dirty="0">
                <a:solidFill>
                  <a:srgbClr val="000000"/>
                </a:solidFill>
              </a:rPr>
              <a:t>Endpoint quality metrics </a:t>
            </a:r>
            <a:pPr indent="0" marL="0">
              <a:spcAft>
                <a:spcPts val="800"/>
              </a:spcAft>
              <a:buNone/>
            </a:pPr>
            <a:r>
              <a:rPr lang="en-US" sz="1300" i="1" dirty="0">
                <a:solidFill>
                  <a:srgbClr val="555555"/>
                </a:solidFill>
              </a:rPr>
              <a:t>(CK, smells, cohesion, coupling)</a:t>
            </a:r>
            <a:pPr indent="0" marL="0">
              <a:spcAft>
                <a:spcPts val="800"/>
              </a:spcAft>
              <a:buNone/>
            </a:pPr>
            <a:r>
              <a:rPr lang="en-US" sz="1300" dirty="0">
                <a:solidFill>
                  <a:srgbClr val="555555"/>
                </a:solidFill>
              </a:rPr>
              <a:t> - compare before vs after; ignore the path between, and can't distinguish two sessions ending at the same code.</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Refactoring recommenders / sequence generators </a:t>
            </a:r>
            <a:pPr indent="0" marL="0">
              <a:spcAft>
                <a:spcPts val="800"/>
              </a:spcAft>
              <a:buNone/>
            </a:pPr>
            <a:r>
              <a:rPr lang="en-US" sz="1300" i="1" dirty="0">
                <a:solidFill>
                  <a:srgbClr val="555555"/>
                </a:solidFill>
              </a:rPr>
              <a:t>(search-based, ReSynth)</a:t>
            </a:r>
            <a:pPr indent="0" marL="0">
              <a:spcAft>
                <a:spcPts val="800"/>
              </a:spcAft>
              <a:buNone/>
            </a:pPr>
            <a:r>
              <a:rPr lang="en-US" sz="1300" dirty="0">
                <a:solidFill>
                  <a:srgbClr val="555555"/>
                </a:solidFill>
              </a:rPr>
              <a:t> - generate paths toward a target end state; don't score the developer's own path.</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Exercise-scoped feedback tools </a:t>
            </a:r>
            <a:pPr indent="0" marL="0">
              <a:spcAft>
                <a:spcPts val="800"/>
              </a:spcAft>
              <a:buNone/>
            </a:pPr>
            <a:r>
              <a:rPr lang="en-US" sz="1300" dirty="0">
                <a:solidFill>
                  <a:srgbClr val="555555"/>
                </a:solidFill>
              </a:rPr>
              <a:t>- match explicit events inside predefined exercises; don't generalise to arbitrary sessions.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0000CD"/>
                </a:solidFill>
              </a:rPr>
              <a:t>Gap: </a:t>
            </a:r>
            <a:pPr algn="ctr" indent="0" marL="0">
              <a:buNone/>
            </a:pP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pPr indent="0" marL="0">
              <a:buNone/>
            </a:pPr>
            <a:r>
              <a:rPr lang="en-US" sz="1400" dirty="0">
                <a:solidFill>
                  <a:srgbClr val="888888"/>
                </a:solidFill>
              </a:rPr>
              <a:t>- one number per trajectory so sessions can be compared.</a:t>
            </a:r>
            <a:pPr indent="0" marL="0">
              <a:buNone/>
            </a:pPr>
            <a:r>
              <a:rPr lang="en-US" sz="1400" dirty="0">
                <a:solidFill>
                  <a:srgbClr val="888888"/>
                </a:solidFill>
              </a:rPr>
              <a:t> [1]</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pPr indent="0" marL="0">
              <a:buNone/>
            </a:pPr>
            <a:r>
              <a:rPr lang="en-US" sz="1400" dirty="0">
                <a:solidFill>
                  <a:srgbClr val="888888"/>
                </a:solidFill>
              </a:rPr>
              <a:t>- point to a specific moment AND a "what you could have done instead" alternative.</a:t>
            </a:r>
            <a:pPr indent="0" marL="0">
              <a:buNone/>
            </a:pPr>
            <a:r>
              <a:rPr lang="en-US" sz="1400" dirty="0">
                <a:solidFill>
                  <a:srgbClr val="888888"/>
                </a:solidFill>
              </a:rPr>
              <a:t> [2]</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pPr indent="0" marL="0">
              <a:buNone/>
            </a:pPr>
            <a:r>
              <a:rPr lang="en-US" sz="1400" dirty="0">
                <a:solidFill>
                  <a:srgbClr val="888888"/>
                </a:solidFill>
              </a:rPr>
              <a:t>- the state-action space over a real codebase is too large to enumerate, so we must find efficient methods of identifying "better" alternatives.</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pPr indent="0" marL="0">
              <a:buNone/>
            </a:pPr>
            <a:r>
              <a:rPr lang="en-US" sz="1400" dirty="0">
                <a:solidFill>
                  <a:srgbClr val="888888"/>
                </a:solidFill>
              </a:rPr>
              <a:t>- zero extra developer effort to use the tool.</a:t>
            </a:r>
            <a:pPr indent="0" marL="0">
              <a:buNone/>
            </a:pPr>
            <a:r>
              <a:rPr lang="en-US" sz="1400" dirty="0">
                <a:solidFill>
                  <a:srgbClr val="888888"/>
                </a:solidFill>
              </a:rPr>
              <a:t> [3]</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Inverts prior refactoring recommenders (ReSynth, Refactoring Navigator, search-based refactoring).   </a:t>
            </a:r>
            <a:pPr algn="l" indent="0" marL="0">
              <a:buNone/>
            </a:pPr>
            <a:r>
              <a:rPr lang="en-US" sz="900" i="1" dirty="0">
                <a:solidFill>
                  <a:srgbClr val="888888"/>
                </a:solidFill>
              </a:rPr>
              <a:t>[3] IDE-event logging (Damevski et al., CodeWatcher).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The tool, end to end: actionable refactoring process analysis</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pPr indent="0" marL="0">
              <a:buNone/>
            </a:pPr>
            <a:r>
              <a:rPr lang="en-US" sz="1800" dirty="0">
                <a:solidFill>
                  <a:srgbClr val="888888"/>
                </a:solidFill>
              </a:rPr>
              <a:t>- unnecessary risk (hand-edit when the IDE could have safely done it).</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pPr indent="0" marL="0">
              <a:buNone/>
            </a:pPr>
            <a:r>
              <a:rPr lang="en-US" sz="1800" dirty="0">
                <a:solidFill>
                  <a:srgbClr val="888888"/>
                </a:solidFill>
              </a:rPr>
              <a:t>- right refactorings, wrong sequence.</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pPr indent="0" marL="0">
              <a:buNone/>
            </a:pPr>
            <a:r>
              <a:rPr lang="en-US" sz="1800" dirty="0">
                <a:solidFill>
                  <a:srgbClr val="888888"/>
                </a:solidFill>
              </a:rPr>
              <a:t>- unnecessary churn (added then removed).</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pPr indent="0" marL="0">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0000CD"/>
                </a:solidFill>
              </a:rPr>
              <a:t>Reproducible: </a:t>
            </a:r>
            <a:pPr algn="ctr" indent="0" marL="0">
              <a:buNone/>
            </a:pP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Experiment 1: Is the tool accurate?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DETECTION</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SYNTHESIS</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sp>
      <p:sp>
        <p:nvSpPr>
          <p:cNvPr id="6" name="Text 4"/>
          <p:cNvSpPr/>
          <p:nvPr/>
        </p:nvSpPr>
        <p:spPr>
          <a:xfrm>
            <a:off x="45720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1.00</a:t>
            </a:r>
            <a:endParaRPr lang="en-US" sz="4400" dirty="0"/>
          </a:p>
          <a:p>
            <a:pPr algn="ctr" indent="0" marL="0">
              <a:spcAft>
                <a:spcPts val="800"/>
              </a:spcAft>
              <a:buNone/>
            </a:pPr>
            <a:r>
              <a:rPr lang="en-US" sz="1100" b="1" dirty="0">
                <a:solidFill>
                  <a:srgbClr val="1A1A1A"/>
                </a:solidFill>
              </a:rPr>
              <a:t>Precision  ·  all four kinds</a:t>
            </a:r>
            <a:endParaRPr lang="en-US" sz="4400" dirty="0"/>
          </a:p>
          <a:p>
            <a:pPr algn="ctr" indent="0" marL="0">
              <a:buNone/>
            </a:pPr>
            <a:r>
              <a:rPr lang="en-US" sz="1000" i="1" dirty="0">
                <a:solidFill>
                  <a:srgbClr val="555555"/>
                </a:solidFill>
              </a:rPr>
              <a:t>When the detector flags a divergence, it's never a false positive. (45 labelled sessions, three raters at Cohen's κ ≥ 0.72.)</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sp>
      <p:sp>
        <p:nvSpPr>
          <p:cNvPr id="8" name="Text 6"/>
          <p:cNvSpPr/>
          <p:nvPr/>
        </p:nvSpPr>
        <p:spPr>
          <a:xfrm>
            <a:off x="489204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62%</a:t>
            </a:r>
            <a:endParaRPr lang="en-US" sz="4400" dirty="0"/>
          </a:p>
          <a:p>
            <a:pPr algn="ctr" indent="0" marL="0">
              <a:spcAft>
                <a:spcPts val="800"/>
              </a:spcAft>
              <a:buNone/>
            </a:pPr>
            <a:r>
              <a:rPr lang="en-US" sz="1100" b="1" dirty="0">
                <a:solidFill>
                  <a:srgbClr val="1A1A1A"/>
                </a:solidFill>
              </a:rPr>
              <a:t>Alternatives beat user trajectory  ·  41 of 66</a:t>
            </a:r>
            <a:endParaRPr lang="en-US" sz="4400" dirty="0"/>
          </a:p>
          <a:p>
            <a:pPr algn="ctr" indent="0" marL="0">
              <a:buNone/>
            </a:pPr>
            <a:r>
              <a:rPr lang="en-US" sz="1000" i="1" dirty="0">
                <a:solidFill>
                  <a:srgbClr val="555555"/>
                </a:solidFill>
              </a:rPr>
              <a:t>When the tool flags a divergence, the synthesised alternative usually scores higher than the path the user actually took.</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sp>
      <p:sp>
        <p:nvSpPr>
          <p:cNvPr id="10" name="Text 8"/>
          <p:cNvSpPr/>
          <p:nvPr/>
        </p:nvSpPr>
        <p:spPr>
          <a:xfrm>
            <a:off x="45720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1.00  /  0.76  /  0.36</a:t>
            </a:r>
            <a:endParaRPr lang="en-US" sz="2200" dirty="0"/>
          </a:p>
          <a:p>
            <a:pPr algn="ctr" indent="0" marL="0">
              <a:spcAft>
                <a:spcPts val="800"/>
              </a:spcAft>
              <a:buNone/>
            </a:pPr>
            <a:r>
              <a:rPr lang="en-US" sz="1100" b="1" dirty="0">
                <a:solidFill>
                  <a:srgbClr val="1A1A1A"/>
                </a:solidFill>
              </a:rPr>
              <a:t>Recall  ·  Hygiene / Rework / MR / Ordering</a:t>
            </a:r>
            <a:endParaRPr lang="en-US" sz="2200" dirty="0"/>
          </a:p>
          <a:p>
            <a:pPr algn="ctr" indent="0" marL="0">
              <a:buNone/>
            </a:pPr>
            <a:r>
              <a:rPr lang="en-US" sz="1000" i="1" dirty="0">
                <a:solidFill>
                  <a:srgbClr val="555555"/>
                </a:solidFill>
              </a:rPr>
              <a:t>Three kinds catch everything; Ordering's validator is deliberately conservative - a known scope limit.</a:t>
            </a:r>
            <a:endParaRPr lang="en-US" sz="2200" dirty="0"/>
          </a:p>
        </p:txBody>
      </p:sp>
      <p:sp>
        <p:nvSpPr>
          <p:cNvPr id="11" name="Shape 9"/>
          <p:cNvSpPr/>
          <p:nvPr/>
        </p:nvSpPr>
        <p:spPr>
          <a:xfrm>
            <a:off x="4709160" y="2926080"/>
            <a:ext cx="4160520" cy="1691640"/>
          </a:xfrm>
          <a:prstGeom prst="roundRect">
            <a:avLst>
              <a:gd name="adj" fmla="val 4324"/>
            </a:avLst>
          </a:prstGeom>
          <a:solidFill>
            <a:srgbClr val="F5F5F5"/>
          </a:solidFill>
          <a:ln/>
        </p:spPr>
      </p:sp>
      <p:sp>
        <p:nvSpPr>
          <p:cNvPr id="12" name="Text 10"/>
          <p:cNvSpPr/>
          <p:nvPr/>
        </p:nvSpPr>
        <p:spPr>
          <a:xfrm>
            <a:off x="489204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75%  /  46%  /  42%</a:t>
            </a:r>
            <a:endParaRPr lang="en-US" sz="2200" dirty="0"/>
          </a:p>
          <a:p>
            <a:pPr algn="ctr" indent="0" marL="0">
              <a:spcAft>
                <a:spcPts val="800"/>
              </a:spcAft>
              <a:buNone/>
            </a:pPr>
            <a:r>
              <a:rPr lang="en-US" sz="1100" b="1" dirty="0">
                <a:solidFill>
                  <a:srgbClr val="1A1A1A"/>
                </a:solidFill>
              </a:rPr>
              <a:t>Beat rate by kind  ·  Hygiene / MR / Rework / Ordering</a:t>
            </a:r>
            <a:endParaRPr lang="en-US" sz="2200" dirty="0"/>
          </a:p>
          <a:p>
            <a:pPr algn="ctr" indent="0" marL="0">
              <a:buNone/>
            </a:pPr>
            <a:r>
              <a:rPr lang="en-US" sz="1000" i="1" dirty="0">
                <a:solidFill>
                  <a:srgbClr val="555555"/>
                </a:solidFill>
              </a:rPr>
              <a:t>Hygiene and Manual-Refactor reliably improve the score; Ordering ties often because alternatives reach the same end state.</a:t>
            </a:r>
            <a:endParaRPr lang="en-US" sz="22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algn="ctr" indent="0" marL="0">
              <a:buNone/>
            </a:pPr>
            <a:r>
              <a:rPr lang="en-US" sz="1100" i="1" dirty="0">
                <a:solidFill>
                  <a:srgbClr val="0000CD"/>
                </a:solidFill>
              </a:rPr>
              <a:t>Precision-perfect detection, balanced recall (one known scope limit on Ordering), and a higher-scoring alternative in roughly two-thirds of detected moments.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0000CD"/>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0000CD"/>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0000CD"/>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pPr indent="0" marL="0">
              <a:spcAft>
                <a:spcPts val="600"/>
              </a:spcAft>
              <a:buNone/>
            </a:pPr>
            <a:r>
              <a:rPr lang="en-US" sz="1600" i="1" dirty="0">
                <a:solidFill>
                  <a:srgbClr val="000000"/>
                </a:solidFill>
              </a:rPr>
              <a:t>arbitrary sessions</a:t>
            </a:r>
            <a:pPr indent="0" marL="0">
              <a:spcAft>
                <a:spcPts val="600"/>
              </a:spcAft>
              <a:buNone/>
            </a:pP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2026-06-21T20:36:42Z</dcterms:created>
  <dcterms:modified xsi:type="dcterms:W3CDTF">2026-06-21T20:36:42Z</dcterms:modified>
</cp:coreProperties>
</file>