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1F3F6F"/>
            </a:solidFill>
            <a:ln w="3810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1F3F6F"/>
            </a:solidFill>
            <a:ln w="31750" cap="flat">
              <a:solidFill>
                <a:srgbClr val="1F3F6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F6F"/>
              </a:solidFill>
              <a:ln w="9525" cap="flat">
                <a:solidFill>
                  <a:srgbClr val="1F3F6F"/>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3"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4"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5"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6"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22860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Two developers refactor the same code and arrive at the same final state.</a:t>
            </a:r>
            <a:endParaRPr lang="en-US" sz="1600" dirty="0"/>
          </a:p>
          <a:p>
            <a:pPr marL="342900" indent="-342900">
              <a:spcAft>
                <a:spcPts val="600"/>
              </a:spcAft>
              <a:buSzPct val="100000"/>
              <a:buChar char="•"/>
            </a:pPr>
            <a:r>
              <a:rPr lang="en-US" sz="1600" dirty="0">
                <a:solidFill>
                  <a:srgbClr val="000000"/>
                </a:solidFill>
              </a:rPr>
              <a:t>Developer A: ran tests, committed checkpoints, used IDE refactorings.</a:t>
            </a:r>
            <a:endParaRPr lang="en-US" sz="1600" dirty="0"/>
          </a:p>
          <a:p>
            <a:pPr marL="342900" indent="-342900">
              <a:spcAft>
                <a:spcPts val="600"/>
              </a:spcAft>
              <a:buSzPct val="100000"/>
              <a:buChar char="•"/>
            </a:pPr>
            <a:r>
              <a:rPr lang="en-US" sz="1600" dirty="0">
                <a:solidFill>
                  <a:srgbClr val="000000"/>
                </a:solidFill>
              </a:rPr>
              <a:t>Developer B: broke the build twice, added then removed 80 lines, hand-edited what the IDE could do safely.</a:t>
            </a:r>
            <a:endParaRPr lang="en-US" sz="1600" dirty="0"/>
          </a:p>
        </p:txBody>
      </p:sp>
      <p:sp>
        <p:nvSpPr>
          <p:cNvPr id="4" name="Text 2"/>
          <p:cNvSpPr/>
          <p:nvPr/>
        </p:nvSpPr>
        <p:spPr>
          <a:xfrm>
            <a:off x="457200" y="3840480"/>
            <a:ext cx="8229600" cy="109728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6400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Evaluating the refactoring process: what's missing in prior work</a:t>
            </a:r>
            <a:endParaRPr lang="en-US" sz="2800" dirty="0"/>
          </a:p>
        </p:txBody>
      </p:sp>
      <p:sp>
        <p:nvSpPr>
          <p:cNvPr id="3" name="Text 1"/>
          <p:cNvSpPr/>
          <p:nvPr/>
        </p:nvSpPr>
        <p:spPr>
          <a:xfrm>
            <a:off x="457200" y="1783080"/>
            <a:ext cx="8229600" cy="3657600"/>
          </a:xfrm>
          <a:prstGeom prst="rect">
            <a:avLst/>
          </a:prstGeom>
          <a:noFill/>
          <a:ln/>
        </p:spPr>
        <p:txBody>
          <a:bodyPr wrap="square" rtlCol="0" anchor="t"/>
          <a:lstStyle/>
          <a:p>
            <a:pPr marL="342900" indent="-342900">
              <a:spcAft>
                <a:spcPts val="600"/>
              </a:spcAft>
              <a:buSzPct val="100000"/>
              <a:buChar char="•"/>
            </a:pPr>
            <a:r>
              <a:rPr lang="en-US" sz="1600" b="1" dirty="0">
                <a:solidFill>
                  <a:srgbClr val="000000"/>
                </a:solidFill>
              </a:rPr>
              <a:t>Endpoint quality metrics (CK, smells, readability):</a:t>
            </a:r>
            <a:pPr indent="0" marL="0">
              <a:spcAft>
                <a:spcPts val="600"/>
              </a:spcAft>
              <a:buNone/>
            </a:pPr>
            <a:r>
              <a:rPr lang="en-US" sz="1600" dirty="0">
                <a:solidFill>
                  <a:srgbClr val="000000"/>
                </a:solidFill>
              </a:rPr>
              <a:t> compare before vs after, ignore the path taken.</a:t>
            </a:r>
            <a:endParaRPr lang="en-US" sz="1600" dirty="0"/>
          </a:p>
          <a:p>
            <a:pPr marL="342900" indent="-342900">
              <a:spcAft>
                <a:spcPts val="600"/>
              </a:spcAft>
              <a:buSzPct val="100000"/>
              <a:buChar char="•"/>
            </a:pPr>
            <a:r>
              <a:rPr lang="en-US" sz="1600" b="1" dirty="0">
                <a:solidFill>
                  <a:srgbClr val="000000"/>
                </a:solidFill>
              </a:rPr>
              <a:t>Refactoring recommenders / sequence generators</a:t>
            </a:r>
            <a:pPr indent="0" marL="0">
              <a:spcAft>
                <a:spcPts val="600"/>
              </a:spcAft>
              <a:buNone/>
            </a:pPr>
            <a:r>
              <a:rPr lang="en-US" sz="1600" dirty="0">
                <a:solidFill>
                  <a:srgbClr val="000000"/>
                </a:solidFill>
              </a:rPr>
              <a:t>: produce new sequences (typically at small scale), but do not evaluate the one the developer actually walked.</a:t>
            </a:r>
            <a:endParaRPr lang="en-US" sz="1600" dirty="0"/>
          </a:p>
          <a:p>
            <a:pPr marL="342900" indent="-342900">
              <a:spcAft>
                <a:spcPts val="600"/>
              </a:spcAft>
              <a:buSzPct val="100000"/>
              <a:buChar char="•"/>
            </a:pPr>
            <a:r>
              <a:rPr lang="en-US" sz="1600" b="1" dirty="0">
                <a:solidFill>
                  <a:srgbClr val="000000"/>
                </a:solidFill>
              </a:rPr>
              <a:t>Exercise-scoped feedback tools:</a:t>
            </a:r>
            <a:pPr indent="0" marL="0">
              <a:spcAft>
                <a:spcPts val="600"/>
              </a:spcAft>
              <a:buNone/>
            </a:pPr>
            <a:r>
              <a:rPr lang="en-US" sz="1600" dirty="0">
                <a:solidFill>
                  <a:srgbClr val="000000"/>
                </a:solidFill>
              </a:rPr>
              <a:t> one or two look for explicit events inside predefined exercises - but don't generalise to arbitrary refactoring sessions.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1F3F6F"/>
                </a:solidFill>
              </a:rPr>
              <a:t>Gap: </a:t>
            </a:r>
            <a:pPr algn="ctr" indent="0" marL="0">
              <a:buNone/>
            </a:pPr>
            <a:r>
              <a:rPr lang="en-US" sz="1400" i="1" dirty="0">
                <a:solidFill>
                  <a:srgbClr val="1F3F6F"/>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spcAft>
                <a:spcPts val="600"/>
              </a:spcAft>
              <a:buSzPct val="100000"/>
              <a:buChar char="•"/>
            </a:pPr>
            <a:r>
              <a:rPr lang="en-US" sz="1400" b="1" dirty="0">
                <a:solidFill>
                  <a:srgbClr val="000000"/>
                </a:solidFill>
              </a:rPr>
              <a:t>Quantifiable + comparable score </a:t>
            </a:r>
            <a:pPr indent="0" marL="0">
              <a:spcAft>
                <a:spcPts val="600"/>
              </a:spcAft>
              <a:buNone/>
            </a:pPr>
            <a:r>
              <a:rPr lang="en-US" sz="1400" dirty="0">
                <a:solidFill>
                  <a:srgbClr val="000000"/>
                </a:solidFill>
              </a:rPr>
              <a:t>- one number per trajectory so sessions can be compared.</a:t>
            </a:r>
            <a:pPr indent="0" marL="0">
              <a:spcAft>
                <a:spcPts val="600"/>
              </a:spcAft>
              <a:buNone/>
            </a:pPr>
            <a:r>
              <a:rPr lang="en-US" sz="1400" dirty="0">
                <a:solidFill>
                  <a:srgbClr val="888888"/>
                </a:solidFill>
              </a:rPr>
              <a:t> [1]</a:t>
            </a:r>
            <a:endParaRPr lang="en-US" sz="1400" dirty="0"/>
          </a:p>
          <a:p>
            <a:pPr marL="342900" indent="-342900">
              <a:spcAft>
                <a:spcPts val="600"/>
              </a:spcAft>
              <a:buSzPct val="100000"/>
              <a:buChar char="•"/>
            </a:pPr>
            <a:r>
              <a:rPr lang="en-US" sz="1400" b="1" dirty="0">
                <a:solidFill>
                  <a:srgbClr val="000000"/>
                </a:solidFill>
              </a:rPr>
              <a:t>Seamless, in-workflow capture </a:t>
            </a:r>
            <a:pPr indent="0" marL="0">
              <a:spcAft>
                <a:spcPts val="600"/>
              </a:spcAft>
              <a:buNone/>
            </a:pPr>
            <a:r>
              <a:rPr lang="en-US" sz="1400" dirty="0">
                <a:solidFill>
                  <a:srgbClr val="000000"/>
                </a:solidFill>
              </a:rPr>
              <a:t>- zero extra developer effort to use the tool.</a:t>
            </a:r>
            <a:pPr indent="0" marL="0">
              <a:spcAft>
                <a:spcPts val="600"/>
              </a:spcAft>
              <a:buNone/>
            </a:pPr>
            <a:r>
              <a:rPr lang="en-US" sz="1400" dirty="0">
                <a:solidFill>
                  <a:srgbClr val="888888"/>
                </a:solidFill>
              </a:rPr>
              <a:t> [2]</a:t>
            </a:r>
            <a:endParaRPr lang="en-US" sz="1400" dirty="0"/>
          </a:p>
          <a:p>
            <a:pPr marL="342900" indent="-342900">
              <a:spcAft>
                <a:spcPts val="600"/>
              </a:spcAft>
              <a:buSzPct val="100000"/>
              <a:buChar char="•"/>
            </a:pPr>
            <a:r>
              <a:rPr lang="en-US" sz="1400" b="1" dirty="0">
                <a:solidFill>
                  <a:srgbClr val="000000"/>
                </a:solidFill>
              </a:rPr>
              <a:t>Actionable, moment-specific feedback </a:t>
            </a:r>
            <a:pPr indent="0" marL="0">
              <a:spcAft>
                <a:spcPts val="600"/>
              </a:spcAft>
              <a:buNone/>
            </a:pPr>
            <a:r>
              <a:rPr lang="en-US" sz="1400" dirty="0">
                <a:solidFill>
                  <a:srgbClr val="000000"/>
                </a:solidFill>
              </a:rPr>
              <a:t>- point to a specific moment AND a "what you could have done instead" alternative.</a:t>
            </a:r>
            <a:pPr indent="0" marL="0">
              <a:spcAft>
                <a:spcPts val="600"/>
              </a:spcAft>
              <a:buNone/>
            </a:pPr>
            <a:r>
              <a:rPr lang="en-US" sz="1400" dirty="0">
                <a:solidFill>
                  <a:srgbClr val="888888"/>
                </a:solidFill>
              </a:rPr>
              <a:t> [3]</a:t>
            </a:r>
            <a:endParaRPr lang="en-US" sz="1400" dirty="0"/>
          </a:p>
          <a:p>
            <a:pPr marL="342900" indent="-342900">
              <a:spcAft>
                <a:spcPts val="600"/>
              </a:spcAft>
              <a:buSzPct val="100000"/>
              <a:buChar char="•"/>
            </a:pPr>
            <a:r>
              <a:rPr lang="en-US" sz="1400" b="1" dirty="0">
                <a:solidFill>
                  <a:srgbClr val="000000"/>
                </a:solidFill>
              </a:rPr>
              <a:t>Efficient alternative synthesis </a:t>
            </a:r>
            <a:pPr indent="0" marL="0">
              <a:spcAft>
                <a:spcPts val="600"/>
              </a:spcAft>
              <a:buNone/>
            </a:pPr>
            <a:r>
              <a:rPr lang="en-US" sz="1400" dirty="0">
                <a:solidFill>
                  <a:srgbClr val="000000"/>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IDE-event logging (Damevski et al., CodeWatcher).   </a:t>
            </a:r>
            <a:pPr algn="l" indent="0" marL="0">
              <a:buNone/>
            </a:pPr>
            <a:r>
              <a:rPr lang="en-US" sz="900" i="1" dirty="0">
                <a:solidFill>
                  <a:srgbClr val="888888"/>
                </a:solidFill>
              </a:rPr>
              <a:t>[3] Inverts prior refactoring recommenders (ReSynth, Refactoring Navigator, search-based refactoring).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spcAft>
                <a:spcPts val="1000"/>
              </a:spcAft>
              <a:buSzPct val="100000"/>
              <a:buChar char="•"/>
            </a:pPr>
            <a:r>
              <a:rPr lang="en-US" sz="1800" dirty="0">
                <a:solidFill>
                  <a:srgbClr val="000000"/>
                </a:solidFill>
              </a:rPr>
              <a:t>Manual-Refactor </a:t>
            </a:r>
            <a:pPr indent="0" marL="0">
              <a:spcAft>
                <a:spcPts val="1000"/>
              </a:spcAft>
              <a:buNone/>
            </a:pPr>
            <a:r>
              <a:rPr lang="en-US" sz="1800" dirty="0">
                <a:solidFill>
                  <a:srgbClr val="888888"/>
                </a:solidFill>
              </a:rPr>
              <a:t>- unnecessary risk (hand-edit when the IDE could have safely done it).</a:t>
            </a:r>
            <a:endParaRPr lang="en-US" sz="1800" dirty="0"/>
          </a:p>
          <a:p>
            <a:pPr marL="342900" indent="-342900">
              <a:spcAft>
                <a:spcPts val="1000"/>
              </a:spcAft>
              <a:buSzPct val="100000"/>
              <a:buChar char="•"/>
            </a:pPr>
            <a:r>
              <a:rPr lang="en-US" sz="1800" dirty="0">
                <a:solidFill>
                  <a:srgbClr val="000000"/>
                </a:solidFill>
              </a:rPr>
              <a:t>Ordering </a:t>
            </a:r>
            <a:pPr indent="0" marL="0">
              <a:spcAft>
                <a:spcPts val="1000"/>
              </a:spcAft>
              <a:buNone/>
            </a:pPr>
            <a:r>
              <a:rPr lang="en-US" sz="1800" dirty="0">
                <a:solidFill>
                  <a:srgbClr val="888888"/>
                </a:solidFill>
              </a:rPr>
              <a:t>- right refactorings, wrong sequence.</a:t>
            </a:r>
            <a:endParaRPr lang="en-US" sz="1800" dirty="0"/>
          </a:p>
          <a:p>
            <a:pPr marL="342900" indent="-342900">
              <a:spcAft>
                <a:spcPts val="1000"/>
              </a:spcAft>
              <a:buSzPct val="100000"/>
              <a:buChar char="•"/>
            </a:pPr>
            <a:r>
              <a:rPr lang="en-US" sz="1800" dirty="0">
                <a:solidFill>
                  <a:srgbClr val="000000"/>
                </a:solidFill>
              </a:rPr>
              <a:t>Rework </a:t>
            </a:r>
            <a:pPr indent="0" marL="0">
              <a:spcAft>
                <a:spcPts val="1000"/>
              </a:spcAft>
              <a:buNone/>
            </a:pPr>
            <a:r>
              <a:rPr lang="en-US" sz="1800" dirty="0">
                <a:solidFill>
                  <a:srgbClr val="888888"/>
                </a:solidFill>
              </a:rPr>
              <a:t>- unnecessary churn (added then removed).</a:t>
            </a:r>
            <a:endParaRPr lang="en-US" sz="1800" dirty="0"/>
          </a:p>
          <a:p>
            <a:pPr marL="342900" indent="-342900">
              <a:spcAft>
                <a:spcPts val="1000"/>
              </a:spcAft>
              <a:buSzPct val="100000"/>
              <a:buChar char="•"/>
            </a:pPr>
            <a:r>
              <a:rPr lang="en-US" sz="1800" dirty="0">
                <a:solidFill>
                  <a:srgbClr val="000000"/>
                </a:solidFill>
              </a:rPr>
              <a:t>Hygiene </a:t>
            </a:r>
            <a:pPr indent="0" marL="0">
              <a:spcAft>
                <a:spcPts val="1000"/>
              </a:spcAft>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 ground-truth labels at κ ≥ 0.72.</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658368"/>
            <a:ext cx="8229600" cy="256032"/>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426464"/>
            <a:ext cx="1143000" cy="548640"/>
          </a:xfrm>
          <a:prstGeom prst="rect">
            <a:avLst/>
          </a:prstGeom>
          <a:solidFill>
            <a:srgbClr val="D4F0DC"/>
          </a:solidFill>
          <a:ln w="6350">
            <a:solidFill>
              <a:srgbClr val="999999"/>
            </a:solidFill>
            <a:prstDash val="solid"/>
          </a:ln>
        </p:spPr>
      </p:sp>
      <p:sp>
        <p:nvSpPr>
          <p:cNvPr id="10" name="Text 8"/>
          <p:cNvSpPr/>
          <p:nvPr/>
        </p:nvSpPr>
        <p:spPr>
          <a:xfrm>
            <a:off x="11887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42646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97510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97510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91440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113385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35331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9019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42646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42646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42646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42646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97510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97510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97510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97510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54203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4381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4381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9867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9867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9260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31455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3649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9136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4381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4381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4381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4381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9867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9867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9867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9867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5537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8463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20624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Single-knob: 96.5% top-1 preserved </a:t>
            </a:r>
            <a:pPr indent="0" marL="0">
              <a:spcAft>
                <a:spcPts val="600"/>
              </a:spcAft>
              <a:buNone/>
            </a:pPr>
            <a:r>
              <a:rPr lang="en-US" sz="1500" dirty="0">
                <a:solidFill>
                  <a:srgbClr val="888888"/>
                </a:solidFill>
              </a:rPr>
              <a:t>- top-ranked DP rarely changes under any one-weight perturbation. Only 1.8% of cases are clamp-frozen, so this is genuine response - not a clamp artefact.</a:t>
            </a:r>
            <a:endParaRPr lang="en-US" sz="1500" dirty="0"/>
          </a:p>
          <a:p>
            <a:pPr lvl="1" marL="762000" indent="-381000">
              <a:spcAft>
                <a:spcPts val="1800"/>
              </a:spcAft>
              <a:buSzPct val="100000"/>
              <a:buChar char="•"/>
            </a:pPr>
            <a:r>
              <a:rPr lang="en-US" sz="1500" dirty="0">
                <a:solidFill>
                  <a:srgbClr val="000000"/>
                </a:solidFill>
              </a:rPr>
              <a:t>Multi-knob: 84.6% top-1 preserved (τ-b = 0.586) </a:t>
            </a:r>
            <a:pPr indent="0" marL="0">
              <a:spcAft>
                <a:spcPts val="1800"/>
              </a:spcAft>
              <a:buNone/>
            </a:pPr>
            <a:r>
              <a:rPr lang="en-US" sz="1500" dirty="0">
                <a:solidFill>
                  <a:srgbClr val="888888"/>
                </a:solidFill>
              </a:rPr>
              <a:t>- when all weights move at once, top-1 holds in ~85% of cases and ~79% of pairs still rank in the same order. Meaningful correlation, not full preservation.</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Length is the rank-carrier (LOO τ-b = 0.527) </a:t>
            </a:r>
            <a:pPr indent="0" marL="0">
              <a:spcAft>
                <a:spcPts val="600"/>
              </a:spcAft>
              <a:buNone/>
            </a:pPr>
            <a:r>
              <a:rPr lang="en-US" sz="1500" dirty="0">
                <a:solidFill>
                  <a:srgbClr val="888888"/>
                </a:solidFill>
              </a:rPr>
              <a:t>- removing length reshuffles the per-session ranking more than removing any other process term - the most influential term.</a:t>
            </a:r>
            <a:endParaRPr lang="en-US" sz="1500" dirty="0"/>
          </a:p>
          <a:p>
            <a:pPr lvl="1" marL="762000" indent="-381000">
              <a:spcAft>
                <a:spcPts val="600"/>
              </a:spcAft>
              <a:buSzPct val="100000"/>
              <a:buChar char="•"/>
            </a:pPr>
            <a:r>
              <a:rPr lang="en-US" sz="1500" dirty="0">
                <a:solidFill>
                  <a:srgbClr val="000000"/>
                </a:solidFill>
              </a:rPr>
              <a:t>Cleanliness sub-weights: ≤ 0.9% top-1 disruption </a:t>
            </a:r>
            <a:pPr indent="0" marL="0">
              <a:spcAft>
                <a:spcPts val="600"/>
              </a:spcAft>
              <a:buNone/>
            </a:pPr>
            <a:r>
              <a:rPr lang="en-US" sz="1500" dirty="0">
                <a:solidFill>
                  <a:srgbClr val="888888"/>
                </a:solidFill>
              </a:rPr>
              <a:t>- perturbing any single one of the 6 cleanliness signals barely shifts the ranking (~10× less than process weights), so equal-weights for the sub-signals is defensible.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 </a:t>
            </a:r>
            <a:pPr indent="0" marL="0">
              <a:spcAft>
                <a:spcPts val="600"/>
              </a:spcAft>
              <a:buNone/>
            </a:pPr>
            <a:r>
              <a:rPr lang="en-US" sz="1500" dirty="0">
                <a:solidFill>
                  <a:srgbClr val="888888"/>
                </a:solidFill>
              </a:rPr>
              <a:t>- 30 sessions total on user-study-fixture/ (separate from the labelled-injection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 two views </a:t>
            </a:r>
            <a:pPr indent="0" marL="0">
              <a:spcAft>
                <a:spcPts val="600"/>
              </a:spcAft>
              <a:buNone/>
            </a:pPr>
            <a:r>
              <a:rPr lang="en-US" sz="1500" dirty="0">
                <a:solidFill>
                  <a:srgbClr val="888888"/>
                </a:solidFill>
              </a:rPr>
              <a:t>- the production score, plus a gain-stripped variant (W_g = W_lag = 0) that isolates how the participant worked from how much cleaner the code ended up.</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1F3F6F"/>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1F3F6F"/>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1F3F6F"/>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51560"/>
            <a:ext cx="8229600" cy="685800"/>
          </a:xfrm>
          <a:prstGeom prst="rect">
            <a:avLst/>
          </a:prstGeom>
          <a:noFill/>
          <a:ln/>
        </p:spPr>
        <p:txBody>
          <a:bodyPr wrap="square" rtlCol="0" anchor="ctr"/>
          <a:lstStyle/>
          <a:p>
            <a:pPr algn="ctr" indent="0" marL="0">
              <a:buNone/>
            </a:pPr>
            <a:r>
              <a:rPr lang="en-US" sz="1700" i="1" dirty="0">
                <a:solidFill>
                  <a:srgbClr val="1F3F6F"/>
                </a:solidFill>
              </a:rPr>
              <a:t>Process-aware refactoring evaluation is tractable, and the resulting feedback shifts developer behaviour.</a:t>
            </a:r>
            <a:endParaRPr lang="en-US" sz="1700" dirty="0"/>
          </a:p>
        </p:txBody>
      </p:sp>
      <p:sp>
        <p:nvSpPr>
          <p:cNvPr id="4" name="Text 2"/>
          <p:cNvSpPr/>
          <p:nvPr/>
        </p:nvSpPr>
        <p:spPr>
          <a:xfrm>
            <a:off x="457200" y="1920240"/>
            <a:ext cx="8229600" cy="30175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J(τ)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deployable end-to-end system: IntelliJ plugin, analysis backend, and dashboard.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2026-06-21T16:01:40Z</dcterms:created>
  <dcterms:modified xsi:type="dcterms:W3CDTF">2026-06-21T16:01:40Z</dcterms:modified>
</cp:coreProperties>
</file>