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333333"/>
                </a:solidFill>
                <a:latin typeface="Arial"/>
              </a:rPr>
              <a:t>Divergence points per session (per participant)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Feedback (per participant)</c:v>
                </c:pt>
              </c:strCache>
            </c:strRef>
          </c:tx>
          <c:spPr>
            <a:solidFill>
              <a:srgbClr val="1F3F6F"/>
            </a:solidFill>
            <a:ln w="31750" cap="flat">
              <a:solidFill>
                <a:srgbClr val="1F3F6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F6F"/>
              </a:solidFill>
              <a:ln w="9525" cap="flat">
                <a:solidFill>
                  <a:srgbClr val="1F3F6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5.67</c:v>
                </c:pt>
                <c:pt idx="2">
                  <c:v>3.67</c:v>
                </c:pt>
                <c:pt idx="3">
                  <c:v>0</c:v>
                </c:pt>
                <c:pt idx="4">
                  <c:v>2.33</c:v>
                </c:pt>
                <c:pt idx="5">
                  <c:v>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(per participant)</c:v>
                </c:pt>
              </c:strCache>
            </c:strRef>
          </c:tx>
          <c:spPr>
            <a:solidFill>
              <a:srgbClr val="B25500"/>
            </a:solidFill>
            <a:ln w="31750" cap="flat">
              <a:solidFill>
                <a:srgbClr val="B255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25500"/>
              </a:solidFill>
              <a:ln w="9525" cap="flat">
                <a:solidFill>
                  <a:srgbClr val="B255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7.5</c:v>
                </c:pt>
                <c:pt idx="2">
                  <c:v>9.5</c:v>
                </c:pt>
                <c:pt idx="3">
                  <c:v>0</c:v>
                </c:pt>
                <c:pt idx="4">
                  <c:v>6.5</c:v>
                </c:pt>
                <c:pt idx="5">
                  <c:v>7.5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333333"/>
                </a:solidFill>
                <a:latin typeface="Arial"/>
              </a:rPr>
              <a:t>Production-weighted process score (with cleanliness gain)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Feedback mean</c:v>
                </c:pt>
              </c:strCache>
            </c:strRef>
          </c:tx>
          <c:spPr>
            <a:solidFill>
              <a:srgbClr val="1F3F6F"/>
            </a:solidFill>
            <a:ln w="31750" cap="flat">
              <a:solidFill>
                <a:srgbClr val="1F3F6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F6F"/>
              </a:solidFill>
              <a:ln w="9525" cap="flat">
                <a:solidFill>
                  <a:srgbClr val="1F3F6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13.7</c:v>
                </c:pt>
                <c:pt idx="1">
                  <c:v>66.7</c:v>
                </c:pt>
                <c:pt idx="2">
                  <c:v>33</c:v>
                </c:pt>
                <c:pt idx="3">
                  <c:v>89.7</c:v>
                </c:pt>
                <c:pt idx="4">
                  <c:v>32</c:v>
                </c:pt>
                <c:pt idx="5">
                  <c:v>48.3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mean</c:v>
                </c:pt>
              </c:strCache>
            </c:strRef>
          </c:tx>
          <c:spPr>
            <a:solidFill>
              <a:srgbClr val="B25500"/>
            </a:solidFill>
            <a:ln w="31750" cap="flat">
              <a:solidFill>
                <a:srgbClr val="B255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25500"/>
              </a:solidFill>
              <a:ln w="9525" cap="flat">
                <a:solidFill>
                  <a:srgbClr val="B255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11.5</c:v>
                </c:pt>
                <c:pt idx="1">
                  <c:v>20</c:v>
                </c:pt>
                <c:pt idx="2">
                  <c:v>15.5</c:v>
                </c:pt>
                <c:pt idx="3">
                  <c:v>76.5</c:v>
                </c:pt>
                <c:pt idx="4">
                  <c:v>44.5</c:v>
                </c:pt>
                <c:pt idx="5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200" b="0" i="0" u="none" strike="noStrike">
                <a:solidFill>
                  <a:srgbClr val="333333"/>
                </a:solidFill>
                <a:latin typeface="Arial"/>
              </a:rPr>
              <a:t>Gain-stripped process score (W_g = W_lag = 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Feedback mean</c:v>
                </c:pt>
              </c:strCache>
            </c:strRef>
          </c:tx>
          <c:spPr>
            <a:solidFill>
              <a:srgbClr val="1F3F6F"/>
            </a:solidFill>
            <a:ln w="38100" cap="flat">
              <a:solidFill>
                <a:srgbClr val="1F3F6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3F6F"/>
              </a:solidFill>
              <a:ln w="9525" cap="flat">
                <a:solidFill>
                  <a:srgbClr val="1F3F6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26.7</c:v>
                </c:pt>
                <c:pt idx="1">
                  <c:v>22</c:v>
                </c:pt>
                <c:pt idx="2">
                  <c:v>38.7</c:v>
                </c:pt>
                <c:pt idx="3">
                  <c:v>47.7</c:v>
                </c:pt>
                <c:pt idx="4">
                  <c:v>36.7</c:v>
                </c:pt>
                <c:pt idx="5">
                  <c:v>49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mean</c:v>
                </c:pt>
              </c:strCache>
            </c:strRef>
          </c:tx>
          <c:spPr>
            <a:solidFill>
              <a:srgbClr val="B25500"/>
            </a:solidFill>
            <a:ln w="38100" cap="flat">
              <a:solidFill>
                <a:srgbClr val="B255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25500"/>
              </a:solidFill>
              <a:ln w="9525" cap="flat">
                <a:solidFill>
                  <a:srgbClr val="B255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22.5</c:v>
                </c:pt>
                <c:pt idx="1">
                  <c:v>17.5</c:v>
                </c:pt>
                <c:pt idx="2">
                  <c:v>11</c:v>
                </c:pt>
                <c:pt idx="3">
                  <c:v>39</c:v>
                </c:pt>
                <c:pt idx="4">
                  <c:v>16.5</c:v>
                </c:pt>
                <c:pt idx="5">
                  <c:v>20.5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333333"/>
                </a:solidFill>
                <a:latin typeface="Arial"/>
              </a:rPr>
              <a:t>Gain-stripped score (same scale as user study)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Feedback mean (n=6)</c:v>
                </c:pt>
              </c:strCache>
            </c:strRef>
          </c:tx>
          <c:spPr>
            <a:solidFill>
              <a:srgbClr val="1F3F6F"/>
            </a:solidFill>
            <a:ln w="31750" cap="flat">
              <a:solidFill>
                <a:srgbClr val="1F3F6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F6F"/>
              </a:solidFill>
              <a:ln w="9525" cap="flat">
                <a:solidFill>
                  <a:srgbClr val="1F3F6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36.7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42</c:v>
                </c:pt>
                <c:pt idx="5">
                  <c:v>39.7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mean (n=2)</c:v>
                </c:pt>
              </c:strCache>
            </c:strRef>
          </c:tx>
          <c:spPr>
            <a:solidFill>
              <a:srgbClr val="B25500"/>
            </a:solidFill>
            <a:ln w="31750" cap="flat">
              <a:solidFill>
                <a:srgbClr val="B255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25500"/>
              </a:solidFill>
              <a:ln w="9525" cap="flat">
                <a:solidFill>
                  <a:srgbClr val="B255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34.5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42</c:v>
                </c:pt>
                <c:pt idx="5">
                  <c:v>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Beyond Before-and-After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Process-Quality Evaluation of Refactoring Sessions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</a:rPr>
              <a:t>Scoring the path a developer takes through a refactoring session, and pointing to where a better path existed.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</a:rPr>
              <a:t>Ethan Hosier  ·  Imperial College London  ·  Department of Computing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Supervisor: [Robert Chatley]  ·  Second marker: [Cristian Cadar]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Same destination, different journeys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Two developers refactor the same code and arrive at the same final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A: ran tests, committed checkpoints, used IDE refactorings.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B: broke the build twice, added then removed 80 lines, hand-edited what the IDE could do safely.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Which one would you want on your team?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Endpoint-only evaluation cannot tell them apart.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What's missing in prior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 quality metrics (CK, smells, readability): compare before vs after, ignore the path taken.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Refactoring recommenders / sequence generators: produce new sequences, but do not evaluate the one the developer actually walked.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Gap: no system scores an arbitrary observed refactoring session against an explicit process-quality metric, and shows where a better path was available.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gap the project fills.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Narrowing the design space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Evaluating refactoring as a process is a wide, mostly-unexplored design space. Four requirements shaped what we built.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</a:rPr>
              <a:t>Quantifiable + comparable score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0000"/>
                </a:solidFill>
              </a:rPr>
              <a:t>- one number per trajectory so sessions can be compared.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88888"/>
                </a:solidFill>
              </a:rPr>
              <a:t> [1]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</a:rPr>
              <a:t>Seamless, in-workflow capture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0000"/>
                </a:solidFill>
              </a:rPr>
              <a:t>- zero extra developer effort to use the tool.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88888"/>
                </a:solidFill>
              </a:rPr>
              <a:t> [2]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</a:rPr>
              <a:t>Actionable, moment-specific feedback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0000"/>
                </a:solidFill>
              </a:rPr>
              <a:t>- point to a specific moment AND a "what you could have done instead" alternative.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88888"/>
                </a:solidFill>
              </a:rPr>
              <a:t> [3]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</a:rPr>
              <a:t>Efficient alternative synthesis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0000"/>
                </a:solidFill>
              </a:rPr>
              <a:t>- the state-action space over a real codebase is too large to enumerate, so we must find efficient methods of identifying "better" alternatives.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663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[1] Composite quality models (Quamoco, QMOOD), adapted from snapshot- to trajectory-level.   </a:t>
            </a:r>
            <a:pPr algn="l"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[2] IDE-event logging (Damevski et al., CodeWatcher).   </a:t>
            </a:r>
            <a:pPr algn="l"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[3] Inverts prior refactoring recommenders (ReSynth, Refactoring Navigator, search-based refactoring).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00000"/>
                </a:solidFill>
              </a:rPr>
              <a:t>Demo</a:t>
            </a:r>
            <a:endParaRPr lang="en-US" sz="8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the tool does, end to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828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IntelliJ Plugin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Records developer events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Captures initial codebase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Analysis Backend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Shadow repo reconstruction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Metric calculation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Divergence detection &amp; synthesis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836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Dashboard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Surfaces divergence points in context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Explains alternative paths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5146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events.jsonl + initial-src/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607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7150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analysis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-report.json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Scoring a trajectory: J(τ)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J(τ)  =  clip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000000"/>
                </a:solidFill>
              </a:rPr>
              <a:t>[0,100]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(    50    </a:t>
            </a:r>
            <a:pPr algn="ctr" indent="0" marL="0">
              <a:buNone/>
            </a:pPr>
            <a:r>
              <a:rPr lang="en-US" sz="2200" i="1" dirty="0">
                <a:solidFill>
                  <a:srgbClr val="777777"/>
                </a:solidFill>
              </a:rPr>
              <a:t>(baseline)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  +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77440" y="1280160"/>
          <a:ext cx="4389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657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+50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cleanliness gain*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step-savings bonus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−28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broken build / 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−14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skipped-test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manual edits the IDE could refactor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Intermediate cleanliness lag (degradation)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−7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Long durations without commits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)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* cleanliness gain = mean of 6 normalised signals: complexity, coupling, duplication, readability, smells, cohesion.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All 6 weighted equally - no trajectory-level calibration data exists, so equal weights are the least-assumptive choice.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Four kinds of divergence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Manual-Refactor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risk (hand-edit when the IDE could have safely done it).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Ordering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right refactorings, wrong sequence.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Rework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churn (added then removed).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Hygiene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missing safety checkpoints (no tests, no commits).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Manual-Refactor: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developer hand-edited something the IDE could have done safely (and with its precondition checks).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run RefactoringMiner on sliding commit windows; cross-check against the IDE event stream - anything RefactoringMiner finds that the IDE did not emit is a manual refactoring.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apply the equivalent IDE refactoring, then three-way merge the user's other edits back on top.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Wrap-and-patch layer reconciles minor JDT ↔ IntelliJ AST differences (e.g. static modifiers, variable liveness).</a:t>
            </a:r>
            <a:endParaRPr lang="en-US" sz="1300" dirty="0"/>
          </a:p>
        </p:txBody>
      </p:sp>
      <p:pic>
        <p:nvPicPr>
          <p:cNvPr id="4" name="Image 0" descr="images/manual-refa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80360"/>
            <a:ext cx="6217920" cy="20391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Ordering: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What: the right refactorings, performed in a suboptimal order - final state is fine, intermediate states are worse than they needed to be.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Detect: find a subsequence of refactorings whose reordering still validates to the user's terminal state (canonical AST hash, formatting/comments ignored).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Synthesise: build a dependency DAG over the refactorings in the window.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Prefix-trie DFS over valid topological orderings - shares work across common prefixes, rolls back with git checkout on backtrack.</a:t>
            </a:r>
            <a:endParaRPr lang="en-US" sz="1400" dirty="0"/>
          </a:p>
        </p:txBody>
      </p:sp>
      <p:pic>
        <p:nvPicPr>
          <p:cNvPr id="4" name="Image 0" descr="images/reorder-syn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017520"/>
            <a:ext cx="5486400" cy="1874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Rework: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code added and later removed (or vice versa) - net-zero churn, but real cost while it was there.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hash normalised lines; pair add/remove events by (file, scope, content-hash).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strip both halves from the trajectory; replay the rest of the user's edits unchanged; validate the terminal state matches.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Simplest of the four synthesisers, but high recall - precision and recall both 1.00 on the injection set.</a:t>
            </a:r>
            <a:endParaRPr lang="en-US" sz="1300" dirty="0"/>
          </a:p>
        </p:txBody>
      </p:sp>
      <p:pic>
        <p:nvPicPr>
          <p:cNvPr id="4" name="Image 0" descr="images/r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2834640"/>
            <a:ext cx="4389120" cy="212140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Hygiene: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What: long stretches of work without safety checkpoints - no test runs, no commits.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Detect: 60-second windows with no test-run events; commit-gap events when commits are spaced beyond threshold.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Synthesise: model an alternative cadence that inserts test-run and commit events at the right points.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alternative's J(τ) credits those checkpoints via the skip-tests and commit-gap terms.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Cheap to compute, but consistently surfaces meaningful divergences in the user study.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we wanted to evaluate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754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Question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Answered by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tool accurate? Are the synthesised alternatives actually better than what the user did?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45 labelled injection sessions: per-kind precision and recall (Slides 14-15) plus beat/tie/lose breakdown across all 66 detected divergence points (Slide 16).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process score reliable? Does the ranking hold up when the weights are perturbed?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Sensitivity sweep + ablation, headline on the 25-session user-study rankable subset (Slides 17-18).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Does the tool change developer behaviour? Fewer divergences over time when feedback is shown?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30-session randomised user study, 5 participants split between feedback and no-feedback arms (Slide 19).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Is the tool accurate?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45 hand-labelled injection sessions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on a Java codebase.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3 raters (author + 2 external MEng cohort members)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inter-rater Cohen's κ = 1.00 (Ordering, Manual-Refactor), 0.86–1.00 (Rework), 0.72–0.86 (Hygiene).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Disagreements predominantly surrounding hygiene + rework labels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differences in opinion of what constitutes a step.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Track all divergence points detected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not only ones with a higher process score than the user.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Measure precision + recall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precision guards against FPs that waste the developer's attention. Recall guards against FNs that miss real opportunities. F1 averages the two - so a high score can hide a detector that's annoying users (lots of FPs) or one that's quietly missing things (lots of FNs). Accuracy is dominated by true negatives.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Decision matrix per divergence kind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55555"/>
                </a:solidFill>
              </a:rPr>
              <a:t>Session-level (45 injection sessions).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Manual-Refactor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3317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5331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42646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16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331720" y="142646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5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188720" y="197510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331720" y="197510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317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24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2542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0.76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914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Ordering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465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135331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42646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14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446520" y="142646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24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303520" y="197510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446520" y="197510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7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754880" y="2542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0.36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29260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Rework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887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3317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008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008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88720" y="343814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9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2331720" y="343814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317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1188720" y="398678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2331720" y="398678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3317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36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40080" y="4553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754880" y="29260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Hygiene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3035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465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75488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75488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03520" y="343814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035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8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6446520" y="343814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465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55" name="Shape 53"/>
          <p:cNvSpPr/>
          <p:nvPr/>
        </p:nvSpPr>
        <p:spPr>
          <a:xfrm>
            <a:off x="5303520" y="398678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035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57" name="Shape 55"/>
          <p:cNvSpPr/>
          <p:nvPr/>
        </p:nvSpPr>
        <p:spPr>
          <a:xfrm>
            <a:off x="6446520" y="398678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465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37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59" name="Text 57"/>
          <p:cNvSpPr/>
          <p:nvPr/>
        </p:nvSpPr>
        <p:spPr>
          <a:xfrm>
            <a:off x="4754880" y="4553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65760" y="48463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Ordering recall is the outlier: the reorder synthesiser's splitOnInvalid validator rejects any window containing a step it cannot safely.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Are the alternatives actually better?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41 of 66 synthesised alternatives strictly beat the user's trajectory (~62%). Quality varies sharply by kind.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0080"/>
                <a:gridCol w="1005840"/>
                <a:gridCol w="914400"/>
                <a:gridCol w="1005840"/>
                <a:gridCol w="1097280"/>
                <a:gridCol w="14630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Kind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DPs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Beats ✓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Ties =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Loses ✗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Beat rate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Max Δ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Hygiene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+9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Manual-Refactor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75%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+23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Rework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46%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+8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Ordering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42%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+9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2062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77777"/>
                </a:solidFill>
              </a:rPr>
              <a:t>Ordering alternatives share the end state, so only W_lag (intermediate cleanliness) can separate them. They tie when intermediate cleanliness is identical - often when build/tests broke and cleanliness stats are frozen at the last trustworthy value. </a:t>
            </a:r>
            <a:pPr algn="ctr" indent="0" marL="0">
              <a:buNone/>
            </a:pPr>
            <a:r>
              <a:rPr lang="en-US" sz="1000" i="1" dirty="0">
                <a:solidFill>
                  <a:srgbClr val="777777"/>
                </a:solidFill>
              </a:rPr>
              <a:t>Manual-Refactor's 3 ties + 1 loss come from the [0,100] score clamp - the user's score is pinned at the floor, so the IDE alternative can't score lower either.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Is the process score reliable?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How stable is the score?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Two perturbation sweeps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single-knob (one weight scaled ×0.1 to ×10) + multi-knob Monte Carlo (200 samples, σ = ln 2, so ~×0.25 to ×4 of production).</a:t>
            </a:r>
            <a:endParaRPr lang="en-US" sz="1500" dirty="0"/>
          </a:p>
          <a:p>
            <a:pPr lvl="1" marL="762000" indent="-381000"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Stability metrics </a:t>
            </a:r>
            <a:pPr indent="0" marL="0">
              <a:spcAft>
                <a:spcPts val="18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top-1 hit rate (does the top-ranked DP stay on top?) + Kendall's τ-b on per-session rankings.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Does every component of the process score hold weight?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Process-side ablation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enumerate all 2⁷ = 128 subsets of the 7 process weights → 5,760 cases per session set.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Recovery metrics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sum-over-sum magnitude recovery (does the term carry signal?) + leave-one-out Kendall's τ-b (does removing it reshuffle rankings?).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Score is locally robust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How stable is the score?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Single-knob: 96.5% top-1 preserved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top-ranked DP rarely changes under any one-weight perturbation. Only 1.8% of cases are clamp-frozen, so this is genuine response - not a clamp artefact.</a:t>
            </a:r>
            <a:endParaRPr lang="en-US" sz="1500" dirty="0"/>
          </a:p>
          <a:p>
            <a:pPr lvl="1" marL="762000" indent="-381000"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Multi-knob: 84.6% top-1 preserved (τ-b = 0.586) </a:t>
            </a:r>
            <a:pPr indent="0" marL="0">
              <a:spcAft>
                <a:spcPts val="18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when all weights move at once, top-1 holds in ~85% of cases and ~79% of pairs still rank in the same order. Meaningful correlation, not full preservation.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Does every component of the process score hold weight?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Length is the rank-carrier (LOO τ-b = 0.527)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removing length reshuffles the per-session ranking more than removing any other process term - the most influential term.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Cleanliness sub-weights: ≤ 0.9% top-1 disruption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perturbing any single one of the 6 cleanliness signals barely shifts the ranking (~10× less than process weights), so equal-weights for the sub-signals is defensible.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Does dashboard feedback change developer behaviour?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How did we design the study?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5 MEng Computing participants, 6 sessions each, on an order-processing codebase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- 30 sessions total on user-study-fixture/ (separate from the labelled-injection codebase).</a:t>
            </a:r>
            <a:endParaRPr lang="en-US" sz="1500" dirty="0"/>
          </a:p>
          <a:p>
            <a:pPr lvl="1" marL="762000" indent="-381000"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Randomised into 2 arms </a:t>
            </a:r>
            <a:pPr indent="0" marL="0">
              <a:spcAft>
                <a:spcPts val="18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P1, P2, P3 see dashboard feedback between sessions; P4 and P5 don't. Same playbook, codebase, instrumentation.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What did we measure?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Divergence-point count per session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does the detector still surface the same kinds of friction over time?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Process score across the arc, two views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the production score, plus a gain-stripped variant (W_g = W_lag = 0) that isolates how the participant worked from how much cleaner the code ended up.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88888"/>
                </a:solidFill>
              </a:rPr>
              <a:t>Random assignment, n = 3 vs n = 2. Treated as a directional finding, not a hypothesis test.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Fewer divergences with feedback - but the raw score is noisy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274320" y="868680"/>
          <a:ext cx="42062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868680"/>
          <a:ext cx="42062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/>
          <p:nvPr/>
        </p:nvSpPr>
        <p:spPr>
          <a:xfrm>
            <a:off x="457200" y="4069080"/>
            <a:ext cx="822960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DP rate separates clearly: </a:t>
            </a:r>
            <a:pPr algn="ctr" indent="0" marL="0">
              <a:buNone/>
            </a:pPr>
            <a:r>
              <a:rPr lang="en-US" sz="1200" b="1" dirty="0">
                <a:solidFill>
                  <a:srgbClr val="1F3F6F"/>
                </a:solidFill>
              </a:rPr>
              <a:t>2.7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(feedback) vs </a:t>
            </a:r>
            <a:pPr algn="ctr" indent="0" marL="0">
              <a:buNone/>
            </a:pPr>
            <a:r>
              <a:rPr lang="en-US" sz="1200" b="1" dirty="0">
                <a:solidFill>
                  <a:srgbClr val="B25500"/>
                </a:solidFill>
              </a:rPr>
              <a:t>6.0</a:t>
            </a:r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DPs per session per participant - 2.2× difference.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But the production-weighted score is dominated by </a:t>
            </a:r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</a:rPr>
              <a:t>task difficulty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- both groups peak at S4 (a short, mechanical task) and dip together at S2/S5. The behavioural signal is buried in the cleanliness gain.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Strip the task signal - process discipline emerges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1554480" y="777240"/>
          <a:ext cx="60350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069080"/>
            <a:ext cx="822960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Once cleanliness gain is removed, the score reflects </a:t>
            </a:r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</a:rPr>
              <a:t>how disciplined the process was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- tests run, IDE refactorings used, commits at sensible points. The feedback group climbs </a:t>
            </a:r>
            <a:pPr algn="ctr" indent="0" marL="0">
              <a:buNone/>
            </a:pPr>
            <a:r>
              <a:rPr lang="en-US" sz="1200" b="1" dirty="0">
                <a:solidFill>
                  <a:srgbClr val="1F3F6F"/>
                </a:solidFill>
              </a:rPr>
              <a:t>+22.3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across the arc; the baseline group moves </a:t>
            </a:r>
            <a:pPr algn="ctr" indent="0" marL="0">
              <a:buNone/>
            </a:pPr>
            <a:r>
              <a:rPr lang="en-US" sz="1200" b="1" dirty="0">
                <a:solidFill>
                  <a:srgbClr val="B25500"/>
                </a:solidFill>
              </a:rPr>
              <a:t>−2.0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888888"/>
                </a:solidFill>
              </a:rPr>
              <a:t>n = 3 vs n = 2 - directional finding, not a hypothesis test.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Tool doesn't transfer cleanly to agent traces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48 sessions, 8 agents (Claude / GPT / Gemini × Claude Code / OpenCode / Cursor CLI), same playbook as the user study.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51560"/>
          <a:ext cx="420624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251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02920"/>
                <a:gridCol w="2331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under-fires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Manual-Refactor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edits, not IDE menu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Hygiene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batched commits don't trip threshold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bursts collapse to 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burst-collapse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3931920"/>
            <a:ext cx="822960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Score is blind to the difference: 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feedback ΔJ </a:t>
            </a:r>
            <a:pPr algn="ctr" indent="0" marL="0">
              <a:buNone/>
            </a:pPr>
            <a:r>
              <a:rPr lang="en-US" sz="1200" b="1" dirty="0">
                <a:solidFill>
                  <a:srgbClr val="1F3F6F"/>
                </a:solidFill>
              </a:rPr>
              <a:t>+3.0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vs baseline </a:t>
            </a:r>
            <a:pPr algn="ctr" indent="0" marL="0">
              <a:buNone/>
            </a:pPr>
            <a:r>
              <a:rPr lang="en-US" sz="1200" b="1" dirty="0">
                <a:solidFill>
                  <a:srgbClr val="B25500"/>
                </a:solidFill>
              </a:rPr>
              <a:t>+6.5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. Yet 5 of 6 agents wrote explicit "I'll do X next session" plans citing prior warnings - the detectors just can't see those changes happen.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888888"/>
                </a:solidFill>
              </a:rPr>
              <a:t>Scope limit by design - adapting detectors for agent traces is future work.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Conclusion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F3F6F"/>
                </a:solidFill>
              </a:rPr>
              <a:t>Process-aware refactoring evaluation is tractable, and the resulting feedback shifts developer behaviour.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process-quality metric J(τ) combining endpoint, process, and safety signals in one principled score.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divergence-point detector with four actionable kinds, each with a per-kind synthesiser that constructs a concrete alternative trajectory.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Three datasets -45 injection sessions, 30-session user study, 48-session agent extension - with reproducible analysis (Jupyter notebook reproduces every table and figure).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deployable end-to-end system: IntelliJ plugin, analysis backend, and dashboard.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Before-and-After: Process-Quality Evaluation of Refactoring Sessions</dc:title>
  <dc:subject>PptxGenJS Presentation</dc:subject>
  <dc:creator>Ethan Hosier</dc:creator>
  <cp:lastModifiedBy>Ethan Hosier</cp:lastModifiedBy>
  <cp:revision>1</cp:revision>
  <dcterms:created xsi:type="dcterms:W3CDTF">2026-06-21T14:13:18Z</dcterms:created>
  <dcterms:modified xsi:type="dcterms:W3CDTF">2026-06-21T14:13:18Z</dcterms:modified>
</cp:coreProperties>
</file>