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Divergence points per session (per participant)</a:t>
            </a:r>
          </a:p>
        </c:rich>
      </c:tx>
      <c:layout/>
      <c:overlay val="0"/>
    </c:title>
    <c:autoTitleDeleted val="0"/>
    <c:plotArea>
      <c:layout/>
      <c:lineChart>
        <c:varyColors val="0"/>
        <c:ser>
          <c:idx val="0"/>
          <c:order val="0"/>
          <c:tx>
            <c:strRef>
              <c:f>Sheet1!$B$1</c:f>
              <c:strCache>
                <c:ptCount val="1"/>
                <c:pt idx="0">
                  <c:v>Feedback (per participant)</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4</c:v>
                </c:pt>
                <c:pt idx="1">
                  <c:v>5.67</c:v>
                </c:pt>
                <c:pt idx="2">
                  <c:v>3.67</c:v>
                </c:pt>
                <c:pt idx="3">
                  <c:v>0</c:v>
                </c:pt>
                <c:pt idx="4">
                  <c:v>2.33</c:v>
                </c:pt>
                <c:pt idx="5">
                  <c:v>0.67</c:v>
                </c:pt>
              </c:numCache>
            </c:numRef>
          </c:val>
          <c:smooth val="0"/>
        </c:ser>
        <c:ser>
          <c:idx val="1"/>
          <c:order val="1"/>
          <c:tx>
            <c:strRef>
              <c:f>Sheet1!$C$1</c:f>
              <c:strCache>
                <c:ptCount val="1"/>
                <c:pt idx="0">
                  <c:v>Baseline (per participant)</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5</c:v>
                </c:pt>
                <c:pt idx="1">
                  <c:v>7.5</c:v>
                </c:pt>
                <c:pt idx="2">
                  <c:v>9.5</c:v>
                </c:pt>
                <c:pt idx="3">
                  <c:v>0</c:v>
                </c:pt>
                <c:pt idx="4">
                  <c:v>6.5</c:v>
                </c:pt>
                <c:pt idx="5">
                  <c:v>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Production-weighted process score (with cleanliness gain)</a:t>
            </a:r>
          </a:p>
        </c:rich>
      </c:tx>
      <c:layout/>
      <c:overlay val="0"/>
    </c:title>
    <c:autoTitleDeleted val="0"/>
    <c:plotArea>
      <c:layout/>
      <c:lineChart>
        <c:varyColors val="0"/>
        <c:ser>
          <c:idx val="0"/>
          <c:order val="0"/>
          <c:tx>
            <c:strRef>
              <c:f>Sheet1!$B$1</c:f>
              <c:strCache>
                <c:ptCount val="1"/>
                <c:pt idx="0">
                  <c:v>Feedback mean</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13.7</c:v>
                </c:pt>
                <c:pt idx="1">
                  <c:v>66.7</c:v>
                </c:pt>
                <c:pt idx="2">
                  <c:v>33</c:v>
                </c:pt>
                <c:pt idx="3">
                  <c:v>89.7</c:v>
                </c:pt>
                <c:pt idx="4">
                  <c:v>32</c:v>
                </c:pt>
                <c:pt idx="5">
                  <c:v>48.3</c:v>
                </c:pt>
              </c:numCache>
            </c:numRef>
          </c:val>
          <c:smooth val="0"/>
        </c:ser>
        <c:ser>
          <c:idx val="1"/>
          <c:order val="1"/>
          <c:tx>
            <c:strRef>
              <c:f>Sheet1!$C$1</c:f>
              <c:strCache>
                <c:ptCount val="1"/>
                <c:pt idx="0">
                  <c:v>Baseline mean</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11.5</c:v>
                </c:pt>
                <c:pt idx="1">
                  <c:v>20</c:v>
                </c:pt>
                <c:pt idx="2">
                  <c:v>15.5</c:v>
                </c:pt>
                <c:pt idx="3">
                  <c:v>76.5</c:v>
                </c:pt>
                <c:pt idx="4">
                  <c:v>44.5</c:v>
                </c:pt>
                <c:pt idx="5">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33333"/>
                </a:solidFill>
                <a:latin typeface="Arial"/>
              </a:defRPr>
            </a:pPr>
            <a:r>
              <a:rPr sz="1200" b="0" i="0" u="none" strike="noStrike">
                <a:solidFill>
                  <a:srgbClr val="333333"/>
                </a:solidFill>
                <a:latin typeface="Arial"/>
              </a:rPr>
              <a:t>Gain-stripped process score (W_g = W_lag = 0)</a:t>
            </a:r>
          </a:p>
        </c:rich>
      </c:tx>
      <c:layout/>
      <c:overlay val="0"/>
    </c:title>
    <c:autoTitleDeleted val="0"/>
    <c:plotArea>
      <c:layout/>
      <c:lineChart>
        <c:varyColors val="0"/>
        <c:ser>
          <c:idx val="0"/>
          <c:order val="0"/>
          <c:tx>
            <c:strRef>
              <c:f>Sheet1!$B$1</c:f>
              <c:strCache>
                <c:ptCount val="1"/>
                <c:pt idx="0">
                  <c:v>Feedback mean</c:v>
                </c:pt>
              </c:strCache>
            </c:strRef>
          </c:tx>
          <c:spPr>
            <a:solidFill>
              <a:srgbClr val="0000CD"/>
            </a:solidFill>
            <a:ln w="3810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26.7</c:v>
                </c:pt>
                <c:pt idx="1">
                  <c:v>22</c:v>
                </c:pt>
                <c:pt idx="2">
                  <c:v>38.7</c:v>
                </c:pt>
                <c:pt idx="3">
                  <c:v>47.7</c:v>
                </c:pt>
                <c:pt idx="4">
                  <c:v>36.7</c:v>
                </c:pt>
                <c:pt idx="5">
                  <c:v>49</c:v>
                </c:pt>
              </c:numCache>
            </c:numRef>
          </c:val>
          <c:smooth val="0"/>
        </c:ser>
        <c:ser>
          <c:idx val="1"/>
          <c:order val="1"/>
          <c:tx>
            <c:strRef>
              <c:f>Sheet1!$C$1</c:f>
              <c:strCache>
                <c:ptCount val="1"/>
                <c:pt idx="0">
                  <c:v>Baseline mean</c:v>
                </c:pt>
              </c:strCache>
            </c:strRef>
          </c:tx>
          <c:spPr>
            <a:solidFill>
              <a:srgbClr val="B25500"/>
            </a:solidFill>
            <a:ln w="3810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22.5</c:v>
                </c:pt>
                <c:pt idx="1">
                  <c:v>17.5</c:v>
                </c:pt>
                <c:pt idx="2">
                  <c:v>11</c:v>
                </c:pt>
                <c:pt idx="3">
                  <c:v>39</c:v>
                </c:pt>
                <c:pt idx="4">
                  <c:v>16.5</c:v>
                </c:pt>
                <c:pt idx="5">
                  <c:v>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Gain-stripped score (same scale as user study)</a:t>
            </a:r>
          </a:p>
        </c:rich>
      </c:tx>
      <c:layout/>
      <c:overlay val="0"/>
    </c:title>
    <c:autoTitleDeleted val="0"/>
    <c:plotArea>
      <c:layout/>
      <c:lineChart>
        <c:varyColors val="0"/>
        <c:ser>
          <c:idx val="0"/>
          <c:order val="0"/>
          <c:tx>
            <c:strRef>
              <c:f>Sheet1!$B$1</c:f>
              <c:strCache>
                <c:ptCount val="1"/>
                <c:pt idx="0">
                  <c:v>Feedback mean (n=6)</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36.7</c:v>
                </c:pt>
                <c:pt idx="1">
                  <c:v>40</c:v>
                </c:pt>
                <c:pt idx="2">
                  <c:v>40</c:v>
                </c:pt>
                <c:pt idx="3">
                  <c:v>50</c:v>
                </c:pt>
                <c:pt idx="4">
                  <c:v>42</c:v>
                </c:pt>
                <c:pt idx="5">
                  <c:v>39.7</c:v>
                </c:pt>
              </c:numCache>
            </c:numRef>
          </c:val>
          <c:smooth val="0"/>
        </c:ser>
        <c:ser>
          <c:idx val="1"/>
          <c:order val="1"/>
          <c:tx>
            <c:strRef>
              <c:f>Sheet1!$C$1</c:f>
              <c:strCache>
                <c:ptCount val="1"/>
                <c:pt idx="0">
                  <c:v>Baseline mean (n=2)</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34.5</c:v>
                </c:pt>
                <c:pt idx="1">
                  <c:v>40</c:v>
                </c:pt>
                <c:pt idx="2">
                  <c:v>40</c:v>
                </c:pt>
                <c:pt idx="3">
                  <c:v>50</c:v>
                </c:pt>
                <c:pt idx="4">
                  <c:v>42</c:v>
                </c:pt>
                <c:pt idx="5">
                  <c:v>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000CD"/>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ages/Imperial_College_London_new_logo.png">    </p:cNvPr>
          <p:cNvPicPr>
            <a:picLocks noChangeAspect="1"/>
          </p:cNvPicPr>
          <p:nvPr/>
        </p:nvPicPr>
        <p:blipFill>
          <a:blip r:embed="rId1"/>
          <a:stretch>
            <a:fillRect/>
          </a:stretch>
        </p:blipFill>
        <p:spPr>
          <a:xfrm>
            <a:off x="365760" y="274320"/>
            <a:ext cx="1645920" cy="181051"/>
          </a:xfrm>
          <a:prstGeom prst="rect">
            <a:avLst/>
          </a:prstGeom>
        </p:spPr>
      </p:pic>
      <p:sp>
        <p:nvSpPr>
          <p:cNvPr id="3" name="Text 0"/>
          <p:cNvSpPr/>
          <p:nvPr/>
        </p:nvSpPr>
        <p:spPr>
          <a:xfrm>
            <a:off x="457200" y="1234440"/>
            <a:ext cx="8229600" cy="365760"/>
          </a:xfrm>
          <a:prstGeom prst="rect">
            <a:avLst/>
          </a:prstGeom>
          <a:noFill/>
          <a:ln/>
        </p:spPr>
        <p:txBody>
          <a:bodyPr wrap="square" lIns="0" tIns="0" rIns="0" bIns="0" rtlCol="0" anchor="ctr"/>
          <a:lstStyle/>
          <a:p>
            <a:pPr algn="ctr" indent="0" marL="0">
              <a:buNone/>
            </a:pPr>
            <a:r>
              <a:rPr lang="en-US" sz="1800" i="1" dirty="0">
                <a:solidFill>
                  <a:srgbClr val="555555"/>
                </a:solidFill>
              </a:rPr>
              <a:t>Beyond Before-and-After:</a:t>
            </a:r>
            <a:endParaRPr lang="en-US" sz="1800" dirty="0"/>
          </a:p>
        </p:txBody>
      </p:sp>
      <p:sp>
        <p:nvSpPr>
          <p:cNvPr id="4" name="Text 1"/>
          <p:cNvSpPr/>
          <p:nvPr/>
        </p:nvSpPr>
        <p:spPr>
          <a:xfrm>
            <a:off x="457200" y="1783080"/>
            <a:ext cx="8229600" cy="822960"/>
          </a:xfrm>
          <a:prstGeom prst="rect">
            <a:avLst/>
          </a:prstGeom>
          <a:noFill/>
          <a:ln/>
        </p:spPr>
        <p:txBody>
          <a:bodyPr wrap="square" lIns="0" tIns="0" rIns="0" bIns="0" rtlCol="0" anchor="ctr"/>
          <a:lstStyle/>
          <a:p>
            <a:pPr algn="ctr" indent="0" marL="0">
              <a:buNone/>
            </a:pPr>
            <a:r>
              <a:rPr lang="en-US" sz="3200" b="1" dirty="0">
                <a:solidFill>
                  <a:srgbClr val="000000"/>
                </a:solidFill>
              </a:rPr>
              <a:t>Process-Quality Evaluation of Refactoring Sessions</a:t>
            </a:r>
            <a:endParaRPr lang="en-US" sz="3200" dirty="0"/>
          </a:p>
        </p:txBody>
      </p:sp>
      <p:sp>
        <p:nvSpPr>
          <p:cNvPr id="5" name="Text 2"/>
          <p:cNvSpPr/>
          <p:nvPr/>
        </p:nvSpPr>
        <p:spPr>
          <a:xfrm>
            <a:off x="457200" y="2788920"/>
            <a:ext cx="8229600" cy="822960"/>
          </a:xfrm>
          <a:prstGeom prst="rect">
            <a:avLst/>
          </a:prstGeom>
          <a:noFill/>
          <a:ln/>
        </p:spPr>
        <p:txBody>
          <a:bodyPr wrap="square" rtlCol="0" anchor="ctr"/>
          <a:lstStyle/>
          <a:p>
            <a:pPr algn="ctr" indent="0" marL="0">
              <a:buNone/>
            </a:pPr>
            <a:r>
              <a:rPr lang="en-US" sz="1800" i="1" dirty="0">
                <a:solidFill>
                  <a:srgbClr val="555555"/>
                </a:solidFill>
              </a:rPr>
              <a:t>Scoring the path a developer takes through a refactoring session, and pointing to where a better path existed.</a:t>
            </a:r>
            <a:endParaRPr lang="en-US" sz="1800" dirty="0"/>
          </a:p>
        </p:txBody>
      </p:sp>
      <p:sp>
        <p:nvSpPr>
          <p:cNvPr id="6" name="Text 3"/>
          <p:cNvSpPr/>
          <p:nvPr/>
        </p:nvSpPr>
        <p:spPr>
          <a:xfrm>
            <a:off x="457200" y="4023360"/>
            <a:ext cx="8229600" cy="365760"/>
          </a:xfrm>
          <a:prstGeom prst="rect">
            <a:avLst/>
          </a:prstGeom>
          <a:noFill/>
          <a:ln/>
        </p:spPr>
        <p:txBody>
          <a:bodyPr wrap="square" rtlCol="0" anchor="ctr"/>
          <a:lstStyle/>
          <a:p>
            <a:pPr algn="ctr" indent="0" marL="0">
              <a:buNone/>
            </a:pPr>
            <a:r>
              <a:rPr lang="en-US" sz="1400" dirty="0">
                <a:solidFill>
                  <a:srgbClr val="777777"/>
                </a:solidFill>
              </a:rPr>
              <a:t>Ethan Hosier  ·  Imperial College London  ·  Department of Computing</a:t>
            </a:r>
            <a:endParaRPr lang="en-US" sz="1400" dirty="0"/>
          </a:p>
        </p:txBody>
      </p:sp>
      <p:sp>
        <p:nvSpPr>
          <p:cNvPr id="7" name="Text 4"/>
          <p:cNvSpPr/>
          <p:nvPr/>
        </p:nvSpPr>
        <p:spPr>
          <a:xfrm>
            <a:off x="457200" y="4389120"/>
            <a:ext cx="8229600" cy="365760"/>
          </a:xfrm>
          <a:prstGeom prst="rect">
            <a:avLst/>
          </a:prstGeom>
          <a:noFill/>
          <a:ln/>
        </p:spPr>
        <p:txBody>
          <a:bodyPr wrap="square" rtlCol="0" anchor="ctr"/>
          <a:lstStyle/>
          <a:p>
            <a:pPr algn="ctr" indent="0" marL="0">
              <a:buNone/>
            </a:pPr>
            <a:r>
              <a:rPr lang="en-US" sz="1200" dirty="0">
                <a:solidFill>
                  <a:srgbClr val="777777"/>
                </a:solidFill>
              </a:rPr>
              <a:t>Supervisor: Dr Robert Chatley  ·  Second marker: Dr Cristian Cadar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Same destination, different journeys</a:t>
            </a:r>
            <a:endParaRPr lang="en-US" sz="2800" dirty="0"/>
          </a:p>
        </p:txBody>
      </p:sp>
      <p:sp>
        <p:nvSpPr>
          <p:cNvPr id="3" name="Text 1"/>
          <p:cNvSpPr/>
          <p:nvPr/>
        </p:nvSpPr>
        <p:spPr>
          <a:xfrm>
            <a:off x="457200" y="1097280"/>
            <a:ext cx="8229600" cy="411480"/>
          </a:xfrm>
          <a:prstGeom prst="rect">
            <a:avLst/>
          </a:prstGeom>
          <a:noFill/>
          <a:ln/>
        </p:spPr>
        <p:txBody>
          <a:bodyPr wrap="square" lIns="0" tIns="0" rIns="0" bIns="0" rtlCol="0" anchor="ctr"/>
          <a:lstStyle/>
          <a:p>
            <a:pPr algn="ctr" indent="0" marL="0">
              <a:buNone/>
            </a:pPr>
            <a:r>
              <a:rPr lang="en-US" sz="1600" i="1" dirty="0">
                <a:solidFill>
                  <a:srgbClr val="555555"/>
                </a:solidFill>
              </a:rPr>
              <a:t>Two developers refactor the same code and arrive at the same final state.</a:t>
            </a:r>
            <a:endParaRPr lang="en-US" sz="1600" dirty="0"/>
          </a:p>
        </p:txBody>
      </p:sp>
      <p:sp>
        <p:nvSpPr>
          <p:cNvPr id="4" name="Shape 2"/>
          <p:cNvSpPr/>
          <p:nvPr/>
        </p:nvSpPr>
        <p:spPr>
          <a:xfrm>
            <a:off x="548640" y="1691640"/>
            <a:ext cx="3840480" cy="1874520"/>
          </a:xfrm>
          <a:prstGeom prst="roundRect">
            <a:avLst>
              <a:gd name="adj" fmla="val 4878"/>
            </a:avLst>
          </a:prstGeom>
          <a:solidFill>
            <a:srgbClr val="EBF7F0"/>
          </a:solidFill>
          <a:ln w="12700">
            <a:solidFill>
              <a:srgbClr val="0A7D2A"/>
            </a:solidFill>
            <a:prstDash val="solid"/>
          </a:ln>
        </p:spPr>
      </p:sp>
      <p:sp>
        <p:nvSpPr>
          <p:cNvPr id="5" name="Text 3"/>
          <p:cNvSpPr/>
          <p:nvPr/>
        </p:nvSpPr>
        <p:spPr>
          <a:xfrm>
            <a:off x="548640" y="1755648"/>
            <a:ext cx="3840480" cy="365760"/>
          </a:xfrm>
          <a:prstGeom prst="rect">
            <a:avLst/>
          </a:prstGeom>
          <a:noFill/>
          <a:ln/>
        </p:spPr>
        <p:txBody>
          <a:bodyPr wrap="square" lIns="0" tIns="0" rIns="0" bIns="0" rtlCol="0" anchor="ctr"/>
          <a:lstStyle/>
          <a:p>
            <a:pPr algn="ctr" indent="0" marL="0">
              <a:buNone/>
            </a:pPr>
            <a:r>
              <a:rPr lang="en-US" sz="1800" b="1" dirty="0">
                <a:solidFill>
                  <a:srgbClr val="0A7D2A"/>
                </a:solidFill>
              </a:rPr>
              <a:t>Developer A</a:t>
            </a:r>
            <a:endParaRPr lang="en-US" sz="1800" dirty="0"/>
          </a:p>
        </p:txBody>
      </p:sp>
      <p:sp>
        <p:nvSpPr>
          <p:cNvPr id="6" name="Text 4"/>
          <p:cNvSpPr/>
          <p:nvPr/>
        </p:nvSpPr>
        <p:spPr>
          <a:xfrm>
            <a:off x="86868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Ran tests.</a:t>
            </a:r>
            <a:endParaRPr lang="en-US" sz="1300" dirty="0"/>
          </a:p>
          <a:p>
            <a:pPr marL="342900" indent="-342900">
              <a:spcAft>
                <a:spcPts val="600"/>
              </a:spcAft>
              <a:buSzPct val="100000"/>
              <a:buChar char="•"/>
            </a:pPr>
            <a:r>
              <a:rPr lang="en-US" sz="1300" dirty="0">
                <a:solidFill>
                  <a:srgbClr val="1A1A1A"/>
                </a:solidFill>
              </a:rPr>
              <a:t>Committed checkpoints.</a:t>
            </a:r>
            <a:endParaRPr lang="en-US" sz="1300" dirty="0"/>
          </a:p>
          <a:p>
            <a:pPr marL="342900" indent="-342900">
              <a:spcAft>
                <a:spcPts val="600"/>
              </a:spcAft>
              <a:buSzPct val="100000"/>
              <a:buChar char="•"/>
            </a:pPr>
            <a:r>
              <a:rPr lang="en-US" sz="1300" dirty="0">
                <a:solidFill>
                  <a:srgbClr val="1A1A1A"/>
                </a:solidFill>
              </a:rPr>
              <a:t>Used IDE refactorings.</a:t>
            </a:r>
            <a:endParaRPr lang="en-US" sz="1300" dirty="0"/>
          </a:p>
        </p:txBody>
      </p:sp>
      <p:sp>
        <p:nvSpPr>
          <p:cNvPr id="7" name="Shape 5"/>
          <p:cNvSpPr/>
          <p:nvPr/>
        </p:nvSpPr>
        <p:spPr>
          <a:xfrm>
            <a:off x="4754880" y="1691640"/>
            <a:ext cx="3840480" cy="1874520"/>
          </a:xfrm>
          <a:prstGeom prst="roundRect">
            <a:avLst>
              <a:gd name="adj" fmla="val 4878"/>
            </a:avLst>
          </a:prstGeom>
          <a:solidFill>
            <a:srgbClr val="FBEDE9"/>
          </a:solidFill>
          <a:ln w="12700">
            <a:solidFill>
              <a:srgbClr val="B33A1E"/>
            </a:solidFill>
            <a:prstDash val="solid"/>
          </a:ln>
        </p:spPr>
      </p:sp>
      <p:sp>
        <p:nvSpPr>
          <p:cNvPr id="8" name="Text 6"/>
          <p:cNvSpPr/>
          <p:nvPr/>
        </p:nvSpPr>
        <p:spPr>
          <a:xfrm>
            <a:off x="4754880" y="1755648"/>
            <a:ext cx="3840480" cy="365760"/>
          </a:xfrm>
          <a:prstGeom prst="rect">
            <a:avLst/>
          </a:prstGeom>
          <a:noFill/>
          <a:ln/>
        </p:spPr>
        <p:txBody>
          <a:bodyPr wrap="square" lIns="0" tIns="0" rIns="0" bIns="0" rtlCol="0" anchor="ctr"/>
          <a:lstStyle/>
          <a:p>
            <a:pPr algn="ctr" indent="0" marL="0">
              <a:buNone/>
            </a:pPr>
            <a:r>
              <a:rPr lang="en-US" sz="1800" b="1" dirty="0">
                <a:solidFill>
                  <a:srgbClr val="B33A1E"/>
                </a:solidFill>
              </a:rPr>
              <a:t>Developer B</a:t>
            </a:r>
            <a:endParaRPr lang="en-US" sz="1800" dirty="0"/>
          </a:p>
        </p:txBody>
      </p:sp>
      <p:sp>
        <p:nvSpPr>
          <p:cNvPr id="9" name="Text 7"/>
          <p:cNvSpPr/>
          <p:nvPr/>
        </p:nvSpPr>
        <p:spPr>
          <a:xfrm>
            <a:off x="507492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Broke the build twice.</a:t>
            </a:r>
            <a:endParaRPr lang="en-US" sz="1300" dirty="0"/>
          </a:p>
          <a:p>
            <a:pPr marL="342900" indent="-342900">
              <a:spcAft>
                <a:spcPts val="600"/>
              </a:spcAft>
              <a:buSzPct val="100000"/>
              <a:buChar char="•"/>
            </a:pPr>
            <a:r>
              <a:rPr lang="en-US" sz="1300" dirty="0">
                <a:solidFill>
                  <a:srgbClr val="1A1A1A"/>
                </a:solidFill>
              </a:rPr>
              <a:t>Added then removed 80 lines.</a:t>
            </a:r>
            <a:endParaRPr lang="en-US" sz="1300" dirty="0"/>
          </a:p>
          <a:p>
            <a:pPr marL="342900" indent="-342900">
              <a:spcAft>
                <a:spcPts val="600"/>
              </a:spcAft>
              <a:buSzPct val="100000"/>
              <a:buChar char="•"/>
            </a:pPr>
            <a:r>
              <a:rPr lang="en-US" sz="1300" dirty="0">
                <a:solidFill>
                  <a:srgbClr val="1A1A1A"/>
                </a:solidFill>
              </a:rPr>
              <a:t>Hand-edited what the IDE could do safely.</a:t>
            </a:r>
            <a:endParaRPr lang="en-US" sz="1300" dirty="0"/>
          </a:p>
        </p:txBody>
      </p:sp>
      <p:sp>
        <p:nvSpPr>
          <p:cNvPr id="10" name="Text 8"/>
          <p:cNvSpPr/>
          <p:nvPr/>
        </p:nvSpPr>
        <p:spPr>
          <a:xfrm>
            <a:off x="457200" y="3794760"/>
            <a:ext cx="8229600" cy="118872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Which one would you want on your team?</a:t>
            </a:r>
            <a:endParaRPr lang="en-US" sz="1600" dirty="0"/>
          </a:p>
          <a:p>
            <a:pPr marL="342900" indent="-342900">
              <a:spcAft>
                <a:spcPts val="600"/>
              </a:spcAft>
              <a:buSzPct val="100000"/>
              <a:buChar char="•"/>
            </a:pPr>
            <a:r>
              <a:rPr lang="en-US" sz="1600" dirty="0">
                <a:solidFill>
                  <a:srgbClr val="000000"/>
                </a:solidFill>
              </a:rPr>
              <a:t>Endpoint-only evaluation cannot tell them apart.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64008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Evaluating the refactoring process: what's missing in prior work</a:t>
            </a:r>
            <a:endParaRPr lang="en-US" sz="2800" dirty="0"/>
          </a:p>
        </p:txBody>
      </p:sp>
      <p:sp>
        <p:nvSpPr>
          <p:cNvPr id="3" name="Text 1"/>
          <p:cNvSpPr/>
          <p:nvPr/>
        </p:nvSpPr>
        <p:spPr>
          <a:xfrm>
            <a:off x="457200" y="1783080"/>
            <a:ext cx="8229600" cy="3657600"/>
          </a:xfrm>
          <a:prstGeom prst="rect">
            <a:avLst/>
          </a:prstGeom>
          <a:noFill/>
          <a:ln/>
        </p:spPr>
        <p:txBody>
          <a:bodyPr wrap="square" rtlCol="0" anchor="t"/>
          <a:lstStyle/>
          <a:p>
            <a:pPr marL="342900" indent="-342900">
              <a:buSzPct val="100000"/>
              <a:buChar char="•"/>
            </a:pPr>
            <a:r>
              <a:rPr lang="en-US" sz="1600" b="1" dirty="0">
                <a:solidFill>
                  <a:srgbClr val="000000"/>
                </a:solidFill>
              </a:rPr>
              <a:t>Endpoint quality metrics (CK, smells, readability):</a:t>
            </a:r>
            <a:pPr indent="0" marL="0">
              <a:buNone/>
            </a:pPr>
            <a:r>
              <a:rPr lang="en-US" sz="1600" dirty="0">
                <a:solidFill>
                  <a:srgbClr val="000000"/>
                </a:solidFill>
              </a:rPr>
              <a:t> compare before vs after, ignore the path taken.</a:t>
            </a:r>
            <a:endParaRPr lang="en-US" sz="1600" dirty="0"/>
          </a:p>
          <a:p>
            <a:pPr indent="0" marL="0">
              <a:buNone/>
            </a:pPr>
            <a:r>
              <a:rPr lang="en-US" sz="1600" dirty="0">
                <a:solidFill>
                  <a:srgbClr val="000000"/>
                </a:solidFill>
              </a:rPr>
              <a:t> </a:t>
            </a:r>
            <a:endParaRPr lang="en-US" sz="1600" dirty="0"/>
          </a:p>
          <a:p>
            <a:pPr marL="342900" indent="-342900">
              <a:buSzPct val="100000"/>
              <a:buChar char="•"/>
            </a:pPr>
            <a:r>
              <a:rPr lang="en-US" sz="1600" b="1" dirty="0">
                <a:solidFill>
                  <a:srgbClr val="000000"/>
                </a:solidFill>
              </a:rPr>
              <a:t>Refactoring recommenders / sequence generators</a:t>
            </a:r>
            <a:pPr indent="0" marL="0">
              <a:buNone/>
            </a:pPr>
            <a:r>
              <a:rPr lang="en-US" sz="1600" dirty="0">
                <a:solidFill>
                  <a:srgbClr val="000000"/>
                </a:solidFill>
              </a:rPr>
              <a:t>: produce new sequences (typically at small scale), but do not evaluate the one the developer actually walked.</a:t>
            </a:r>
            <a:endParaRPr lang="en-US" sz="1600" dirty="0"/>
          </a:p>
          <a:p>
            <a:pPr indent="0" marL="0">
              <a:buNone/>
            </a:pPr>
            <a:r>
              <a:rPr lang="en-US" sz="1600" dirty="0">
                <a:solidFill>
                  <a:srgbClr val="000000"/>
                </a:solidFill>
              </a:rPr>
              <a:t> </a:t>
            </a:r>
            <a:endParaRPr lang="en-US" sz="1600" dirty="0"/>
          </a:p>
          <a:p>
            <a:pPr marL="342900" indent="-342900">
              <a:buSzPct val="100000"/>
              <a:buChar char="•"/>
            </a:pPr>
            <a:r>
              <a:rPr lang="en-US" sz="1600" b="1" dirty="0">
                <a:solidFill>
                  <a:srgbClr val="000000"/>
                </a:solidFill>
              </a:rPr>
              <a:t>Exercise-scoped feedback tools:</a:t>
            </a:r>
            <a:pPr indent="0" marL="0">
              <a:buNone/>
            </a:pPr>
            <a:r>
              <a:rPr lang="en-US" sz="1600" dirty="0">
                <a:solidFill>
                  <a:srgbClr val="000000"/>
                </a:solidFill>
              </a:rPr>
              <a:t> one or two look for explicit events inside predefined exercises - but don't generalise to arbitrary refactoring sessions.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Closest Existing Tool...</a:t>
            </a:r>
            <a:pPr indent="0" marL="0">
              <a:buNone/>
            </a:pPr>
            <a:r>
              <a:rPr lang="en-US" sz="2800" b="1" dirty="0">
                <a:solidFill>
                  <a:srgbClr val="888888"/>
                </a:solidFill>
              </a:rPr>
              <a:t>  Industrial Logic</a:t>
            </a:r>
            <a:endParaRPr lang="en-US" sz="2800" dirty="0"/>
          </a:p>
        </p:txBody>
      </p:sp>
      <p:pic>
        <p:nvPicPr>
          <p:cNvPr id="3" name="Image 0" descr="images/industrial-logic-score.png">    </p:cNvPr>
          <p:cNvPicPr>
            <a:picLocks noChangeAspect="1"/>
          </p:cNvPicPr>
          <p:nvPr/>
        </p:nvPicPr>
        <p:blipFill>
          <a:blip r:embed="rId1"/>
          <a:stretch>
            <a:fillRect/>
          </a:stretch>
        </p:blipFill>
        <p:spPr>
          <a:xfrm>
            <a:off x="320040" y="1188720"/>
            <a:ext cx="2743200" cy="2011680"/>
          </a:xfrm>
          <a:prstGeom prst="rect">
            <a:avLst/>
          </a:prstGeom>
        </p:spPr>
      </p:pic>
      <p:sp>
        <p:nvSpPr>
          <p:cNvPr id="4" name="Text 1"/>
          <p:cNvSpPr/>
          <p:nvPr/>
        </p:nvSpPr>
        <p:spPr>
          <a:xfrm>
            <a:off x="32004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Score</a:t>
            </a:r>
            <a:endParaRPr lang="en-US" sz="1200" dirty="0"/>
          </a:p>
        </p:txBody>
      </p:sp>
      <p:pic>
        <p:nvPicPr>
          <p:cNvPr id="5" name="Image 1" descr="images/industrial-logic-compilation-tests.png">    </p:cNvPr>
          <p:cNvPicPr>
            <a:picLocks noChangeAspect="1"/>
          </p:cNvPicPr>
          <p:nvPr/>
        </p:nvPicPr>
        <p:blipFill>
          <a:blip r:embed="rId2"/>
          <a:stretch>
            <a:fillRect/>
          </a:stretch>
        </p:blipFill>
        <p:spPr>
          <a:xfrm>
            <a:off x="3200400" y="1188720"/>
            <a:ext cx="2743200" cy="1335024"/>
          </a:xfrm>
          <a:prstGeom prst="rect">
            <a:avLst/>
          </a:prstGeom>
        </p:spPr>
      </p:pic>
      <p:sp>
        <p:nvSpPr>
          <p:cNvPr id="6" name="Text 2"/>
          <p:cNvSpPr/>
          <p:nvPr/>
        </p:nvSpPr>
        <p:spPr>
          <a:xfrm>
            <a:off x="320040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Compilation + tests</a:t>
            </a:r>
            <a:endParaRPr lang="en-US" sz="1200" dirty="0"/>
          </a:p>
        </p:txBody>
      </p:sp>
      <p:pic>
        <p:nvPicPr>
          <p:cNvPr id="7" name="Image 2" descr="images/industrial-logic-refactorings.png">    </p:cNvPr>
          <p:cNvPicPr>
            <a:picLocks noChangeAspect="1"/>
          </p:cNvPicPr>
          <p:nvPr/>
        </p:nvPicPr>
        <p:blipFill>
          <a:blip r:embed="rId3"/>
          <a:stretch>
            <a:fillRect/>
          </a:stretch>
        </p:blipFill>
        <p:spPr>
          <a:xfrm>
            <a:off x="6080760" y="1188720"/>
            <a:ext cx="2743200" cy="1609344"/>
          </a:xfrm>
          <a:prstGeom prst="rect">
            <a:avLst/>
          </a:prstGeom>
        </p:spPr>
      </p:pic>
      <p:sp>
        <p:nvSpPr>
          <p:cNvPr id="8" name="Text 3"/>
          <p:cNvSpPr/>
          <p:nvPr/>
        </p:nvSpPr>
        <p:spPr>
          <a:xfrm>
            <a:off x="608076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Refactorings</a:t>
            </a:r>
            <a:endParaRPr lang="en-US" sz="1200" dirty="0"/>
          </a:p>
        </p:txBody>
      </p:sp>
      <p:sp>
        <p:nvSpPr>
          <p:cNvPr id="9" name="Text 4"/>
          <p:cNvSpPr/>
          <p:nvPr/>
        </p:nvSpPr>
        <p:spPr>
          <a:xfrm>
            <a:off x="457200" y="4023360"/>
            <a:ext cx="8229600" cy="914400"/>
          </a:xfrm>
          <a:prstGeom prst="rect">
            <a:avLst/>
          </a:prstGeom>
          <a:noFill/>
          <a:ln/>
        </p:spPr>
        <p:txBody>
          <a:bodyPr wrap="square" lIns="0" tIns="0" rIns="0" bIns="0" rtlCol="0" anchor="ctr"/>
          <a:lstStyle/>
          <a:p>
            <a:pPr algn="ctr" indent="0" marL="0">
              <a:buNone/>
            </a:pPr>
            <a:r>
              <a:rPr lang="en-US" sz="1400" b="1" i="1" dirty="0">
                <a:solidFill>
                  <a:srgbClr val="0000CD"/>
                </a:solidFill>
              </a:rPr>
              <a:t>Gap: </a:t>
            </a:r>
            <a:pPr algn="ctr" indent="0" marL="0">
              <a:buNone/>
            </a:pPr>
            <a:r>
              <a:rPr lang="en-US" sz="1400" i="1" dirty="0">
                <a:solidFill>
                  <a:srgbClr val="0000CD"/>
                </a:solidFill>
              </a:rPr>
              <a:t>no system scores an arbitrary observed refactoring session against an explicit process-quality metric, and shows where a better path was available.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Narrowing the design space</a:t>
            </a:r>
            <a:endParaRPr lang="en-US" sz="2800" dirty="0"/>
          </a:p>
        </p:txBody>
      </p:sp>
      <p:sp>
        <p:nvSpPr>
          <p:cNvPr id="3" name="Text 1"/>
          <p:cNvSpPr/>
          <p:nvPr/>
        </p:nvSpPr>
        <p:spPr>
          <a:xfrm>
            <a:off x="457200" y="1097280"/>
            <a:ext cx="8229600" cy="457200"/>
          </a:xfrm>
          <a:prstGeom prst="rect">
            <a:avLst/>
          </a:prstGeom>
          <a:noFill/>
          <a:ln/>
        </p:spPr>
        <p:txBody>
          <a:bodyPr wrap="square" lIns="0" tIns="0" rIns="0" bIns="0" rtlCol="0" anchor="ctr"/>
          <a:lstStyle/>
          <a:p>
            <a:pPr indent="0" marL="0">
              <a:buNone/>
            </a:pPr>
            <a:r>
              <a:rPr lang="en-US" sz="1300" i="1" dirty="0">
                <a:solidFill>
                  <a:srgbClr val="555555"/>
                </a:solidFill>
              </a:rPr>
              <a:t>Evaluating refactoring as a process is a wide, mostly-unexplored design space. Four requirements shaped what we built.</a:t>
            </a:r>
            <a:endParaRPr lang="en-US" sz="1300" dirty="0"/>
          </a:p>
        </p:txBody>
      </p:sp>
      <p:sp>
        <p:nvSpPr>
          <p:cNvPr id="4" name="Text 2"/>
          <p:cNvSpPr/>
          <p:nvPr/>
        </p:nvSpPr>
        <p:spPr>
          <a:xfrm>
            <a:off x="457200" y="1645920"/>
            <a:ext cx="8229600" cy="2926080"/>
          </a:xfrm>
          <a:prstGeom prst="rect">
            <a:avLst/>
          </a:prstGeom>
          <a:noFill/>
          <a:ln/>
        </p:spPr>
        <p:txBody>
          <a:bodyPr wrap="square" rtlCol="0" anchor="t"/>
          <a:lstStyle/>
          <a:p>
            <a:pPr marL="342900" indent="-342900">
              <a:buSzPct val="100000"/>
              <a:buChar char="•"/>
            </a:pPr>
            <a:r>
              <a:rPr lang="en-US" sz="1400" b="1" dirty="0">
                <a:solidFill>
                  <a:srgbClr val="000000"/>
                </a:solidFill>
              </a:rPr>
              <a:t>Quantifiable + comparable score </a:t>
            </a:r>
            <a:pPr indent="0" marL="0">
              <a:buNone/>
            </a:pPr>
            <a:r>
              <a:rPr lang="en-US" sz="1400" dirty="0">
                <a:solidFill>
                  <a:srgbClr val="888888"/>
                </a:solidFill>
              </a:rPr>
              <a:t>- one number per trajectory so sessions can be compared.</a:t>
            </a:r>
            <a:pPr indent="0" marL="0">
              <a:buNone/>
            </a:pPr>
            <a:r>
              <a:rPr lang="en-US" sz="1400" dirty="0">
                <a:solidFill>
                  <a:srgbClr val="888888"/>
                </a:solidFill>
              </a:rPr>
              <a:t> [1]</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Seamless, in-workflow capture </a:t>
            </a:r>
            <a:pPr indent="0" marL="0">
              <a:buNone/>
            </a:pPr>
            <a:r>
              <a:rPr lang="en-US" sz="1400" dirty="0">
                <a:solidFill>
                  <a:srgbClr val="888888"/>
                </a:solidFill>
              </a:rPr>
              <a:t>- zero extra developer effort to use the tool.</a:t>
            </a:r>
            <a:pPr indent="0" marL="0">
              <a:buNone/>
            </a:pPr>
            <a:r>
              <a:rPr lang="en-US" sz="1400" dirty="0">
                <a:solidFill>
                  <a:srgbClr val="888888"/>
                </a:solidFill>
              </a:rPr>
              <a:t> [2]</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Actionable, moment-specific feedback </a:t>
            </a:r>
            <a:pPr indent="0" marL="0">
              <a:buNone/>
            </a:pPr>
            <a:r>
              <a:rPr lang="en-US" sz="1400" dirty="0">
                <a:solidFill>
                  <a:srgbClr val="888888"/>
                </a:solidFill>
              </a:rPr>
              <a:t>- point to a specific moment AND a "what you could have done instead" alternative.</a:t>
            </a:r>
            <a:pPr indent="0" marL="0">
              <a:buNone/>
            </a:pPr>
            <a:r>
              <a:rPr lang="en-US" sz="1400" dirty="0">
                <a:solidFill>
                  <a:srgbClr val="888888"/>
                </a:solidFill>
              </a:rPr>
              <a:t> [3]</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Efficient alternative synthesis </a:t>
            </a:r>
            <a:pPr indent="0" marL="0">
              <a:buNone/>
            </a:pPr>
            <a:r>
              <a:rPr lang="en-US" sz="1400" dirty="0">
                <a:solidFill>
                  <a:srgbClr val="888888"/>
                </a:solidFill>
              </a:rPr>
              <a:t>- the state-action space over a real codebase is too large to enumerate, so we must find efficient methods of identifying "better" alternatives.</a:t>
            </a:r>
            <a:endParaRPr lang="en-US" sz="1400" dirty="0"/>
          </a:p>
        </p:txBody>
      </p:sp>
      <p:sp>
        <p:nvSpPr>
          <p:cNvPr id="5" name="Text 3"/>
          <p:cNvSpPr/>
          <p:nvPr/>
        </p:nvSpPr>
        <p:spPr>
          <a:xfrm>
            <a:off x="457200" y="4663440"/>
            <a:ext cx="8229600" cy="411480"/>
          </a:xfrm>
          <a:prstGeom prst="rect">
            <a:avLst/>
          </a:prstGeom>
          <a:noFill/>
          <a:ln/>
        </p:spPr>
        <p:txBody>
          <a:bodyPr wrap="square" lIns="0" tIns="0" rIns="0" bIns="0" rtlCol="0" anchor="t"/>
          <a:lstStyle/>
          <a:p>
            <a:pPr algn="l" indent="0" marL="0">
              <a:buNone/>
            </a:pPr>
            <a:r>
              <a:rPr lang="en-US" sz="900" i="1" dirty="0">
                <a:solidFill>
                  <a:srgbClr val="888888"/>
                </a:solidFill>
              </a:rPr>
              <a:t>[1] Composite quality models (Quamoco, QMOOD), adapted from snapshot- to trajectory-level.   </a:t>
            </a:r>
            <a:pPr algn="l" indent="0" marL="0">
              <a:buNone/>
            </a:pPr>
            <a:r>
              <a:rPr lang="en-US" sz="900" i="1" dirty="0">
                <a:solidFill>
                  <a:srgbClr val="888888"/>
                </a:solidFill>
              </a:rPr>
              <a:t>[2] IDE-event logging (Damevski et al., CodeWatcher).   </a:t>
            </a:r>
            <a:pPr algn="l" indent="0" marL="0">
              <a:buNone/>
            </a:pPr>
            <a:r>
              <a:rPr lang="en-US" sz="900" i="1" dirty="0">
                <a:solidFill>
                  <a:srgbClr val="888888"/>
                </a:solidFill>
              </a:rPr>
              <a:t>[3] Inverts prior refactoring recommenders (ReSynth, Refactoring Navigator, search-based refactoring).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1783080"/>
            <a:ext cx="8229600" cy="1097280"/>
          </a:xfrm>
          <a:prstGeom prst="rect">
            <a:avLst/>
          </a:prstGeom>
          <a:noFill/>
          <a:ln/>
        </p:spPr>
        <p:txBody>
          <a:bodyPr wrap="square" lIns="0" tIns="0" rIns="0" bIns="0" rtlCol="0" anchor="ctr"/>
          <a:lstStyle/>
          <a:p>
            <a:pPr algn="ctr" indent="0" marL="0">
              <a:buNone/>
            </a:pPr>
            <a:r>
              <a:rPr lang="en-US" sz="6000" b="1" dirty="0">
                <a:solidFill>
                  <a:srgbClr val="000000"/>
                </a:solidFill>
              </a:rPr>
              <a:t>Demo</a:t>
            </a:r>
            <a:endParaRPr lang="en-US" sz="6000" dirty="0"/>
          </a:p>
        </p:txBody>
      </p:sp>
      <p:sp>
        <p:nvSpPr>
          <p:cNvPr id="3" name="Text 1"/>
          <p:cNvSpPr/>
          <p:nvPr/>
        </p:nvSpPr>
        <p:spPr>
          <a:xfrm>
            <a:off x="457200" y="2971800"/>
            <a:ext cx="8229600" cy="457200"/>
          </a:xfrm>
          <a:prstGeom prst="rect">
            <a:avLst/>
          </a:prstGeom>
          <a:noFill/>
          <a:ln/>
        </p:spPr>
        <p:txBody>
          <a:bodyPr wrap="square" lIns="0" tIns="0" rIns="0" bIns="0" rtlCol="0" anchor="ctr"/>
          <a:lstStyle/>
          <a:p>
            <a:pPr algn="ctr" indent="0" marL="0">
              <a:buNone/>
            </a:pPr>
            <a:r>
              <a:rPr lang="en-US" sz="2000" i="1" dirty="0">
                <a:solidFill>
                  <a:srgbClr val="555555"/>
                </a:solidFill>
              </a:rPr>
              <a:t>OrderProcessor: Breaking up a long method into smaller methods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the tool does, end to end</a:t>
            </a:r>
            <a:endParaRPr lang="en-US" sz="2800" dirty="0"/>
          </a:p>
        </p:txBody>
      </p:sp>
      <p:sp>
        <p:nvSpPr>
          <p:cNvPr id="3" name="Shape 1"/>
          <p:cNvSpPr/>
          <p:nvPr/>
        </p:nvSpPr>
        <p:spPr>
          <a:xfrm>
            <a:off x="182880" y="1463040"/>
            <a:ext cx="2377440" cy="2377440"/>
          </a:xfrm>
          <a:prstGeom prst="rect">
            <a:avLst/>
          </a:prstGeom>
          <a:solidFill>
            <a:srgbClr val="FFFFFF"/>
          </a:solidFill>
          <a:ln w="12700">
            <a:solidFill>
              <a:srgbClr val="000000"/>
            </a:solidFill>
            <a:prstDash val="solid"/>
          </a:ln>
        </p:spPr>
      </p:sp>
      <p:sp>
        <p:nvSpPr>
          <p:cNvPr id="4" name="Text 2"/>
          <p:cNvSpPr/>
          <p:nvPr/>
        </p:nvSpPr>
        <p:spPr>
          <a:xfrm>
            <a:off x="2743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IntelliJ Plugin</a:t>
            </a:r>
            <a:endParaRPr lang="en-US" sz="1600" dirty="0"/>
          </a:p>
        </p:txBody>
      </p:sp>
      <p:sp>
        <p:nvSpPr>
          <p:cNvPr id="5" name="Shape 3"/>
          <p:cNvSpPr/>
          <p:nvPr/>
        </p:nvSpPr>
        <p:spPr>
          <a:xfrm>
            <a:off x="457200" y="2194560"/>
            <a:ext cx="1828800" cy="0"/>
          </a:xfrm>
          <a:prstGeom prst="line">
            <a:avLst/>
          </a:prstGeom>
          <a:noFill/>
          <a:ln w="9525">
            <a:solidFill>
              <a:srgbClr val="999999"/>
            </a:solidFill>
            <a:prstDash val="solid"/>
          </a:ln>
        </p:spPr>
      </p:sp>
      <p:sp>
        <p:nvSpPr>
          <p:cNvPr id="6" name="Text 4"/>
          <p:cNvSpPr/>
          <p:nvPr/>
        </p:nvSpPr>
        <p:spPr>
          <a:xfrm>
            <a:off x="4114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Records developer events</a:t>
            </a:r>
            <a:endParaRPr lang="en-US" sz="1200" dirty="0"/>
          </a:p>
          <a:p>
            <a:pPr marL="342900" indent="-342900">
              <a:spcAft>
                <a:spcPts val="800"/>
              </a:spcAft>
              <a:buSzPct val="100000"/>
              <a:buChar char="•"/>
            </a:pPr>
            <a:r>
              <a:rPr lang="en-US" sz="1200" dirty="0">
                <a:solidFill>
                  <a:srgbClr val="333333"/>
                </a:solidFill>
              </a:rPr>
              <a:t>Captures initial codebase</a:t>
            </a:r>
            <a:endParaRPr lang="en-US" sz="1200" dirty="0"/>
          </a:p>
        </p:txBody>
      </p:sp>
      <p:sp>
        <p:nvSpPr>
          <p:cNvPr id="7" name="Shape 5"/>
          <p:cNvSpPr/>
          <p:nvPr/>
        </p:nvSpPr>
        <p:spPr>
          <a:xfrm>
            <a:off x="3383280" y="1463040"/>
            <a:ext cx="2377440" cy="2377440"/>
          </a:xfrm>
          <a:prstGeom prst="rect">
            <a:avLst/>
          </a:prstGeom>
          <a:solidFill>
            <a:srgbClr val="FFFFFF"/>
          </a:solidFill>
          <a:ln w="12700">
            <a:solidFill>
              <a:srgbClr val="000000"/>
            </a:solidFill>
            <a:prstDash val="solid"/>
          </a:ln>
        </p:spPr>
      </p:sp>
      <p:sp>
        <p:nvSpPr>
          <p:cNvPr id="8" name="Text 6"/>
          <p:cNvSpPr/>
          <p:nvPr/>
        </p:nvSpPr>
        <p:spPr>
          <a:xfrm>
            <a:off x="34747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Analysis Backend</a:t>
            </a:r>
            <a:endParaRPr lang="en-US" sz="1600" dirty="0"/>
          </a:p>
        </p:txBody>
      </p:sp>
      <p:sp>
        <p:nvSpPr>
          <p:cNvPr id="9" name="Shape 7"/>
          <p:cNvSpPr/>
          <p:nvPr/>
        </p:nvSpPr>
        <p:spPr>
          <a:xfrm>
            <a:off x="3657600" y="2194560"/>
            <a:ext cx="1828800" cy="0"/>
          </a:xfrm>
          <a:prstGeom prst="line">
            <a:avLst/>
          </a:prstGeom>
          <a:noFill/>
          <a:ln w="9525">
            <a:solidFill>
              <a:srgbClr val="999999"/>
            </a:solidFill>
            <a:prstDash val="solid"/>
          </a:ln>
        </p:spPr>
      </p:sp>
      <p:sp>
        <p:nvSpPr>
          <p:cNvPr id="10" name="Text 8"/>
          <p:cNvSpPr/>
          <p:nvPr/>
        </p:nvSpPr>
        <p:spPr>
          <a:xfrm>
            <a:off x="36118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Shadow repo reconstruction</a:t>
            </a:r>
            <a:endParaRPr lang="en-US" sz="1200" dirty="0"/>
          </a:p>
          <a:p>
            <a:pPr marL="342900" indent="-342900">
              <a:spcAft>
                <a:spcPts val="800"/>
              </a:spcAft>
              <a:buSzPct val="100000"/>
              <a:buChar char="•"/>
            </a:pPr>
            <a:r>
              <a:rPr lang="en-US" sz="1200" dirty="0">
                <a:solidFill>
                  <a:srgbClr val="333333"/>
                </a:solidFill>
              </a:rPr>
              <a:t>Metric calculation</a:t>
            </a:r>
            <a:endParaRPr lang="en-US" sz="1200" dirty="0"/>
          </a:p>
          <a:p>
            <a:pPr marL="342900" indent="-342900">
              <a:spcAft>
                <a:spcPts val="800"/>
              </a:spcAft>
              <a:buSzPct val="100000"/>
              <a:buChar char="•"/>
            </a:pPr>
            <a:r>
              <a:rPr lang="en-US" sz="1200" dirty="0">
                <a:solidFill>
                  <a:srgbClr val="333333"/>
                </a:solidFill>
              </a:rPr>
              <a:t>Divergence detection &amp; synthesis</a:t>
            </a:r>
            <a:endParaRPr lang="en-US" sz="1200" dirty="0"/>
          </a:p>
        </p:txBody>
      </p:sp>
      <p:sp>
        <p:nvSpPr>
          <p:cNvPr id="11" name="Shape 9"/>
          <p:cNvSpPr/>
          <p:nvPr/>
        </p:nvSpPr>
        <p:spPr>
          <a:xfrm>
            <a:off x="6583680" y="1463040"/>
            <a:ext cx="2377440" cy="2377440"/>
          </a:xfrm>
          <a:prstGeom prst="rect">
            <a:avLst/>
          </a:prstGeom>
          <a:solidFill>
            <a:srgbClr val="FFFFFF"/>
          </a:solidFill>
          <a:ln w="12700">
            <a:solidFill>
              <a:srgbClr val="000000"/>
            </a:solidFill>
            <a:prstDash val="solid"/>
          </a:ln>
        </p:spPr>
      </p:sp>
      <p:sp>
        <p:nvSpPr>
          <p:cNvPr id="12" name="Text 10"/>
          <p:cNvSpPr/>
          <p:nvPr/>
        </p:nvSpPr>
        <p:spPr>
          <a:xfrm>
            <a:off x="66751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Dashboard</a:t>
            </a:r>
            <a:endParaRPr lang="en-US" sz="1600" dirty="0"/>
          </a:p>
        </p:txBody>
      </p:sp>
      <p:sp>
        <p:nvSpPr>
          <p:cNvPr id="13" name="Shape 11"/>
          <p:cNvSpPr/>
          <p:nvPr/>
        </p:nvSpPr>
        <p:spPr>
          <a:xfrm>
            <a:off x="6858000" y="2194560"/>
            <a:ext cx="1828800" cy="0"/>
          </a:xfrm>
          <a:prstGeom prst="line">
            <a:avLst/>
          </a:prstGeom>
          <a:noFill/>
          <a:ln w="9525">
            <a:solidFill>
              <a:srgbClr val="999999"/>
            </a:solidFill>
            <a:prstDash val="solid"/>
          </a:ln>
        </p:spPr>
      </p:sp>
      <p:sp>
        <p:nvSpPr>
          <p:cNvPr id="14" name="Text 12"/>
          <p:cNvSpPr/>
          <p:nvPr/>
        </p:nvSpPr>
        <p:spPr>
          <a:xfrm>
            <a:off x="68122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Surfaces divergence points in context</a:t>
            </a:r>
            <a:endParaRPr lang="en-US" sz="1200" dirty="0"/>
          </a:p>
          <a:p>
            <a:pPr marL="342900" indent="-342900">
              <a:spcAft>
                <a:spcPts val="800"/>
              </a:spcAft>
              <a:buSzPct val="100000"/>
              <a:buChar char="•"/>
            </a:pPr>
            <a:r>
              <a:rPr lang="en-US" sz="1200" dirty="0">
                <a:solidFill>
                  <a:srgbClr val="333333"/>
                </a:solidFill>
              </a:rPr>
              <a:t>Explains alternative paths</a:t>
            </a:r>
            <a:endParaRPr lang="en-US" sz="1200" dirty="0"/>
          </a:p>
        </p:txBody>
      </p:sp>
      <p:sp>
        <p:nvSpPr>
          <p:cNvPr id="15" name="Shape 13"/>
          <p:cNvSpPr/>
          <p:nvPr/>
        </p:nvSpPr>
        <p:spPr>
          <a:xfrm>
            <a:off x="2560320" y="2651760"/>
            <a:ext cx="822960" cy="0"/>
          </a:xfrm>
          <a:prstGeom prst="line">
            <a:avLst/>
          </a:prstGeom>
          <a:noFill/>
          <a:ln w="19050">
            <a:solidFill>
              <a:srgbClr val="000000"/>
            </a:solidFill>
            <a:prstDash val="solid"/>
            <a:tailEnd type="triangle"/>
          </a:ln>
        </p:spPr>
      </p:sp>
      <p:sp>
        <p:nvSpPr>
          <p:cNvPr id="16" name="Text 14"/>
          <p:cNvSpPr/>
          <p:nvPr/>
        </p:nvSpPr>
        <p:spPr>
          <a:xfrm>
            <a:off x="25146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events.jsonl + initial-src/</a:t>
            </a:r>
            <a:endParaRPr lang="en-US" sz="900" dirty="0"/>
          </a:p>
        </p:txBody>
      </p:sp>
      <p:sp>
        <p:nvSpPr>
          <p:cNvPr id="17" name="Shape 15"/>
          <p:cNvSpPr/>
          <p:nvPr/>
        </p:nvSpPr>
        <p:spPr>
          <a:xfrm>
            <a:off x="5760720" y="2651760"/>
            <a:ext cx="822960" cy="0"/>
          </a:xfrm>
          <a:prstGeom prst="line">
            <a:avLst/>
          </a:prstGeom>
          <a:noFill/>
          <a:ln w="19050">
            <a:solidFill>
              <a:srgbClr val="000000"/>
            </a:solidFill>
            <a:prstDash val="solid"/>
            <a:tailEnd type="triangle"/>
          </a:ln>
        </p:spPr>
      </p:sp>
      <p:sp>
        <p:nvSpPr>
          <p:cNvPr id="18" name="Text 16"/>
          <p:cNvSpPr/>
          <p:nvPr/>
        </p:nvSpPr>
        <p:spPr>
          <a:xfrm>
            <a:off x="57150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analysis</a:t>
            </a:r>
            <a:endParaRPr lang="en-US" sz="900" dirty="0"/>
          </a:p>
          <a:p>
            <a:pPr algn="ctr" indent="0" marL="0">
              <a:buNone/>
            </a:pPr>
            <a:r>
              <a:rPr lang="en-US" sz="900" i="1" dirty="0">
                <a:solidFill>
                  <a:srgbClr val="555555"/>
                </a:solidFill>
              </a:rPr>
              <a:t>-report.json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13716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Scoring a trajectory: J(τ)</a:t>
            </a:r>
            <a:endParaRPr lang="en-US" sz="2800" dirty="0"/>
          </a:p>
        </p:txBody>
      </p:sp>
      <p:sp>
        <p:nvSpPr>
          <p:cNvPr id="3" name="Text 1"/>
          <p:cNvSpPr/>
          <p:nvPr/>
        </p:nvSpPr>
        <p:spPr>
          <a:xfrm>
            <a:off x="457200" y="841248"/>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J(τ)  =  clip</a:t>
            </a:r>
            <a:pPr algn="ctr" indent="0" marL="0">
              <a:buNone/>
            </a:pPr>
            <a:r>
              <a:rPr lang="en-US" sz="2200" baseline="-40000" dirty="0">
                <a:solidFill>
                  <a:srgbClr val="000000"/>
                </a:solidFill>
              </a:rPr>
              <a:t>[0,100]</a:t>
            </a:r>
            <a:pPr algn="ctr" indent="0" marL="0">
              <a:buNone/>
            </a:pPr>
            <a:r>
              <a:rPr lang="en-US" sz="2200" dirty="0">
                <a:solidFill>
                  <a:srgbClr val="000000"/>
                </a:solidFill>
              </a:rPr>
              <a:t>  (    50    </a:t>
            </a:r>
            <a:pPr algn="ctr" indent="0" marL="0">
              <a:buNone/>
            </a:pPr>
            <a:r>
              <a:rPr lang="en-US" sz="2200" i="1" dirty="0">
                <a:solidFill>
                  <a:srgbClr val="777777"/>
                </a:solidFill>
              </a:rPr>
              <a:t>(baseline)</a:t>
            </a:r>
            <a:pPr algn="ctr" indent="0" marL="0">
              <a:buNone/>
            </a:pPr>
            <a:r>
              <a:rPr lang="en-US" sz="2200" dirty="0">
                <a:solidFill>
                  <a:srgbClr val="000000"/>
                </a:solidFill>
              </a:rPr>
              <a:t>    +</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377440" y="1280160"/>
          <a:ext cx="4389120" cy="914400"/>
        </p:xfrm>
        <a:graphic>
          <a:graphicData uri="http://schemas.openxmlformats.org/drawingml/2006/table">
            <a:tbl>
              <a:tblPr/>
              <a:tblGrid>
                <a:gridCol w="731520"/>
                <a:gridCol w="365760"/>
                <a:gridCol w="3291840"/>
              </a:tblGrid>
              <a:tr h="292608">
                <a:tc>
                  <a:txBody>
                    <a:bodyPr/>
                    <a:lstStyle/>
                    <a:p>
                      <a:pPr algn="r" indent="0" marL="0">
                        <a:buNone/>
                      </a:pPr>
                      <a:r>
                        <a:rPr lang="en-US" sz="1600" b="1" dirty="0">
                          <a:solidFill>
                            <a:srgbClr val="0A7D2A"/>
                          </a:solidFill>
                        </a:rPr>
                        <a:t>+50</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cleanliness gain*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0A7D2A"/>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step-savings bonus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−28</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broken build / 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−14</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skipped-test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manual edits the IDE could refactor</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Intermediate cleanliness lag (degradation)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−7</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Long durations without commits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5" name="Text 2"/>
          <p:cNvSpPr/>
          <p:nvPr/>
        </p:nvSpPr>
        <p:spPr>
          <a:xfrm>
            <a:off x="457200" y="3749040"/>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3"/>
          <p:cNvSpPr/>
          <p:nvPr/>
        </p:nvSpPr>
        <p:spPr>
          <a:xfrm>
            <a:off x="457200" y="4526280"/>
            <a:ext cx="8229600" cy="548640"/>
          </a:xfrm>
          <a:prstGeom prst="rect">
            <a:avLst/>
          </a:prstGeom>
          <a:noFill/>
          <a:ln/>
        </p:spPr>
        <p:txBody>
          <a:bodyPr wrap="square" lIns="0" tIns="0" rIns="0" bIns="0" rtlCol="0" anchor="ctr"/>
          <a:lstStyle/>
          <a:p>
            <a:pPr algn="ctr" indent="0" marL="0">
              <a:buNone/>
            </a:pPr>
            <a:r>
              <a:rPr lang="en-US" sz="1100" i="1" dirty="0">
                <a:solidFill>
                  <a:srgbClr val="777777"/>
                </a:solidFill>
              </a:rPr>
              <a:t>* cleanliness gain = mean of 6 normalised signals: complexity, coupling, duplication, readability, smells, cohesion.</a:t>
            </a:r>
            <a:endParaRPr lang="en-US" sz="1100" dirty="0"/>
          </a:p>
          <a:p>
            <a:pPr algn="ctr" indent="0" marL="0">
              <a:buNone/>
            </a:pPr>
            <a:r>
              <a:rPr lang="en-US" sz="1100" i="1" dirty="0">
                <a:solidFill>
                  <a:srgbClr val="777777"/>
                </a:solidFill>
              </a:rPr>
              <a:t>All 6 weighted equally - no trajectory-level calibration data exists, so equal weights are the least-assumptive choice.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Four kinds of divergence</a:t>
            </a:r>
            <a:endParaRPr lang="en-US" sz="2800" dirty="0"/>
          </a:p>
        </p:txBody>
      </p:sp>
      <p:sp>
        <p:nvSpPr>
          <p:cNvPr id="3" name="Text 1"/>
          <p:cNvSpPr/>
          <p:nvPr/>
        </p:nvSpPr>
        <p:spPr>
          <a:xfrm>
            <a:off x="457200" y="1371600"/>
            <a:ext cx="8229600" cy="3200400"/>
          </a:xfrm>
          <a:prstGeom prst="rect">
            <a:avLst/>
          </a:prstGeom>
          <a:noFill/>
          <a:ln/>
        </p:spPr>
        <p:txBody>
          <a:bodyPr wrap="square" rtlCol="0" anchor="t"/>
          <a:lstStyle/>
          <a:p>
            <a:pPr marL="342900" indent="-342900">
              <a:buSzPct val="100000"/>
              <a:buChar char="•"/>
            </a:pPr>
            <a:r>
              <a:rPr lang="en-US" sz="1800" dirty="0">
                <a:solidFill>
                  <a:srgbClr val="000000"/>
                </a:solidFill>
              </a:rPr>
              <a:t>Manual-Refactor </a:t>
            </a:r>
            <a:pPr indent="0" marL="0">
              <a:buNone/>
            </a:pPr>
            <a:r>
              <a:rPr lang="en-US" sz="1800" dirty="0">
                <a:solidFill>
                  <a:srgbClr val="888888"/>
                </a:solidFill>
              </a:rPr>
              <a:t>- unnecessary risk (hand-edit when the IDE could have safely done it).</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Ordering </a:t>
            </a:r>
            <a:pPr indent="0" marL="0">
              <a:buNone/>
            </a:pPr>
            <a:r>
              <a:rPr lang="en-US" sz="1800" dirty="0">
                <a:solidFill>
                  <a:srgbClr val="888888"/>
                </a:solidFill>
              </a:rPr>
              <a:t>- right refactorings, wrong sequence.</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Rework </a:t>
            </a:r>
            <a:pPr indent="0" marL="0">
              <a:buNone/>
            </a:pPr>
            <a:r>
              <a:rPr lang="en-US" sz="1800" dirty="0">
                <a:solidFill>
                  <a:srgbClr val="888888"/>
                </a:solidFill>
              </a:rPr>
              <a:t>- unnecessary churn (added then removed).</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Hygiene </a:t>
            </a:r>
            <a:pPr indent="0" marL="0">
              <a:buNone/>
            </a:pPr>
            <a:r>
              <a:rPr lang="en-US" sz="1800" dirty="0">
                <a:solidFill>
                  <a:srgbClr val="888888"/>
                </a:solidFill>
              </a:rPr>
              <a:t>- missing safety checkpoints (no tests, no commits).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Manual-Refactor: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Developer hand-edited something the IDE could have done safely (and with its precondition checks).</a:t>
            </a:r>
            <a:endParaRPr lang="en-US" sz="1300" dirty="0"/>
          </a:p>
          <a:p>
            <a:pPr lvl="1" marL="685800" indent="-342900">
              <a:spcAft>
                <a:spcPts val="600"/>
              </a:spcAft>
              <a:buSzPct val="100000"/>
              <a:buFont typeface="+mj-lt"/>
              <a:buAutoNum type="arabicPeriod" startAt="1"/>
            </a:pPr>
            <a:r>
              <a:rPr lang="en-US" sz="1300" dirty="0">
                <a:solidFill>
                  <a:srgbClr val="000000"/>
                </a:solidFill>
              </a:rPr>
              <a:t>Refactoring Miner on sliding commit windows (of shadow repo) - anything we find that the IDE did not emit an event for is a manual refactoring.</a:t>
            </a:r>
            <a:endParaRPr lang="en-US" sz="1300" dirty="0"/>
          </a:p>
          <a:p>
            <a:pPr lvl="1" marL="685800" indent="-342900">
              <a:spcAft>
                <a:spcPts val="600"/>
              </a:spcAft>
              <a:buSzPct val="100000"/>
              <a:buFont typeface="+mj-lt"/>
              <a:buAutoNum type="arabicPeriod" startAt="1"/>
            </a:pPr>
            <a:r>
              <a:rPr lang="en-US" sz="1300" dirty="0">
                <a:solidFill>
                  <a:srgbClr val="000000"/>
                </a:solidFill>
              </a:rPr>
              <a:t>Apply the equivalent IDE refactoring (Eclipse / JDT).</a:t>
            </a:r>
            <a:endParaRPr lang="en-US" sz="1300" dirty="0"/>
          </a:p>
          <a:p>
            <a:pPr lvl="1" marL="685800" indent="-342900">
              <a:spcAft>
                <a:spcPts val="600"/>
              </a:spcAft>
              <a:buSzPct val="100000"/>
              <a:buFont typeface="+mj-lt"/>
              <a:buAutoNum type="arabicPeriod" startAt="1"/>
            </a:pPr>
            <a:r>
              <a:rPr lang="en-US" sz="1300" dirty="0">
                <a:solidFill>
                  <a:srgbClr val="000000"/>
                </a:solidFill>
              </a:rPr>
              <a:t>Reconcile minor JDT ↔ IntelliJ AST differences (e.g. static modifiers, variable liveness).</a:t>
            </a:r>
            <a:endParaRPr lang="en-US" sz="1300" dirty="0"/>
          </a:p>
          <a:p>
            <a:pPr lvl="1" marL="685800" indent="-342900">
              <a:spcAft>
                <a:spcPts val="600"/>
              </a:spcAft>
              <a:buSzPct val="100000"/>
              <a:buFont typeface="+mj-lt"/>
              <a:buAutoNum type="arabicPeriod" startAt="1"/>
            </a:pPr>
            <a:r>
              <a:rPr lang="en-US" sz="1300" dirty="0">
                <a:solidFill>
                  <a:srgbClr val="000000"/>
                </a:solidFill>
              </a:rPr>
              <a:t>Merge the user's other edits back on top.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Very actionable - at the start I didn't know most IntelliJ actions. ”</a:t>
            </a:r>
            <a:endParaRPr lang="en-US" sz="1100" dirty="0"/>
          </a:p>
          <a:p>
            <a:pPr indent="0" marL="0">
              <a:buNone/>
            </a:pPr>
            <a:r>
              <a:rPr lang="en-US" sz="1100" i="1" dirty="0">
                <a:solidFill>
                  <a:srgbClr val="888888"/>
                </a:solidFill>
              </a:rPr>
              <a:t>— P2</a:t>
            </a:r>
            <a:endParaRPr lang="en-US" sz="1100" dirty="0"/>
          </a:p>
        </p:txBody>
      </p:sp>
      <p:pic>
        <p:nvPicPr>
          <p:cNvPr id="5" name="Image 0" descr="images/manual-refactor.png">    </p:cNvPr>
          <p:cNvPicPr>
            <a:picLocks noChangeAspect="1"/>
          </p:cNvPicPr>
          <p:nvPr/>
        </p:nvPicPr>
        <p:blipFill>
          <a:blip r:embed="rId1"/>
          <a:stretch>
            <a:fillRect/>
          </a:stretch>
        </p:blipFill>
        <p:spPr>
          <a:xfrm>
            <a:off x="1463040" y="2880360"/>
            <a:ext cx="6217920" cy="20391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Ordering: detect + synthesise</a:t>
            </a:r>
            <a:endParaRPr lang="en-US" sz="2400" dirty="0"/>
          </a:p>
        </p:txBody>
      </p:sp>
      <p:sp>
        <p:nvSpPr>
          <p:cNvPr id="3" name="Text 1"/>
          <p:cNvSpPr/>
          <p:nvPr/>
        </p:nvSpPr>
        <p:spPr>
          <a:xfrm>
            <a:off x="457200" y="1097280"/>
            <a:ext cx="8229600" cy="187452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Developer performed their refactoring steps in a sub-optimal order, leading to unnecessary intermediate degradation.</a:t>
            </a:r>
            <a:endParaRPr lang="en-US" sz="1400" dirty="0"/>
          </a:p>
          <a:p>
            <a:pPr lvl="1" marL="685800" indent="-342900">
              <a:spcAft>
                <a:spcPts val="600"/>
              </a:spcAft>
              <a:buSzPct val="100000"/>
              <a:buFont typeface="+mj-lt"/>
              <a:buAutoNum type="arabicPeriod" startAt="1"/>
            </a:pPr>
            <a:r>
              <a:rPr lang="en-US" sz="1400" dirty="0">
                <a:solidFill>
                  <a:srgbClr val="000000"/>
                </a:solidFill>
              </a:rPr>
              <a:t>Identify dependencies between steps → DAG.</a:t>
            </a:r>
            <a:endParaRPr lang="en-US" sz="1400" dirty="0"/>
          </a:p>
          <a:p>
            <a:pPr lvl="1" marL="685800" indent="-342900">
              <a:spcAft>
                <a:spcPts val="600"/>
              </a:spcAft>
              <a:buSzPct val="100000"/>
              <a:buFont typeface="+mj-lt"/>
              <a:buAutoNum type="arabicPeriod" startAt="1"/>
            </a:pPr>
            <a:r>
              <a:rPr lang="en-US" sz="1400" dirty="0">
                <a:solidFill>
                  <a:srgbClr val="000000"/>
                </a:solidFill>
              </a:rPr>
              <a:t>Enumerate valid topological orderings.</a:t>
            </a:r>
            <a:endParaRPr lang="en-US" sz="1400" dirty="0"/>
          </a:p>
          <a:p>
            <a:pPr lvl="1" marL="685800" indent="-342900">
              <a:spcAft>
                <a:spcPts val="600"/>
              </a:spcAft>
              <a:buSzPct val="100000"/>
              <a:buFont typeface="+mj-lt"/>
              <a:buAutoNum type="arabicPeriod" startAt="1"/>
            </a:pPr>
            <a:r>
              <a:rPr lang="en-US" sz="1400" dirty="0">
                <a:solidFill>
                  <a:srgbClr val="000000"/>
                </a:solidFill>
              </a:rPr>
              <a:t>Synthesise (Eclipse / JDT), utilising Prefix Trie (DFS) and git checkouts on backtrack.</a:t>
            </a:r>
            <a:endParaRPr lang="en-US" sz="1400" dirty="0"/>
          </a:p>
          <a:p>
            <a:pPr lvl="1" marL="685800" indent="-342900">
              <a:spcAft>
                <a:spcPts val="600"/>
              </a:spcAft>
              <a:buSzPct val="100000"/>
              <a:buFont typeface="+mj-lt"/>
              <a:buAutoNum type="arabicPeriod" startAt="1"/>
            </a:pPr>
            <a:r>
              <a:rPr lang="en-US" sz="1400" dirty="0">
                <a:solidFill>
                  <a:srgbClr val="000000"/>
                </a:solidFill>
              </a:rPr>
              <a:t>Normalize AST + compare with original.</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How can you actually apply that in the future without knowing beforehand? ”</a:t>
            </a:r>
            <a:endParaRPr lang="en-US" sz="1100" dirty="0"/>
          </a:p>
          <a:p>
            <a:pPr indent="0" marL="0">
              <a:buNone/>
            </a:pPr>
            <a:r>
              <a:rPr lang="en-US" sz="1100" i="1" dirty="0">
                <a:solidFill>
                  <a:srgbClr val="888888"/>
                </a:solidFill>
              </a:rPr>
              <a:t>— P2</a:t>
            </a:r>
            <a:endParaRPr lang="en-US" sz="1100" dirty="0"/>
          </a:p>
        </p:txBody>
      </p:sp>
      <p:pic>
        <p:nvPicPr>
          <p:cNvPr id="5" name="Image 0" descr="images/reorder-synthesis.png">    </p:cNvPr>
          <p:cNvPicPr>
            <a:picLocks noChangeAspect="1"/>
          </p:cNvPicPr>
          <p:nvPr/>
        </p:nvPicPr>
        <p:blipFill>
          <a:blip r:embed="rId1"/>
          <a:stretch>
            <a:fillRect/>
          </a:stretch>
        </p:blipFill>
        <p:spPr>
          <a:xfrm>
            <a:off x="1828800" y="3017520"/>
            <a:ext cx="5486400" cy="18745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Rework: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Code added and later removed (or vice versa) - unnecessary churn.</a:t>
            </a:r>
            <a:endParaRPr lang="en-US" sz="1300" dirty="0"/>
          </a:p>
          <a:p>
            <a:pPr lvl="1" marL="685800" indent="-342900">
              <a:spcAft>
                <a:spcPts val="600"/>
              </a:spcAft>
              <a:buSzPct val="100000"/>
              <a:buFont typeface="+mj-lt"/>
              <a:buAutoNum type="arabicPeriod" startAt="1"/>
            </a:pPr>
            <a:r>
              <a:rPr lang="en-US" sz="1300" dirty="0">
                <a:solidFill>
                  <a:srgbClr val="000000"/>
                </a:solidFill>
              </a:rPr>
              <a:t>Compare git diffs between adjacent steps of shadow repo.</a:t>
            </a:r>
            <a:endParaRPr lang="en-US" sz="1300" dirty="0"/>
          </a:p>
          <a:p>
            <a:pPr lvl="1" marL="685800" indent="-342900">
              <a:spcAft>
                <a:spcPts val="600"/>
              </a:spcAft>
              <a:buSzPct val="100000"/>
              <a:buFont typeface="+mj-lt"/>
              <a:buAutoNum type="arabicPeriod" startAt="1"/>
            </a:pPr>
            <a:r>
              <a:rPr lang="en-US" sz="1300" dirty="0">
                <a:solidFill>
                  <a:srgbClr val="000000"/>
                </a:solidFill>
              </a:rPr>
              <a:t>Hash each hunk, and look for a matching, opposite hunk with matching (file, scope, content-hash) in a future git diff.</a:t>
            </a:r>
            <a:endParaRPr lang="en-US" sz="1300" dirty="0"/>
          </a:p>
          <a:p>
            <a:pPr lvl="1" marL="685800" indent="-342900">
              <a:spcAft>
                <a:spcPts val="600"/>
              </a:spcAft>
              <a:buSzPct val="100000"/>
              <a:buFont typeface="+mj-lt"/>
              <a:buAutoNum type="arabicPeriod" startAt="1"/>
            </a:pPr>
            <a:r>
              <a:rPr lang="en-US" sz="1300" dirty="0">
                <a:solidFill>
                  <a:srgbClr val="000000"/>
                </a:solidFill>
              </a:rPr>
              <a:t>Remove that hunk from both diffs, calculate the updated line numbers of every git diff hunk between each of the intermediate states, and replay these new diffs from the start step.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Over-penalised undos + redos. ”</a:t>
            </a:r>
            <a:endParaRPr lang="en-US" sz="1100" dirty="0"/>
          </a:p>
          <a:p>
            <a:pPr indent="0" marL="0">
              <a:buNone/>
            </a:pPr>
            <a:r>
              <a:rPr lang="en-US" sz="1100" i="1" dirty="0">
                <a:solidFill>
                  <a:srgbClr val="888888"/>
                </a:solidFill>
              </a:rPr>
              <a:t>— P1</a:t>
            </a:r>
            <a:endParaRPr lang="en-US" sz="1100" dirty="0"/>
          </a:p>
        </p:txBody>
      </p:sp>
      <p:pic>
        <p:nvPicPr>
          <p:cNvPr id="5" name="Image 0" descr="images/rework.png">    </p:cNvPr>
          <p:cNvPicPr>
            <a:picLocks noChangeAspect="1"/>
          </p:cNvPicPr>
          <p:nvPr/>
        </p:nvPicPr>
        <p:blipFill>
          <a:blip r:embed="rId1"/>
          <a:stretch>
            <a:fillRect/>
          </a:stretch>
        </p:blipFill>
        <p:spPr>
          <a:xfrm>
            <a:off x="2377440" y="2834640"/>
            <a:ext cx="4389120" cy="212140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Hygiene: detect + synthesise</a:t>
            </a:r>
            <a:endParaRPr lang="en-US" sz="2400" dirty="0"/>
          </a:p>
        </p:txBody>
      </p:sp>
      <p:sp>
        <p:nvSpPr>
          <p:cNvPr id="3" name="Text 1"/>
          <p:cNvSpPr/>
          <p:nvPr/>
        </p:nvSpPr>
        <p:spPr>
          <a:xfrm>
            <a:off x="457200" y="1097280"/>
            <a:ext cx="8229600" cy="365760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Long stretches of work without test runs, or commits.</a:t>
            </a:r>
            <a:endParaRPr lang="en-US" sz="1400" dirty="0"/>
          </a:p>
          <a:p>
            <a:pPr lvl="1" marL="685800" indent="-342900">
              <a:spcAft>
                <a:spcPts val="600"/>
              </a:spcAft>
              <a:buSzPct val="100000"/>
              <a:buFont typeface="+mj-lt"/>
              <a:buAutoNum type="arabicPeriod" startAt="1"/>
            </a:pPr>
            <a:r>
              <a:rPr lang="en-US" sz="1400" dirty="0">
                <a:solidFill>
                  <a:srgbClr val="000000"/>
                </a:solidFill>
              </a:rPr>
              <a:t>Iterate through each run's IDE events.</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1 minute since the last edit and still no test run, flag a Test DP.</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5 refactoring steps since the last commit, flag a Commit DP.</a:t>
            </a:r>
            <a:endParaRPr lang="en-US" sz="1400" dirty="0"/>
          </a:p>
          <a:p>
            <a:pPr lvl="1" marL="685800" indent="-342900">
              <a:spcAft>
                <a:spcPts val="2000"/>
              </a:spcAft>
              <a:buSzPct val="100000"/>
              <a:buFont typeface="+mj-lt"/>
              <a:buAutoNum type="arabicPeriod" startAt="1"/>
            </a:pPr>
            <a:r>
              <a:rPr lang="en-US" sz="1400" dirty="0">
                <a:solidFill>
                  <a:srgbClr val="000000"/>
                </a:solidFill>
              </a:rPr>
              <a:t>For each DP, generate an identical run but with the corresponding test or commit event.</a:t>
            </a:r>
            <a:endParaRPr lang="en-US" sz="1400" dirty="0"/>
          </a:p>
          <a:p>
            <a:pPr marL="342900" indent="-342900">
              <a:spcAft>
                <a:spcPts val="600"/>
              </a:spcAft>
              <a:buSzPct val="100000"/>
              <a:buChar char="•"/>
            </a:pPr>
            <a:r>
              <a:rPr lang="en-US" sz="1400" dirty="0">
                <a:solidFill>
                  <a:srgbClr val="000000"/>
                </a:solidFill>
              </a:rPr>
              <a:t>Very cheap to compute.</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The most actionable kind - committing more frequently in particular. ”</a:t>
            </a:r>
            <a:endParaRPr lang="en-US" sz="1100" dirty="0"/>
          </a:p>
          <a:p>
            <a:pPr indent="0" marL="0">
              <a:buNone/>
            </a:pPr>
            <a:r>
              <a:rPr lang="en-US" sz="1100" i="1" dirty="0">
                <a:solidFill>
                  <a:srgbClr val="888888"/>
                </a:solidFill>
              </a:rPr>
              <a:t>— P1</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we wanted to evaluate</a:t>
            </a:r>
            <a:endParaRPr lang="en-US" sz="2800" dirty="0"/>
          </a:p>
        </p:txBody>
      </p:sp>
      <p:sp>
        <p:nvSpPr>
          <p:cNvPr id="3" name="Text 1"/>
          <p:cNvSpPr/>
          <p:nvPr/>
        </p:nvSpPr>
        <p:spPr>
          <a:xfrm>
            <a:off x="457200" y="1188720"/>
            <a:ext cx="8229600" cy="3200400"/>
          </a:xfrm>
          <a:prstGeom prst="rect">
            <a:avLst/>
          </a:prstGeom>
          <a:noFill/>
          <a:ln/>
        </p:spPr>
        <p:txBody>
          <a:bodyPr wrap="square" rtlCol="0" anchor="t"/>
          <a:lstStyle/>
          <a:p>
            <a:pPr marL="342900" indent="-342900">
              <a:spcAft>
                <a:spcPts val="800"/>
              </a:spcAft>
              <a:buSzPct val="100000"/>
              <a:buChar char="•"/>
            </a:pPr>
            <a:r>
              <a:rPr lang="en-US" sz="1600" b="1" dirty="0">
                <a:solidFill>
                  <a:srgbClr val="000000"/>
                </a:solidFill>
              </a:rPr>
              <a:t>3 Questions</a:t>
            </a:r>
            <a:endParaRPr lang="en-US" sz="1600" dirty="0"/>
          </a:p>
          <a:p>
            <a:pPr lvl="1" marL="762000" indent="-381000">
              <a:spcAft>
                <a:spcPts val="600"/>
              </a:spcAft>
              <a:buSzPct val="100000"/>
              <a:buChar char="•"/>
            </a:pPr>
            <a:r>
              <a:rPr lang="en-US" sz="1600" dirty="0">
                <a:solidFill>
                  <a:srgbClr val="000000"/>
                </a:solidFill>
              </a:rPr>
              <a:t>Is the tool accurate?</a:t>
            </a:r>
            <a:endParaRPr lang="en-US" sz="1600" dirty="0"/>
          </a:p>
          <a:p>
            <a:pPr lvl="1" marL="762000" indent="-381000">
              <a:spcAft>
                <a:spcPts val="600"/>
              </a:spcAft>
              <a:buSzPct val="100000"/>
              <a:buChar char="•"/>
            </a:pPr>
            <a:r>
              <a:rPr lang="en-US" sz="1600" dirty="0">
                <a:solidFill>
                  <a:srgbClr val="000000"/>
                </a:solidFill>
              </a:rPr>
              <a:t>Is the process score reliable?</a:t>
            </a:r>
            <a:endParaRPr lang="en-US" sz="1600" dirty="0"/>
          </a:p>
          <a:p>
            <a:pPr lvl="1" marL="762000" indent="-381000">
              <a:spcAft>
                <a:spcPts val="2000"/>
              </a:spcAft>
              <a:buSzPct val="100000"/>
              <a:buChar char="•"/>
            </a:pPr>
            <a:r>
              <a:rPr lang="en-US" sz="1600" dirty="0">
                <a:solidFill>
                  <a:srgbClr val="000000"/>
                </a:solidFill>
              </a:rPr>
              <a:t>Does the tool change developer behaviour?</a:t>
            </a:r>
            <a:endParaRPr lang="en-US" sz="1600" dirty="0"/>
          </a:p>
          <a:p>
            <a:pPr marL="342900" indent="-342900">
              <a:spcAft>
                <a:spcPts val="800"/>
              </a:spcAft>
              <a:buSzPct val="100000"/>
              <a:buChar char="•"/>
            </a:pPr>
            <a:r>
              <a:rPr lang="en-US" sz="1600" b="1" dirty="0">
                <a:solidFill>
                  <a:srgbClr val="000000"/>
                </a:solidFill>
              </a:rPr>
              <a:t>2 Datasets</a:t>
            </a:r>
            <a:endParaRPr lang="en-US" sz="1600" dirty="0"/>
          </a:p>
          <a:p>
            <a:pPr lvl="1" marL="762000" indent="-381000">
              <a:spcAft>
                <a:spcPts val="600"/>
              </a:spcAft>
              <a:buSzPct val="100000"/>
              <a:buChar char="•"/>
            </a:pPr>
            <a:r>
              <a:rPr lang="en-US" sz="1600" dirty="0">
                <a:solidFill>
                  <a:srgbClr val="000000"/>
                </a:solidFill>
              </a:rPr>
              <a:t>45-session labelled injection set </a:t>
            </a:r>
            <a:pPr indent="0" marL="0">
              <a:spcAft>
                <a:spcPts val="600"/>
              </a:spcAft>
              <a:buNone/>
            </a:pPr>
            <a:r>
              <a:rPr lang="en-US" sz="1600" dirty="0">
                <a:solidFill>
                  <a:srgbClr val="555555"/>
                </a:solidFill>
              </a:rPr>
              <a:t>- controlled, balanced per-kind coverage.</a:t>
            </a:r>
            <a:endParaRPr lang="en-US" sz="1600" dirty="0"/>
          </a:p>
          <a:p>
            <a:pPr lvl="1" marL="762000" indent="-381000">
              <a:spcAft>
                <a:spcPts val="600"/>
              </a:spcAft>
              <a:buSzPct val="100000"/>
              <a:buChar char="•"/>
            </a:pPr>
            <a:r>
              <a:rPr lang="en-US" sz="1600" dirty="0">
                <a:solidFill>
                  <a:srgbClr val="000000"/>
                </a:solidFill>
              </a:rPr>
              <a:t>30-session randomised user study </a:t>
            </a:r>
            <a:pPr indent="0" marL="0">
              <a:spcAft>
                <a:spcPts val="600"/>
              </a:spcAft>
              <a:buNone/>
            </a:pPr>
            <a:r>
              <a:rPr lang="en-US" sz="1600" dirty="0">
                <a:solidFill>
                  <a:srgbClr val="555555"/>
                </a:solidFill>
              </a:rPr>
              <a:t>- 5 MEng participants × 6 sessions, 2 arms (feedback vs no-feedback).</a:t>
            </a:r>
            <a:endParaRPr lang="en-US" sz="1600" dirty="0"/>
          </a:p>
        </p:txBody>
      </p:sp>
      <p:sp>
        <p:nvSpPr>
          <p:cNvPr id="4" name="Text 2"/>
          <p:cNvSpPr/>
          <p:nvPr/>
        </p:nvSpPr>
        <p:spPr>
          <a:xfrm>
            <a:off x="457200" y="4572000"/>
            <a:ext cx="8229600" cy="457200"/>
          </a:xfrm>
          <a:prstGeom prst="rect">
            <a:avLst/>
          </a:prstGeom>
          <a:noFill/>
          <a:ln/>
        </p:spPr>
        <p:txBody>
          <a:bodyPr wrap="square" lIns="0" tIns="0" rIns="0" bIns="0" rtlCol="0" anchor="ctr"/>
          <a:lstStyle/>
          <a:p>
            <a:pPr algn="ctr" indent="0" marL="0">
              <a:buNone/>
            </a:pPr>
            <a:r>
              <a:rPr lang="en-US" sz="1400" b="1" i="1" dirty="0">
                <a:solidFill>
                  <a:srgbClr val="0000CD"/>
                </a:solidFill>
              </a:rPr>
              <a:t>Reproducible: </a:t>
            </a:r>
            <a:pPr algn="ctr" indent="0" marL="0">
              <a:buNone/>
            </a:pPr>
            <a:r>
              <a:rPr lang="en-US" sz="1400" i="1" dirty="0">
                <a:solidFill>
                  <a:srgbClr val="0000CD"/>
                </a:solidFill>
              </a:rPr>
              <a:t>every table and figure is regenerated from the Jupyter notebook in the repo.</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1: Is the tool accurate?</a:t>
            </a:r>
            <a:endParaRPr lang="en-US" sz="3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tool accurate?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1000"/>
              </a:spcAft>
              <a:buSzPct val="100000"/>
              <a:buChar char="•"/>
            </a:pPr>
            <a:r>
              <a:rPr lang="en-US" sz="1500" dirty="0">
                <a:solidFill>
                  <a:srgbClr val="000000"/>
                </a:solidFill>
              </a:rPr>
              <a:t>45 hand-labelled injection sessions </a:t>
            </a:r>
            <a:pPr indent="0" marL="0">
              <a:spcAft>
                <a:spcPts val="1000"/>
              </a:spcAft>
              <a:buNone/>
            </a:pPr>
            <a:r>
              <a:rPr lang="en-US" sz="1500" dirty="0">
                <a:solidFill>
                  <a:srgbClr val="888888"/>
                </a:solidFill>
              </a:rPr>
              <a:t>- on a Java codebase.</a:t>
            </a:r>
            <a:endParaRPr lang="en-US" sz="1500" dirty="0"/>
          </a:p>
          <a:p>
            <a:pPr marL="342900" indent="-342900">
              <a:spcAft>
                <a:spcPts val="1000"/>
              </a:spcAft>
              <a:buSzPct val="100000"/>
              <a:buChar char="•"/>
            </a:pPr>
            <a:r>
              <a:rPr lang="en-US" sz="1500" dirty="0">
                <a:solidFill>
                  <a:srgbClr val="000000"/>
                </a:solidFill>
              </a:rPr>
              <a:t>3 raters (author + 2 external MEng cohort members) </a:t>
            </a:r>
            <a:pPr indent="0" marL="0">
              <a:spcAft>
                <a:spcPts val="1000"/>
              </a:spcAft>
              <a:buNone/>
            </a:pPr>
            <a:r>
              <a:rPr lang="en-US" sz="1500" dirty="0">
                <a:solidFill>
                  <a:srgbClr val="888888"/>
                </a:solidFill>
              </a:rPr>
              <a:t>- inter-rater Cohen's κ = 1.00 (Ordering, Manual-Refactor), 0.86–1.00 (Rework), 0.72–0.86 (Hygiene).</a:t>
            </a:r>
            <a:endParaRPr lang="en-US" sz="1500" dirty="0"/>
          </a:p>
          <a:p>
            <a:pPr marL="342900" indent="-342900">
              <a:spcAft>
                <a:spcPts val="1000"/>
              </a:spcAft>
              <a:buSzPct val="100000"/>
              <a:buChar char="•"/>
            </a:pPr>
            <a:r>
              <a:rPr lang="en-US" sz="1500" dirty="0">
                <a:solidFill>
                  <a:srgbClr val="000000"/>
                </a:solidFill>
              </a:rPr>
              <a:t>Disagreements predominantly surrounding hygiene + rework labels </a:t>
            </a:r>
            <a:pPr indent="0" marL="0">
              <a:spcAft>
                <a:spcPts val="1000"/>
              </a:spcAft>
              <a:buNone/>
            </a:pPr>
            <a:r>
              <a:rPr lang="en-US" sz="1500" dirty="0">
                <a:solidFill>
                  <a:srgbClr val="888888"/>
                </a:solidFill>
              </a:rPr>
              <a:t>- differences in opinion of what constitutes a step.</a:t>
            </a:r>
            <a:endParaRPr lang="en-US" sz="1500" dirty="0"/>
          </a:p>
          <a:p>
            <a:pPr marL="342900" indent="-342900">
              <a:spcAft>
                <a:spcPts val="1000"/>
              </a:spcAft>
              <a:buSzPct val="100000"/>
              <a:buChar char="•"/>
            </a:pPr>
            <a:r>
              <a:rPr lang="en-US" sz="1500" dirty="0">
                <a:solidFill>
                  <a:srgbClr val="000000"/>
                </a:solidFill>
              </a:rPr>
              <a:t>Track all divergence points detected </a:t>
            </a:r>
            <a:pPr indent="0" marL="0">
              <a:spcAft>
                <a:spcPts val="1000"/>
              </a:spcAft>
              <a:buNone/>
            </a:pPr>
            <a:r>
              <a:rPr lang="en-US" sz="1500" dirty="0">
                <a:solidFill>
                  <a:srgbClr val="888888"/>
                </a:solidFill>
              </a:rPr>
              <a:t>- not only ones with a higher process score than the user.</a:t>
            </a:r>
            <a:endParaRPr lang="en-US" sz="1500" dirty="0"/>
          </a:p>
          <a:p>
            <a:pPr marL="342900" indent="-342900">
              <a:spcAft>
                <a:spcPts val="1000"/>
              </a:spcAft>
              <a:buSzPct val="100000"/>
              <a:buChar char="•"/>
            </a:pPr>
            <a:r>
              <a:rPr lang="en-US" sz="1500" dirty="0">
                <a:solidFill>
                  <a:srgbClr val="000000"/>
                </a:solidFill>
              </a:rPr>
              <a:t>Measure precision + recall </a:t>
            </a:r>
            <a:pPr indent="0" marL="0">
              <a:spcAft>
                <a:spcPts val="1000"/>
              </a:spcAft>
              <a:buNone/>
            </a:pPr>
            <a:r>
              <a:rPr lang="en-US" sz="1500" dirty="0">
                <a:solidFill>
                  <a:srgbClr val="888888"/>
                </a:solidFill>
              </a:rPr>
              <a:t>- precision guards against FPs that waste the developer's attention. Recall guards against FNs that miss real opportunities. F1 averages the two - so a high score can hide a detector that's annoying users (lots of FPs) or one that's quietly missing things (lots of FNs). Accuracy is dominated by true negatives.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45720"/>
            <a:ext cx="8229600" cy="457200"/>
          </a:xfrm>
          <a:prstGeom prst="rect">
            <a:avLst/>
          </a:prstGeom>
          <a:noFill/>
          <a:ln/>
        </p:spPr>
        <p:txBody>
          <a:bodyPr wrap="square" lIns="0" tIns="0" rIns="0" bIns="0" rtlCol="0" anchor="ctr"/>
          <a:lstStyle/>
          <a:p>
            <a:pPr indent="0" marL="0">
              <a:buNone/>
            </a:pPr>
            <a:r>
              <a:rPr lang="en-US" sz="2800" b="1" dirty="0">
                <a:solidFill>
                  <a:srgbClr val="000000"/>
                </a:solidFill>
              </a:rPr>
              <a:t>Decision matrix per divergence kind</a:t>
            </a:r>
            <a:endParaRPr lang="en-US" sz="2800" dirty="0"/>
          </a:p>
        </p:txBody>
      </p:sp>
      <p:sp>
        <p:nvSpPr>
          <p:cNvPr id="3" name="Text 1"/>
          <p:cNvSpPr/>
          <p:nvPr/>
        </p:nvSpPr>
        <p:spPr>
          <a:xfrm>
            <a:off x="457200" y="502920"/>
            <a:ext cx="8229600" cy="201168"/>
          </a:xfrm>
          <a:prstGeom prst="rect">
            <a:avLst/>
          </a:prstGeom>
          <a:noFill/>
          <a:ln/>
        </p:spPr>
        <p:txBody>
          <a:bodyPr wrap="square" lIns="0" tIns="0" rIns="0" bIns="0" rtlCol="0" anchor="ctr"/>
          <a:lstStyle/>
          <a:p>
            <a:pPr algn="ctr" indent="0" marL="0">
              <a:buNone/>
            </a:pPr>
            <a:r>
              <a:rPr lang="en-US" sz="1200" i="1" dirty="0">
                <a:solidFill>
                  <a:srgbClr val="555555"/>
                </a:solidFill>
              </a:rPr>
              <a:t>Session-level (45 injection sessions).</a:t>
            </a:r>
            <a:endParaRPr lang="en-US" sz="1200" dirty="0"/>
          </a:p>
        </p:txBody>
      </p:sp>
      <p:sp>
        <p:nvSpPr>
          <p:cNvPr id="4" name="Text 2"/>
          <p:cNvSpPr/>
          <p:nvPr/>
        </p:nvSpPr>
        <p:spPr>
          <a:xfrm>
            <a:off x="6400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Manual-Refactor</a:t>
            </a:r>
            <a:endParaRPr lang="en-US" sz="1400" dirty="0"/>
          </a:p>
        </p:txBody>
      </p:sp>
      <p:sp>
        <p:nvSpPr>
          <p:cNvPr id="5" name="Text 3"/>
          <p:cNvSpPr/>
          <p:nvPr/>
        </p:nvSpPr>
        <p:spPr>
          <a:xfrm>
            <a:off x="1188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6" name="Text 4"/>
          <p:cNvSpPr/>
          <p:nvPr/>
        </p:nvSpPr>
        <p:spPr>
          <a:xfrm>
            <a:off x="2331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7" name="Text 5"/>
          <p:cNvSpPr/>
          <p:nvPr/>
        </p:nvSpPr>
        <p:spPr>
          <a:xfrm>
            <a:off x="6400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8" name="Text 6"/>
          <p:cNvSpPr/>
          <p:nvPr/>
        </p:nvSpPr>
        <p:spPr>
          <a:xfrm>
            <a:off x="6400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9" name="Shape 7"/>
          <p:cNvSpPr/>
          <p:nvPr/>
        </p:nvSpPr>
        <p:spPr>
          <a:xfrm>
            <a:off x="1188720" y="1289304"/>
            <a:ext cx="1143000" cy="548640"/>
          </a:xfrm>
          <a:prstGeom prst="rect">
            <a:avLst/>
          </a:prstGeom>
          <a:solidFill>
            <a:srgbClr val="D4F0DC"/>
          </a:solidFill>
          <a:ln w="6350">
            <a:solidFill>
              <a:srgbClr val="999999"/>
            </a:solidFill>
            <a:prstDash val="solid"/>
          </a:ln>
        </p:spPr>
      </p:sp>
      <p:sp>
        <p:nvSpPr>
          <p:cNvPr id="10" name="Text 8"/>
          <p:cNvSpPr/>
          <p:nvPr/>
        </p:nvSpPr>
        <p:spPr>
          <a:xfrm>
            <a:off x="11887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16</a:t>
            </a:r>
            <a:endParaRPr lang="en-US" sz="2000" dirty="0"/>
          </a:p>
          <a:p>
            <a:pPr algn="ctr" indent="0" marL="0">
              <a:buNone/>
            </a:pPr>
            <a:r>
              <a:rPr lang="en-US" sz="900" dirty="0">
                <a:solidFill>
                  <a:srgbClr val="666666"/>
                </a:solidFill>
              </a:rPr>
              <a:t>TP</a:t>
            </a:r>
            <a:endParaRPr lang="en-US" sz="2000" dirty="0"/>
          </a:p>
        </p:txBody>
      </p:sp>
      <p:sp>
        <p:nvSpPr>
          <p:cNvPr id="11" name="Shape 9"/>
          <p:cNvSpPr/>
          <p:nvPr/>
        </p:nvSpPr>
        <p:spPr>
          <a:xfrm>
            <a:off x="2331720" y="1289304"/>
            <a:ext cx="1143000" cy="548640"/>
          </a:xfrm>
          <a:prstGeom prst="rect">
            <a:avLst/>
          </a:prstGeom>
          <a:solidFill>
            <a:srgbClr val="F5D5CE"/>
          </a:solidFill>
          <a:ln w="6350">
            <a:solidFill>
              <a:srgbClr val="999999"/>
            </a:solidFill>
            <a:prstDash val="solid"/>
          </a:ln>
        </p:spPr>
      </p:sp>
      <p:sp>
        <p:nvSpPr>
          <p:cNvPr id="12" name="Text 10"/>
          <p:cNvSpPr/>
          <p:nvPr/>
        </p:nvSpPr>
        <p:spPr>
          <a:xfrm>
            <a:off x="23317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5</a:t>
            </a:r>
            <a:endParaRPr lang="en-US" sz="2000" dirty="0"/>
          </a:p>
          <a:p>
            <a:pPr algn="ctr" indent="0" marL="0">
              <a:buNone/>
            </a:pPr>
            <a:r>
              <a:rPr lang="en-US" sz="900" dirty="0">
                <a:solidFill>
                  <a:srgbClr val="666666"/>
                </a:solidFill>
              </a:rPr>
              <a:t>FN</a:t>
            </a:r>
            <a:endParaRPr lang="en-US" sz="2000" dirty="0"/>
          </a:p>
        </p:txBody>
      </p:sp>
      <p:sp>
        <p:nvSpPr>
          <p:cNvPr id="13" name="Shape 11"/>
          <p:cNvSpPr/>
          <p:nvPr/>
        </p:nvSpPr>
        <p:spPr>
          <a:xfrm>
            <a:off x="1188720" y="1837944"/>
            <a:ext cx="1143000" cy="548640"/>
          </a:xfrm>
          <a:prstGeom prst="rect">
            <a:avLst/>
          </a:prstGeom>
          <a:solidFill>
            <a:srgbClr val="F2F2F2"/>
          </a:solidFill>
          <a:ln w="6350">
            <a:solidFill>
              <a:srgbClr val="999999"/>
            </a:solidFill>
            <a:prstDash val="solid"/>
          </a:ln>
        </p:spPr>
      </p:sp>
      <p:sp>
        <p:nvSpPr>
          <p:cNvPr id="14" name="Text 12"/>
          <p:cNvSpPr/>
          <p:nvPr/>
        </p:nvSpPr>
        <p:spPr>
          <a:xfrm>
            <a:off x="11887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15" name="Shape 13"/>
          <p:cNvSpPr/>
          <p:nvPr/>
        </p:nvSpPr>
        <p:spPr>
          <a:xfrm>
            <a:off x="2331720" y="1837944"/>
            <a:ext cx="1143000" cy="548640"/>
          </a:xfrm>
          <a:prstGeom prst="rect">
            <a:avLst/>
          </a:prstGeom>
          <a:solidFill>
            <a:srgbClr val="EAEAEA"/>
          </a:solidFill>
          <a:ln w="6350">
            <a:solidFill>
              <a:srgbClr val="999999"/>
            </a:solidFill>
            <a:prstDash val="solid"/>
          </a:ln>
        </p:spPr>
      </p:sp>
      <p:sp>
        <p:nvSpPr>
          <p:cNvPr id="16" name="Text 14"/>
          <p:cNvSpPr/>
          <p:nvPr/>
        </p:nvSpPr>
        <p:spPr>
          <a:xfrm>
            <a:off x="23317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24</a:t>
            </a:r>
            <a:endParaRPr lang="en-US" sz="2000" dirty="0"/>
          </a:p>
          <a:p>
            <a:pPr algn="ctr" indent="0" marL="0">
              <a:buNone/>
            </a:pPr>
            <a:r>
              <a:rPr lang="en-US" sz="900" dirty="0">
                <a:solidFill>
                  <a:srgbClr val="666666"/>
                </a:solidFill>
              </a:rPr>
              <a:t>TN</a:t>
            </a:r>
            <a:endParaRPr lang="en-US" sz="2000" dirty="0"/>
          </a:p>
        </p:txBody>
      </p:sp>
      <p:sp>
        <p:nvSpPr>
          <p:cNvPr id="17" name="Text 15"/>
          <p:cNvSpPr/>
          <p:nvPr/>
        </p:nvSpPr>
        <p:spPr>
          <a:xfrm>
            <a:off x="6400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0.76</a:t>
            </a:r>
            <a:endParaRPr lang="en-US" sz="1100" dirty="0"/>
          </a:p>
        </p:txBody>
      </p:sp>
      <p:sp>
        <p:nvSpPr>
          <p:cNvPr id="18" name="Text 16"/>
          <p:cNvSpPr/>
          <p:nvPr/>
        </p:nvSpPr>
        <p:spPr>
          <a:xfrm>
            <a:off x="47548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Ordering</a:t>
            </a:r>
            <a:endParaRPr lang="en-US" sz="1400" dirty="0"/>
          </a:p>
        </p:txBody>
      </p:sp>
      <p:sp>
        <p:nvSpPr>
          <p:cNvPr id="19" name="Text 17"/>
          <p:cNvSpPr/>
          <p:nvPr/>
        </p:nvSpPr>
        <p:spPr>
          <a:xfrm>
            <a:off x="5303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0" name="Text 18"/>
          <p:cNvSpPr/>
          <p:nvPr/>
        </p:nvSpPr>
        <p:spPr>
          <a:xfrm>
            <a:off x="6446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1" name="Text 19"/>
          <p:cNvSpPr/>
          <p:nvPr/>
        </p:nvSpPr>
        <p:spPr>
          <a:xfrm>
            <a:off x="47548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2" name="Text 20"/>
          <p:cNvSpPr/>
          <p:nvPr/>
        </p:nvSpPr>
        <p:spPr>
          <a:xfrm>
            <a:off x="47548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3" name="Shape 21"/>
          <p:cNvSpPr/>
          <p:nvPr/>
        </p:nvSpPr>
        <p:spPr>
          <a:xfrm>
            <a:off x="5303520" y="1289304"/>
            <a:ext cx="1143000" cy="548640"/>
          </a:xfrm>
          <a:prstGeom prst="rect">
            <a:avLst/>
          </a:prstGeom>
          <a:solidFill>
            <a:srgbClr val="D4F0DC"/>
          </a:solidFill>
          <a:ln w="6350">
            <a:solidFill>
              <a:srgbClr val="999999"/>
            </a:solidFill>
            <a:prstDash val="solid"/>
          </a:ln>
        </p:spPr>
      </p:sp>
      <p:sp>
        <p:nvSpPr>
          <p:cNvPr id="24" name="Text 22"/>
          <p:cNvSpPr/>
          <p:nvPr/>
        </p:nvSpPr>
        <p:spPr>
          <a:xfrm>
            <a:off x="53035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14</a:t>
            </a:r>
            <a:endParaRPr lang="en-US" sz="2000" dirty="0"/>
          </a:p>
          <a:p>
            <a:pPr algn="ctr" indent="0" marL="0">
              <a:buNone/>
            </a:pPr>
            <a:r>
              <a:rPr lang="en-US" sz="900" dirty="0">
                <a:solidFill>
                  <a:srgbClr val="666666"/>
                </a:solidFill>
              </a:rPr>
              <a:t>TP</a:t>
            </a:r>
            <a:endParaRPr lang="en-US" sz="2000" dirty="0"/>
          </a:p>
        </p:txBody>
      </p:sp>
      <p:sp>
        <p:nvSpPr>
          <p:cNvPr id="25" name="Shape 23"/>
          <p:cNvSpPr/>
          <p:nvPr/>
        </p:nvSpPr>
        <p:spPr>
          <a:xfrm>
            <a:off x="6446520" y="1289304"/>
            <a:ext cx="1143000" cy="548640"/>
          </a:xfrm>
          <a:prstGeom prst="rect">
            <a:avLst/>
          </a:prstGeom>
          <a:solidFill>
            <a:srgbClr val="F5D5CE"/>
          </a:solidFill>
          <a:ln w="6350">
            <a:solidFill>
              <a:srgbClr val="999999"/>
            </a:solidFill>
            <a:prstDash val="solid"/>
          </a:ln>
        </p:spPr>
      </p:sp>
      <p:sp>
        <p:nvSpPr>
          <p:cNvPr id="26" name="Text 24"/>
          <p:cNvSpPr/>
          <p:nvPr/>
        </p:nvSpPr>
        <p:spPr>
          <a:xfrm>
            <a:off x="64465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24</a:t>
            </a:r>
            <a:endParaRPr lang="en-US" sz="2000" dirty="0"/>
          </a:p>
          <a:p>
            <a:pPr algn="ctr" indent="0" marL="0">
              <a:buNone/>
            </a:pPr>
            <a:r>
              <a:rPr lang="en-US" sz="900" dirty="0">
                <a:solidFill>
                  <a:srgbClr val="666666"/>
                </a:solidFill>
              </a:rPr>
              <a:t>FN</a:t>
            </a:r>
            <a:endParaRPr lang="en-US" sz="2000" dirty="0"/>
          </a:p>
        </p:txBody>
      </p:sp>
      <p:sp>
        <p:nvSpPr>
          <p:cNvPr id="27" name="Shape 25"/>
          <p:cNvSpPr/>
          <p:nvPr/>
        </p:nvSpPr>
        <p:spPr>
          <a:xfrm>
            <a:off x="5303520" y="1837944"/>
            <a:ext cx="1143000" cy="548640"/>
          </a:xfrm>
          <a:prstGeom prst="rect">
            <a:avLst/>
          </a:prstGeom>
          <a:solidFill>
            <a:srgbClr val="F2F2F2"/>
          </a:solidFill>
          <a:ln w="6350">
            <a:solidFill>
              <a:srgbClr val="999999"/>
            </a:solidFill>
            <a:prstDash val="solid"/>
          </a:ln>
        </p:spPr>
      </p:sp>
      <p:sp>
        <p:nvSpPr>
          <p:cNvPr id="28" name="Text 26"/>
          <p:cNvSpPr/>
          <p:nvPr/>
        </p:nvSpPr>
        <p:spPr>
          <a:xfrm>
            <a:off x="53035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29" name="Shape 27"/>
          <p:cNvSpPr/>
          <p:nvPr/>
        </p:nvSpPr>
        <p:spPr>
          <a:xfrm>
            <a:off x="6446520" y="1837944"/>
            <a:ext cx="1143000" cy="548640"/>
          </a:xfrm>
          <a:prstGeom prst="rect">
            <a:avLst/>
          </a:prstGeom>
          <a:solidFill>
            <a:srgbClr val="EAEAEA"/>
          </a:solidFill>
          <a:ln w="6350">
            <a:solidFill>
              <a:srgbClr val="999999"/>
            </a:solidFill>
            <a:prstDash val="solid"/>
          </a:ln>
        </p:spPr>
      </p:sp>
      <p:sp>
        <p:nvSpPr>
          <p:cNvPr id="30" name="Text 28"/>
          <p:cNvSpPr/>
          <p:nvPr/>
        </p:nvSpPr>
        <p:spPr>
          <a:xfrm>
            <a:off x="64465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7</a:t>
            </a:r>
            <a:endParaRPr lang="en-US" sz="2000" dirty="0"/>
          </a:p>
          <a:p>
            <a:pPr algn="ctr" indent="0" marL="0">
              <a:buNone/>
            </a:pPr>
            <a:r>
              <a:rPr lang="en-US" sz="900" dirty="0">
                <a:solidFill>
                  <a:srgbClr val="666666"/>
                </a:solidFill>
              </a:rPr>
              <a:t>TN</a:t>
            </a:r>
            <a:endParaRPr lang="en-US" sz="2000" dirty="0"/>
          </a:p>
        </p:txBody>
      </p:sp>
      <p:sp>
        <p:nvSpPr>
          <p:cNvPr id="31" name="Text 29"/>
          <p:cNvSpPr/>
          <p:nvPr/>
        </p:nvSpPr>
        <p:spPr>
          <a:xfrm>
            <a:off x="47548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0.36</a:t>
            </a:r>
            <a:endParaRPr lang="en-US" sz="1100" dirty="0"/>
          </a:p>
        </p:txBody>
      </p:sp>
      <p:sp>
        <p:nvSpPr>
          <p:cNvPr id="32" name="Text 30"/>
          <p:cNvSpPr/>
          <p:nvPr/>
        </p:nvSpPr>
        <p:spPr>
          <a:xfrm>
            <a:off x="6400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Rework</a:t>
            </a:r>
            <a:endParaRPr lang="en-US" sz="1400" dirty="0"/>
          </a:p>
        </p:txBody>
      </p:sp>
      <p:sp>
        <p:nvSpPr>
          <p:cNvPr id="33" name="Text 31"/>
          <p:cNvSpPr/>
          <p:nvPr/>
        </p:nvSpPr>
        <p:spPr>
          <a:xfrm>
            <a:off x="1188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4" name="Text 32"/>
          <p:cNvSpPr/>
          <p:nvPr/>
        </p:nvSpPr>
        <p:spPr>
          <a:xfrm>
            <a:off x="2331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5" name="Text 33"/>
          <p:cNvSpPr/>
          <p:nvPr/>
        </p:nvSpPr>
        <p:spPr>
          <a:xfrm>
            <a:off x="6400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6" name="Text 34"/>
          <p:cNvSpPr/>
          <p:nvPr/>
        </p:nvSpPr>
        <p:spPr>
          <a:xfrm>
            <a:off x="6400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7" name="Shape 35"/>
          <p:cNvSpPr/>
          <p:nvPr/>
        </p:nvSpPr>
        <p:spPr>
          <a:xfrm>
            <a:off x="1188720" y="3209544"/>
            <a:ext cx="1143000" cy="548640"/>
          </a:xfrm>
          <a:prstGeom prst="rect">
            <a:avLst/>
          </a:prstGeom>
          <a:solidFill>
            <a:srgbClr val="D4F0DC"/>
          </a:solidFill>
          <a:ln w="6350">
            <a:solidFill>
              <a:srgbClr val="999999"/>
            </a:solidFill>
            <a:prstDash val="solid"/>
          </a:ln>
        </p:spPr>
      </p:sp>
      <p:sp>
        <p:nvSpPr>
          <p:cNvPr id="38" name="Text 36"/>
          <p:cNvSpPr/>
          <p:nvPr/>
        </p:nvSpPr>
        <p:spPr>
          <a:xfrm>
            <a:off x="11887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9</a:t>
            </a:r>
            <a:endParaRPr lang="en-US" sz="2000" dirty="0"/>
          </a:p>
          <a:p>
            <a:pPr algn="ctr" indent="0" marL="0">
              <a:buNone/>
            </a:pPr>
            <a:r>
              <a:rPr lang="en-US" sz="900" dirty="0">
                <a:solidFill>
                  <a:srgbClr val="666666"/>
                </a:solidFill>
              </a:rPr>
              <a:t>TP</a:t>
            </a:r>
            <a:endParaRPr lang="en-US" sz="2000" dirty="0"/>
          </a:p>
        </p:txBody>
      </p:sp>
      <p:sp>
        <p:nvSpPr>
          <p:cNvPr id="39" name="Shape 37"/>
          <p:cNvSpPr/>
          <p:nvPr/>
        </p:nvSpPr>
        <p:spPr>
          <a:xfrm>
            <a:off x="2331720" y="3209544"/>
            <a:ext cx="1143000" cy="548640"/>
          </a:xfrm>
          <a:prstGeom prst="rect">
            <a:avLst/>
          </a:prstGeom>
          <a:solidFill>
            <a:srgbClr val="F5D5CE"/>
          </a:solidFill>
          <a:ln w="6350">
            <a:solidFill>
              <a:srgbClr val="999999"/>
            </a:solidFill>
            <a:prstDash val="solid"/>
          </a:ln>
        </p:spPr>
      </p:sp>
      <p:sp>
        <p:nvSpPr>
          <p:cNvPr id="40" name="Text 38"/>
          <p:cNvSpPr/>
          <p:nvPr/>
        </p:nvSpPr>
        <p:spPr>
          <a:xfrm>
            <a:off x="23317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41" name="Shape 39"/>
          <p:cNvSpPr/>
          <p:nvPr/>
        </p:nvSpPr>
        <p:spPr>
          <a:xfrm>
            <a:off x="1188720" y="3758184"/>
            <a:ext cx="1143000" cy="548640"/>
          </a:xfrm>
          <a:prstGeom prst="rect">
            <a:avLst/>
          </a:prstGeom>
          <a:solidFill>
            <a:srgbClr val="F2F2F2"/>
          </a:solidFill>
          <a:ln w="6350">
            <a:solidFill>
              <a:srgbClr val="999999"/>
            </a:solidFill>
            <a:prstDash val="solid"/>
          </a:ln>
        </p:spPr>
      </p:sp>
      <p:sp>
        <p:nvSpPr>
          <p:cNvPr id="42" name="Text 40"/>
          <p:cNvSpPr/>
          <p:nvPr/>
        </p:nvSpPr>
        <p:spPr>
          <a:xfrm>
            <a:off x="11887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43" name="Shape 41"/>
          <p:cNvSpPr/>
          <p:nvPr/>
        </p:nvSpPr>
        <p:spPr>
          <a:xfrm>
            <a:off x="2331720" y="3758184"/>
            <a:ext cx="1143000" cy="548640"/>
          </a:xfrm>
          <a:prstGeom prst="rect">
            <a:avLst/>
          </a:prstGeom>
          <a:solidFill>
            <a:srgbClr val="EAEAEA"/>
          </a:solidFill>
          <a:ln w="6350">
            <a:solidFill>
              <a:srgbClr val="999999"/>
            </a:solidFill>
            <a:prstDash val="solid"/>
          </a:ln>
        </p:spPr>
      </p:sp>
      <p:sp>
        <p:nvSpPr>
          <p:cNvPr id="44" name="Text 42"/>
          <p:cNvSpPr/>
          <p:nvPr/>
        </p:nvSpPr>
        <p:spPr>
          <a:xfrm>
            <a:off x="23317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36</a:t>
            </a:r>
            <a:endParaRPr lang="en-US" sz="2000" dirty="0"/>
          </a:p>
          <a:p>
            <a:pPr algn="ctr" indent="0" marL="0">
              <a:buNone/>
            </a:pPr>
            <a:r>
              <a:rPr lang="en-US" sz="900" dirty="0">
                <a:solidFill>
                  <a:srgbClr val="666666"/>
                </a:solidFill>
              </a:rPr>
              <a:t>TN</a:t>
            </a:r>
            <a:endParaRPr lang="en-US" sz="2000" dirty="0"/>
          </a:p>
        </p:txBody>
      </p:sp>
      <p:sp>
        <p:nvSpPr>
          <p:cNvPr id="45" name="Text 43"/>
          <p:cNvSpPr/>
          <p:nvPr/>
        </p:nvSpPr>
        <p:spPr>
          <a:xfrm>
            <a:off x="6400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46" name="Text 44"/>
          <p:cNvSpPr/>
          <p:nvPr/>
        </p:nvSpPr>
        <p:spPr>
          <a:xfrm>
            <a:off x="47548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Hygiene</a:t>
            </a:r>
            <a:endParaRPr lang="en-US" sz="1400" dirty="0"/>
          </a:p>
        </p:txBody>
      </p:sp>
      <p:sp>
        <p:nvSpPr>
          <p:cNvPr id="47" name="Text 45"/>
          <p:cNvSpPr/>
          <p:nvPr/>
        </p:nvSpPr>
        <p:spPr>
          <a:xfrm>
            <a:off x="5303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8" name="Text 46"/>
          <p:cNvSpPr/>
          <p:nvPr/>
        </p:nvSpPr>
        <p:spPr>
          <a:xfrm>
            <a:off x="6446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9" name="Text 47"/>
          <p:cNvSpPr/>
          <p:nvPr/>
        </p:nvSpPr>
        <p:spPr>
          <a:xfrm>
            <a:off x="47548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0" name="Text 48"/>
          <p:cNvSpPr/>
          <p:nvPr/>
        </p:nvSpPr>
        <p:spPr>
          <a:xfrm>
            <a:off x="47548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1" name="Shape 49"/>
          <p:cNvSpPr/>
          <p:nvPr/>
        </p:nvSpPr>
        <p:spPr>
          <a:xfrm>
            <a:off x="5303520" y="3209544"/>
            <a:ext cx="1143000" cy="548640"/>
          </a:xfrm>
          <a:prstGeom prst="rect">
            <a:avLst/>
          </a:prstGeom>
          <a:solidFill>
            <a:srgbClr val="D4F0DC"/>
          </a:solidFill>
          <a:ln w="6350">
            <a:solidFill>
              <a:srgbClr val="999999"/>
            </a:solidFill>
            <a:prstDash val="solid"/>
          </a:ln>
        </p:spPr>
      </p:sp>
      <p:sp>
        <p:nvSpPr>
          <p:cNvPr id="52" name="Text 50"/>
          <p:cNvSpPr/>
          <p:nvPr/>
        </p:nvSpPr>
        <p:spPr>
          <a:xfrm>
            <a:off x="53035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8</a:t>
            </a:r>
            <a:endParaRPr lang="en-US" sz="2000" dirty="0"/>
          </a:p>
          <a:p>
            <a:pPr algn="ctr" indent="0" marL="0">
              <a:buNone/>
            </a:pPr>
            <a:r>
              <a:rPr lang="en-US" sz="900" dirty="0">
                <a:solidFill>
                  <a:srgbClr val="666666"/>
                </a:solidFill>
              </a:rPr>
              <a:t>TP</a:t>
            </a:r>
            <a:endParaRPr lang="en-US" sz="2000" dirty="0"/>
          </a:p>
        </p:txBody>
      </p:sp>
      <p:sp>
        <p:nvSpPr>
          <p:cNvPr id="53" name="Shape 51"/>
          <p:cNvSpPr/>
          <p:nvPr/>
        </p:nvSpPr>
        <p:spPr>
          <a:xfrm>
            <a:off x="6446520" y="3209544"/>
            <a:ext cx="1143000" cy="548640"/>
          </a:xfrm>
          <a:prstGeom prst="rect">
            <a:avLst/>
          </a:prstGeom>
          <a:solidFill>
            <a:srgbClr val="F5D5CE"/>
          </a:solidFill>
          <a:ln w="6350">
            <a:solidFill>
              <a:srgbClr val="999999"/>
            </a:solidFill>
            <a:prstDash val="solid"/>
          </a:ln>
        </p:spPr>
      </p:sp>
      <p:sp>
        <p:nvSpPr>
          <p:cNvPr id="54" name="Text 52"/>
          <p:cNvSpPr/>
          <p:nvPr/>
        </p:nvSpPr>
        <p:spPr>
          <a:xfrm>
            <a:off x="64465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55" name="Shape 53"/>
          <p:cNvSpPr/>
          <p:nvPr/>
        </p:nvSpPr>
        <p:spPr>
          <a:xfrm>
            <a:off x="5303520" y="3758184"/>
            <a:ext cx="1143000" cy="548640"/>
          </a:xfrm>
          <a:prstGeom prst="rect">
            <a:avLst/>
          </a:prstGeom>
          <a:solidFill>
            <a:srgbClr val="F2F2F2"/>
          </a:solidFill>
          <a:ln w="6350">
            <a:solidFill>
              <a:srgbClr val="999999"/>
            </a:solidFill>
            <a:prstDash val="solid"/>
          </a:ln>
        </p:spPr>
      </p:sp>
      <p:sp>
        <p:nvSpPr>
          <p:cNvPr id="56" name="Text 54"/>
          <p:cNvSpPr/>
          <p:nvPr/>
        </p:nvSpPr>
        <p:spPr>
          <a:xfrm>
            <a:off x="53035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57" name="Shape 55"/>
          <p:cNvSpPr/>
          <p:nvPr/>
        </p:nvSpPr>
        <p:spPr>
          <a:xfrm>
            <a:off x="6446520" y="3758184"/>
            <a:ext cx="1143000" cy="548640"/>
          </a:xfrm>
          <a:prstGeom prst="rect">
            <a:avLst/>
          </a:prstGeom>
          <a:solidFill>
            <a:srgbClr val="EAEAEA"/>
          </a:solidFill>
          <a:ln w="6350">
            <a:solidFill>
              <a:srgbClr val="999999"/>
            </a:solidFill>
            <a:prstDash val="solid"/>
          </a:ln>
        </p:spPr>
      </p:sp>
      <p:sp>
        <p:nvSpPr>
          <p:cNvPr id="58" name="Text 56"/>
          <p:cNvSpPr/>
          <p:nvPr/>
        </p:nvSpPr>
        <p:spPr>
          <a:xfrm>
            <a:off x="64465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37</a:t>
            </a:r>
            <a:endParaRPr lang="en-US" sz="2000" dirty="0"/>
          </a:p>
          <a:p>
            <a:pPr algn="ctr" indent="0" marL="0">
              <a:buNone/>
            </a:pPr>
            <a:r>
              <a:rPr lang="en-US" sz="900" dirty="0">
                <a:solidFill>
                  <a:srgbClr val="666666"/>
                </a:solidFill>
              </a:rPr>
              <a:t>TN</a:t>
            </a:r>
            <a:endParaRPr lang="en-US" sz="2000" dirty="0"/>
          </a:p>
        </p:txBody>
      </p:sp>
      <p:sp>
        <p:nvSpPr>
          <p:cNvPr id="59" name="Text 57"/>
          <p:cNvSpPr/>
          <p:nvPr/>
        </p:nvSpPr>
        <p:spPr>
          <a:xfrm>
            <a:off x="47548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60" name="Text 58"/>
          <p:cNvSpPr/>
          <p:nvPr/>
        </p:nvSpPr>
        <p:spPr>
          <a:xfrm>
            <a:off x="365760" y="4617720"/>
            <a:ext cx="8412480" cy="256032"/>
          </a:xfrm>
          <a:prstGeom prst="rect">
            <a:avLst/>
          </a:prstGeom>
          <a:noFill/>
          <a:ln/>
        </p:spPr>
        <p:txBody>
          <a:bodyPr wrap="square" lIns="0" tIns="0" rIns="0" bIns="0" rtlCol="0" anchor="ctr"/>
          <a:lstStyle/>
          <a:p>
            <a:pPr algn="ctr" indent="0" marL="0">
              <a:buNone/>
            </a:pPr>
            <a:r>
              <a:rPr lang="en-US" sz="900" i="1" dirty="0">
                <a:solidFill>
                  <a:srgbClr val="555555"/>
                </a:solidFill>
              </a:rPr>
              <a:t>Ordering recall is the outlier: the reorder synthesiser's splitOnInvalid validator rejects any window containing a step it cannot safely.</a:t>
            </a:r>
            <a:endParaRPr lang="en-US" sz="900" dirty="0"/>
          </a:p>
        </p:txBody>
      </p:sp>
      <p:sp>
        <p:nvSpPr>
          <p:cNvPr id="61" name="Text 59"/>
          <p:cNvSpPr/>
          <p:nvPr/>
        </p:nvSpPr>
        <p:spPr>
          <a:xfrm>
            <a:off x="365760" y="4873752"/>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Controlled-injection: balanced fixture, scripted behaviour - not shown on real-world refactoring sessions.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indent="0" marL="0">
              <a:buNone/>
            </a:pPr>
            <a:r>
              <a:rPr lang="en-US" sz="2800" b="1" dirty="0">
                <a:solidFill>
                  <a:srgbClr val="000000"/>
                </a:solidFill>
              </a:rPr>
              <a:t>Are the alternatives actually better?</a:t>
            </a:r>
            <a:endParaRPr lang="en-US" sz="2800" dirty="0"/>
          </a:p>
        </p:txBody>
      </p:sp>
      <p:sp>
        <p:nvSpPr>
          <p:cNvPr id="3" name="Text 1"/>
          <p:cNvSpPr/>
          <p:nvPr/>
        </p:nvSpPr>
        <p:spPr>
          <a:xfrm>
            <a:off x="457200" y="713232"/>
            <a:ext cx="8229600" cy="274320"/>
          </a:xfrm>
          <a:prstGeom prst="rect">
            <a:avLst/>
          </a:prstGeom>
          <a:noFill/>
          <a:ln/>
        </p:spPr>
        <p:txBody>
          <a:bodyPr wrap="square" lIns="0" tIns="0" rIns="0" bIns="0" rtlCol="0" anchor="ctr"/>
          <a:lstStyle/>
          <a:p>
            <a:pPr algn="ctr" indent="0" marL="0">
              <a:buNone/>
            </a:pPr>
            <a:r>
              <a:rPr lang="en-US" sz="1300" i="1" dirty="0">
                <a:solidFill>
                  <a:srgbClr val="555555"/>
                </a:solidFill>
              </a:rPr>
              <a:t>41 of 66 synthesised alternatives strictly beat the user's trajectory (~62%). Quality varies sharply by kind.</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188720"/>
          <a:ext cx="7863840" cy="914400"/>
        </p:xfrm>
        <a:graphic>
          <a:graphicData uri="http://schemas.openxmlformats.org/drawingml/2006/table">
            <a:tbl>
              <a:tblPr/>
              <a:tblGrid>
                <a:gridCol w="1737360"/>
                <a:gridCol w="640080"/>
                <a:gridCol w="1005840"/>
                <a:gridCol w="914400"/>
                <a:gridCol w="1005840"/>
                <a:gridCol w="1097280"/>
                <a:gridCol w="1463040"/>
              </a:tblGrid>
              <a:tr h="411480">
                <a:tc>
                  <a:txBody>
                    <a:bodyPr/>
                    <a:lstStyle/>
                    <a:p>
                      <a:pPr algn="l" indent="0" marL="0">
                        <a:buNone/>
                      </a:pPr>
                      <a:r>
                        <a:rPr lang="en-US" sz="1400" b="1" dirty="0">
                          <a:solidFill>
                            <a:srgbClr val="1A1A1A"/>
                          </a:solidFill>
                        </a:rPr>
                        <a:t>Kind</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DPs</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Ties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Loses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 rate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Max Δ</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r>
              <a:tr h="411480">
                <a:tc>
                  <a:txBody>
                    <a:bodyPr/>
                    <a:lstStyle/>
                    <a:p>
                      <a:pPr algn="l" indent="0" marL="0">
                        <a:buNone/>
                      </a:pPr>
                      <a:r>
                        <a:rPr lang="en-US" sz="1400" b="1" dirty="0">
                          <a:solidFill>
                            <a:srgbClr val="1A1A1A"/>
                          </a:solidFill>
                        </a:rPr>
                        <a:t>Hygiene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100%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Manual-Refactor</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75%</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+23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Rework</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+8</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Ordering</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24</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Text 2"/>
          <p:cNvSpPr/>
          <p:nvPr/>
        </p:nvSpPr>
        <p:spPr>
          <a:xfrm>
            <a:off x="365760" y="4160520"/>
            <a:ext cx="8412480" cy="548640"/>
          </a:xfrm>
          <a:prstGeom prst="rect">
            <a:avLst/>
          </a:prstGeom>
          <a:noFill/>
          <a:ln/>
        </p:spPr>
        <p:txBody>
          <a:bodyPr wrap="square" lIns="0" tIns="0" rIns="0" bIns="0" rtlCol="0" anchor="ctr"/>
          <a:lstStyle/>
          <a:p>
            <a:pPr algn="ctr" indent="0" marL="0">
              <a:buNone/>
            </a:pPr>
            <a:r>
              <a:rPr lang="en-US" sz="1000" i="1" dirty="0">
                <a:solidFill>
                  <a:srgbClr val="777777"/>
                </a:solidFill>
              </a:rPr>
              <a:t>Ordering alternatives share the end state, so only W_lag (intermediate cleanliness) can separate them. They tie when intermediate cleanliness is identical - often when build/tests broke and cleanliness stats are frozen at the last trustworthy value. </a:t>
            </a:r>
            <a:pPr algn="ctr" indent="0" marL="0">
              <a:buNone/>
            </a:pPr>
            <a:r>
              <a:rPr lang="en-US" sz="1000" i="1" dirty="0">
                <a:solidFill>
                  <a:srgbClr val="777777"/>
                </a:solidFill>
              </a:rPr>
              <a:t>Manual-Refactor's 3 ties + 1 loss come from the [0,100] score clamp - the user's score is pinned at the floor, so the IDE alternative can't score lower either.</a:t>
            </a:r>
            <a:endParaRPr lang="en-US" sz="1000" dirty="0"/>
          </a:p>
        </p:txBody>
      </p:sp>
      <p:sp>
        <p:nvSpPr>
          <p:cNvPr id="6" name="Text 3"/>
          <p:cNvSpPr/>
          <p:nvPr/>
        </p:nvSpPr>
        <p:spPr>
          <a:xfrm>
            <a:off x="365760" y="4754880"/>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Result under J - not yet independently validated by expert ranking.</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2: Is the process score reliable?</a:t>
            </a:r>
            <a:endParaRPr lang="en-US" sz="3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process score reliable?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lvl="1" marL="762000" indent="-381000">
              <a:spcAft>
                <a:spcPts val="600"/>
              </a:spcAft>
              <a:buSzPct val="100000"/>
              <a:buChar char="•"/>
            </a:pPr>
            <a:r>
              <a:rPr lang="en-US" sz="1500" dirty="0">
                <a:solidFill>
                  <a:srgbClr val="000000"/>
                </a:solidFill>
              </a:rPr>
              <a:t>Two perturbation sweeps </a:t>
            </a:r>
            <a:pPr indent="0" marL="0">
              <a:spcAft>
                <a:spcPts val="600"/>
              </a:spcAft>
              <a:buNone/>
            </a:pPr>
            <a:r>
              <a:rPr lang="en-US" sz="1500" dirty="0">
                <a:solidFill>
                  <a:srgbClr val="888888"/>
                </a:solidFill>
              </a:rPr>
              <a:t>- single-knob (one weight scaled ×0.1 to ×10) + multi-knob Monte Carlo (200 samples, σ = ln 2, so ~×0.25 to ×4 of production).</a:t>
            </a:r>
            <a:endParaRPr lang="en-US" sz="1500" dirty="0"/>
          </a:p>
          <a:p>
            <a:pPr lvl="1" marL="762000" indent="-381000">
              <a:spcAft>
                <a:spcPts val="1800"/>
              </a:spcAft>
              <a:buSzPct val="100000"/>
              <a:buChar char="•"/>
            </a:pPr>
            <a:r>
              <a:rPr lang="en-US" sz="1500" dirty="0">
                <a:solidFill>
                  <a:srgbClr val="000000"/>
                </a:solidFill>
              </a:rPr>
              <a:t>Stability metrics </a:t>
            </a:r>
            <a:pPr indent="0" marL="0">
              <a:spcAft>
                <a:spcPts val="1800"/>
              </a:spcAft>
              <a:buNone/>
            </a:pPr>
            <a:r>
              <a:rPr lang="en-US" sz="1500" dirty="0">
                <a:solidFill>
                  <a:srgbClr val="888888"/>
                </a:solidFill>
              </a:rPr>
              <a:t>- top-1 hit rate (does the top-ranked DP stay on top?) + Kendall's τ-b on per-session rankings.</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lvl="1" marL="762000" indent="-381000">
              <a:spcAft>
                <a:spcPts val="600"/>
              </a:spcAft>
              <a:buSzPct val="100000"/>
              <a:buChar char="•"/>
            </a:pPr>
            <a:r>
              <a:rPr lang="en-US" sz="1500" dirty="0">
                <a:solidFill>
                  <a:srgbClr val="000000"/>
                </a:solidFill>
              </a:rPr>
              <a:t>Process-side ablation </a:t>
            </a:r>
            <a:pPr indent="0" marL="0">
              <a:spcAft>
                <a:spcPts val="600"/>
              </a:spcAft>
              <a:buNone/>
            </a:pPr>
            <a:r>
              <a:rPr lang="en-US" sz="1500" dirty="0">
                <a:solidFill>
                  <a:srgbClr val="888888"/>
                </a:solidFill>
              </a:rPr>
              <a:t>- enumerate all 2⁷ = 128 subsets of the 7 process weights → 5,760 cases per session set.</a:t>
            </a:r>
            <a:endParaRPr lang="en-US" sz="1500" dirty="0"/>
          </a:p>
          <a:p>
            <a:pPr lvl="1" marL="762000" indent="-381000">
              <a:spcAft>
                <a:spcPts val="600"/>
              </a:spcAft>
              <a:buSzPct val="100000"/>
              <a:buChar char="•"/>
            </a:pPr>
            <a:r>
              <a:rPr lang="en-US" sz="1500" dirty="0">
                <a:solidFill>
                  <a:srgbClr val="000000"/>
                </a:solidFill>
              </a:rPr>
              <a:t>Recovery metrics </a:t>
            </a:r>
            <a:pPr indent="0" marL="0">
              <a:spcAft>
                <a:spcPts val="600"/>
              </a:spcAft>
              <a:buNone/>
            </a:pPr>
            <a:r>
              <a:rPr lang="en-US" sz="1500" dirty="0">
                <a:solidFill>
                  <a:srgbClr val="888888"/>
                </a:solidFill>
              </a:rPr>
              <a:t>- sum-over-sum magnitude recovery (does the term carry signal?) + leave-one-out Kendall's τ-b (does removing it reshuffle rankings?).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Score is locally robust</a:t>
            </a:r>
            <a:endParaRPr lang="en-US" sz="2800" dirty="0"/>
          </a:p>
        </p:txBody>
      </p:sp>
      <p:sp>
        <p:nvSpPr>
          <p:cNvPr id="3" name="Text 1"/>
          <p:cNvSpPr/>
          <p:nvPr/>
        </p:nvSpPr>
        <p:spPr>
          <a:xfrm>
            <a:off x="457200" y="1051560"/>
            <a:ext cx="8229600" cy="1005840"/>
          </a:xfrm>
          <a:prstGeom prst="rect">
            <a:avLst/>
          </a:prstGeom>
          <a:noFill/>
          <a:ln/>
        </p:spPr>
        <p:txBody>
          <a:bodyPr wrap="square" rtlCol="0" anchor="t"/>
          <a:lstStyle/>
          <a:p>
            <a:pPr marL="342900" indent="-342900">
              <a:spcAft>
                <a:spcPts val="600"/>
              </a:spcAft>
              <a:buSzPct val="100000"/>
              <a:buChar char="•"/>
            </a:pPr>
            <a:r>
              <a:rPr lang="en-US" sz="1300" b="1" dirty="0">
                <a:solidFill>
                  <a:srgbClr val="000000"/>
                </a:solidFill>
              </a:rPr>
              <a:t>How stable is the score?</a:t>
            </a:r>
            <a:endParaRPr lang="en-US" sz="1300" dirty="0"/>
          </a:p>
          <a:p>
            <a:pPr lvl="1" marL="762000" indent="-381000">
              <a:spcAft>
                <a:spcPts val="400"/>
              </a:spcAft>
              <a:buSzPct val="100000"/>
              <a:buChar char="•"/>
            </a:pPr>
            <a:r>
              <a:rPr lang="en-US" sz="1300" dirty="0">
                <a:solidFill>
                  <a:srgbClr val="000000"/>
                </a:solidFill>
              </a:rPr>
              <a:t>Single-knob: 96.5% top-1 preserved </a:t>
            </a:r>
            <a:pPr indent="0" marL="0">
              <a:spcAft>
                <a:spcPts val="400"/>
              </a:spcAft>
              <a:buNone/>
            </a:pPr>
            <a:r>
              <a:rPr lang="en-US" sz="1300" dirty="0">
                <a:solidFill>
                  <a:srgbClr val="888888"/>
                </a:solidFill>
              </a:rPr>
              <a:t>- only 1.8% of cases are clamp-frozen.</a:t>
            </a:r>
            <a:endParaRPr lang="en-US" sz="1300" dirty="0"/>
          </a:p>
          <a:p>
            <a:pPr lvl="1" marL="762000" indent="-381000">
              <a:spcAft>
                <a:spcPts val="400"/>
              </a:spcAft>
              <a:buSzPct val="100000"/>
              <a:buChar char="•"/>
            </a:pPr>
            <a:r>
              <a:rPr lang="en-US" sz="1300" dirty="0">
                <a:solidFill>
                  <a:srgbClr val="000000"/>
                </a:solidFill>
              </a:rPr>
              <a:t>Multi-knob: 84.6% top-1 preserved </a:t>
            </a:r>
            <a:pPr indent="0" marL="0">
              <a:buNone/>
            </a:pPr>
            <a:r>
              <a:rPr lang="en-US" sz="1300" dirty="0">
                <a:solidFill>
                  <a:srgbClr val="888888"/>
                </a:solidFill>
              </a:rPr>
              <a:t>- meaningful correlation, not full preservation.</a:t>
            </a:r>
            <a:endParaRPr lang="en-US" sz="1300" dirty="0"/>
          </a:p>
        </p:txBody>
      </p:sp>
      <p:sp>
        <p:nvSpPr>
          <p:cNvPr id="4" name="Text 2"/>
          <p:cNvSpPr/>
          <p:nvPr/>
        </p:nvSpPr>
        <p:spPr>
          <a:xfrm>
            <a:off x="457200" y="2148840"/>
            <a:ext cx="8229600" cy="274320"/>
          </a:xfrm>
          <a:prstGeom prst="rect">
            <a:avLst/>
          </a:prstGeom>
          <a:noFill/>
          <a:ln/>
        </p:spPr>
        <p:txBody>
          <a:bodyPr wrap="square" lIns="0" tIns="0" rIns="0" bIns="0" rtlCol="0" anchor="ctr"/>
          <a:lstStyle/>
          <a:p>
            <a:pPr indent="0" marL="0">
              <a:buNone/>
            </a:pPr>
            <a:r>
              <a:rPr lang="en-US" sz="1300" b="1" dirty="0">
                <a:solidFill>
                  <a:srgbClr val="1A1A1A"/>
                </a:solidFill>
              </a:rPr>
              <a:t>Does every component of the process score hold weight?</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914400" y="2468880"/>
          <a:ext cx="7315200" cy="914400"/>
        </p:xfrm>
        <a:graphic>
          <a:graphicData uri="http://schemas.openxmlformats.org/drawingml/2006/table">
            <a:tbl>
              <a:tblPr/>
              <a:tblGrid>
                <a:gridCol w="1828800"/>
                <a:gridCol w="3291840"/>
                <a:gridCol w="2194560"/>
              </a:tblGrid>
              <a:tr h="292608">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Removed term</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Leave-one-out τ-b (lower = more rank-carrier)</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Single-knob top-1 Δ</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b="1" dirty="0">
                          <a:solidFill>
                            <a:srgbClr val="0A7D2A"/>
                          </a:solidFill>
                          <a:latin typeface="Calibri" pitchFamily="34" charset="0"/>
                          <a:ea typeface="Calibri" pitchFamily="34" charset="-122"/>
                          <a:cs typeface="Calibri" pitchFamily="34" charset="-120"/>
                        </a:rPr>
                        <a:t>0.527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manualIde</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0.588</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broken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commitGap</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0.655</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skipTests</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0.663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gain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0.683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lag</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0.784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bl>
          </a:graphicData>
        </a:graphic>
      </p:graphicFrame>
      <p:sp>
        <p:nvSpPr>
          <p:cNvPr id="6" name="Text 3"/>
          <p:cNvSpPr/>
          <p:nvPr/>
        </p:nvSpPr>
        <p:spPr>
          <a:xfrm>
            <a:off x="457200" y="4846320"/>
            <a:ext cx="8229600" cy="256032"/>
          </a:xfrm>
          <a:prstGeom prst="rect">
            <a:avLst/>
          </a:prstGeom>
          <a:noFill/>
          <a:ln/>
        </p:spPr>
        <p:txBody>
          <a:bodyPr wrap="square" lIns="0" tIns="0" rIns="0" bIns="0" rtlCol="0" anchor="ctr"/>
          <a:lstStyle/>
          <a:p>
            <a:pPr algn="ctr" indent="0" marL="0">
              <a:buNone/>
            </a:pPr>
            <a:r>
              <a:rPr lang="en-US" sz="900" i="1" dirty="0">
                <a:solidFill>
                  <a:srgbClr val="999999"/>
                </a:solidFill>
              </a:rPr>
              <a:t>Robustness ≠ calibration. Weights not validated against downstream outcomes.</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200" b="1" dirty="0">
                <a:solidFill>
                  <a:srgbClr val="1A1A1A"/>
                </a:solidFill>
              </a:rPr>
              <a:t>Experiment 3: Does feedback change developer behaviour?</a:t>
            </a:r>
            <a:endParaRPr lang="en-US" sz="3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Does dashboard feedback change developer behaviour?</a:t>
            </a:r>
            <a:endParaRPr lang="en-US" sz="2800" dirty="0"/>
          </a:p>
        </p:txBody>
      </p:sp>
      <p:sp>
        <p:nvSpPr>
          <p:cNvPr id="3" name="Text 1"/>
          <p:cNvSpPr/>
          <p:nvPr/>
        </p:nvSpPr>
        <p:spPr>
          <a:xfrm>
            <a:off x="457200" y="1188720"/>
            <a:ext cx="8229600" cy="329184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did we design the study?</a:t>
            </a:r>
            <a:endParaRPr lang="en-US" sz="1500" dirty="0"/>
          </a:p>
          <a:p>
            <a:pPr lvl="1" marL="762000" indent="-381000">
              <a:spcAft>
                <a:spcPts val="600"/>
              </a:spcAft>
              <a:buSzPct val="100000"/>
              <a:buChar char="•"/>
            </a:pPr>
            <a:r>
              <a:rPr lang="en-US" sz="1500" dirty="0">
                <a:solidFill>
                  <a:srgbClr val="000000"/>
                </a:solidFill>
              </a:rPr>
              <a:t>5 MEng Computing participants, 6 sessions each, on an order-processing codebase</a:t>
            </a:r>
            <a:endParaRPr lang="en-US" sz="1500" dirty="0"/>
          </a:p>
          <a:p>
            <a:pPr lvl="1" marL="762000" indent="-381000">
              <a:spcAft>
                <a:spcPts val="1800"/>
              </a:spcAft>
              <a:buSzPct val="100000"/>
              <a:buChar char="•"/>
            </a:pPr>
            <a:r>
              <a:rPr lang="en-US" sz="1500" dirty="0">
                <a:solidFill>
                  <a:srgbClr val="000000"/>
                </a:solidFill>
              </a:rPr>
              <a:t>Randomised into 2 arms </a:t>
            </a:r>
            <a:pPr indent="0" marL="0">
              <a:spcAft>
                <a:spcPts val="1800"/>
              </a:spcAft>
              <a:buNone/>
            </a:pPr>
            <a:r>
              <a:rPr lang="en-US" sz="1500" dirty="0">
                <a:solidFill>
                  <a:srgbClr val="888888"/>
                </a:solidFill>
              </a:rPr>
              <a:t>- P1, P2, P3 see dashboard feedback between sessions; P4 and P5 don't. Same playbook, codebase, instrumentation.</a:t>
            </a:r>
            <a:endParaRPr lang="en-US" sz="1500" dirty="0"/>
          </a:p>
          <a:p>
            <a:pPr marL="342900" indent="-342900">
              <a:spcAft>
                <a:spcPts val="600"/>
              </a:spcAft>
              <a:buSzPct val="100000"/>
              <a:buChar char="•"/>
            </a:pPr>
            <a:r>
              <a:rPr lang="en-US" sz="1500" b="1" dirty="0">
                <a:solidFill>
                  <a:srgbClr val="000000"/>
                </a:solidFill>
              </a:rPr>
              <a:t>What did we measure?</a:t>
            </a:r>
            <a:endParaRPr lang="en-US" sz="1500" dirty="0"/>
          </a:p>
          <a:p>
            <a:pPr lvl="1" marL="762000" indent="-381000">
              <a:spcAft>
                <a:spcPts val="600"/>
              </a:spcAft>
              <a:buSzPct val="100000"/>
              <a:buChar char="•"/>
            </a:pPr>
            <a:r>
              <a:rPr lang="en-US" sz="1500" dirty="0">
                <a:solidFill>
                  <a:srgbClr val="000000"/>
                </a:solidFill>
              </a:rPr>
              <a:t>Divergence-point count per session </a:t>
            </a:r>
            <a:pPr indent="0" marL="0">
              <a:spcAft>
                <a:spcPts val="600"/>
              </a:spcAft>
              <a:buNone/>
            </a:pPr>
            <a:r>
              <a:rPr lang="en-US" sz="1500" dirty="0">
                <a:solidFill>
                  <a:srgbClr val="888888"/>
                </a:solidFill>
              </a:rPr>
              <a:t>- does the detector still surface the same kinds of friction over time?</a:t>
            </a:r>
            <a:endParaRPr lang="en-US" sz="1500" dirty="0"/>
          </a:p>
          <a:p>
            <a:pPr lvl="1" marL="762000" indent="-381000">
              <a:spcAft>
                <a:spcPts val="600"/>
              </a:spcAft>
              <a:buSzPct val="100000"/>
              <a:buChar char="•"/>
            </a:pPr>
            <a:r>
              <a:rPr lang="en-US" sz="1500" dirty="0">
                <a:solidFill>
                  <a:srgbClr val="000000"/>
                </a:solidFill>
              </a:rPr>
              <a:t>Process score across the arc</a:t>
            </a:r>
            <a:endParaRPr lang="en-US" sz="1500" dirty="0"/>
          </a:p>
        </p:txBody>
      </p:sp>
      <p:sp>
        <p:nvSpPr>
          <p:cNvPr id="4" name="Text 2"/>
          <p:cNvSpPr/>
          <p:nvPr/>
        </p:nvSpPr>
        <p:spPr>
          <a:xfrm>
            <a:off x="457200" y="4617720"/>
            <a:ext cx="8229600" cy="274320"/>
          </a:xfrm>
          <a:prstGeom prst="rect">
            <a:avLst/>
          </a:prstGeom>
          <a:noFill/>
          <a:ln/>
        </p:spPr>
        <p:txBody>
          <a:bodyPr wrap="square" rtlCol="0" anchor="ctr"/>
          <a:lstStyle/>
          <a:p>
            <a:pPr algn="ctr" indent="0" marL="0">
              <a:buNone/>
            </a:pPr>
            <a:r>
              <a:rPr lang="en-US" sz="1100" i="1" dirty="0">
                <a:solidFill>
                  <a:srgbClr val="888888"/>
                </a:solidFill>
              </a:rPr>
              <a:t>Random assignment, n = 3 vs n = 2. Treated as a directional finding, not a hypothesis test.</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Fewer divergences with feedback - but the raw score is noisy</a:t>
            </a:r>
            <a:endParaRPr lang="en-US" sz="2400" dirty="0"/>
          </a:p>
        </p:txBody>
      </p:sp>
      <p:graphicFrame>
        <p:nvGraphicFramePr>
          <p:cNvPr id="3" name="Chart 0" descr=""/>
          <p:cNvGraphicFramePr/>
          <p:nvPr/>
        </p:nvGraphicFramePr>
        <p:xfrm>
          <a:off x="274320" y="868680"/>
          <a:ext cx="420624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868680"/>
          <a:ext cx="4206240" cy="30175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DP rate separates clearly: </a:t>
            </a:r>
            <a:pPr algn="ctr" indent="0" marL="0">
              <a:buNone/>
            </a:pPr>
            <a:r>
              <a:rPr lang="en-US" sz="1200" b="1" dirty="0">
                <a:solidFill>
                  <a:srgbClr val="0000CD"/>
                </a:solidFill>
              </a:rPr>
              <a:t>2.7</a:t>
            </a:r>
            <a:pPr algn="ctr" indent="0" marL="0">
              <a:buNone/>
            </a:pPr>
            <a:r>
              <a:rPr lang="en-US" sz="1200" dirty="0">
                <a:solidFill>
                  <a:srgbClr val="000000"/>
                </a:solidFill>
              </a:rPr>
              <a:t> (feedback) vs </a:t>
            </a:r>
            <a:pPr algn="ctr" indent="0" marL="0">
              <a:buNone/>
            </a:pPr>
            <a:r>
              <a:rPr lang="en-US" sz="1200" b="1" dirty="0">
                <a:solidFill>
                  <a:srgbClr val="B25500"/>
                </a:solidFill>
              </a:rPr>
              <a:t>6.0</a:t>
            </a:r>
            <a:pPr algn="ctr" indent="0" marL="0">
              <a:spcAft>
                <a:spcPts val="400"/>
              </a:spcAft>
              <a:buNone/>
            </a:pPr>
            <a:r>
              <a:rPr lang="en-US" sz="1200" dirty="0">
                <a:solidFill>
                  <a:srgbClr val="000000"/>
                </a:solidFill>
              </a:rPr>
              <a:t> DPs per session per participant - 2.2× difference.</a:t>
            </a:r>
            <a:endParaRPr lang="en-US" sz="1200" dirty="0"/>
          </a:p>
          <a:p>
            <a:pPr algn="ctr" indent="0" marL="0">
              <a:buNone/>
            </a:pPr>
            <a:r>
              <a:rPr lang="en-US" sz="1200" dirty="0">
                <a:solidFill>
                  <a:srgbClr val="000000"/>
                </a:solidFill>
              </a:rPr>
              <a:t>But the production-weighted score is dominated by </a:t>
            </a:r>
            <a:pPr algn="ctr" indent="0" marL="0">
              <a:buNone/>
            </a:pPr>
            <a:r>
              <a:rPr lang="en-US" sz="1200" i="1" dirty="0">
                <a:solidFill>
                  <a:srgbClr val="000000"/>
                </a:solidFill>
              </a:rPr>
              <a:t>task difficulty</a:t>
            </a:r>
            <a:pPr algn="ctr" indent="0" marL="0">
              <a:buNone/>
            </a:pPr>
            <a:r>
              <a:rPr lang="en-US" sz="1200" dirty="0">
                <a:solidFill>
                  <a:srgbClr val="000000"/>
                </a:solidFill>
              </a:rPr>
              <a:t> - both groups peak at S4 (a short, mechanical task) and dip together at S2/S5. The behavioural signal is buried in the cleanliness gain.</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Strip the task signal - process discipline emerges</a:t>
            </a:r>
            <a:endParaRPr lang="en-US" sz="2400" dirty="0"/>
          </a:p>
        </p:txBody>
      </p:sp>
      <p:graphicFrame>
        <p:nvGraphicFramePr>
          <p:cNvPr id="3" name="Chart 0" descr=""/>
          <p:cNvGraphicFramePr/>
          <p:nvPr/>
        </p:nvGraphicFramePr>
        <p:xfrm>
          <a:off x="1554480" y="777240"/>
          <a:ext cx="603504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Once cleanliness gain is removed, the score reflects </a:t>
            </a:r>
            <a:pPr algn="ctr" indent="0" marL="0">
              <a:buNone/>
            </a:pPr>
            <a:r>
              <a:rPr lang="en-US" sz="1200" i="1" dirty="0">
                <a:solidFill>
                  <a:srgbClr val="000000"/>
                </a:solidFill>
              </a:rPr>
              <a:t>how disciplined the process was</a:t>
            </a:r>
            <a:pPr algn="ctr" indent="0" marL="0">
              <a:buNone/>
            </a:pPr>
            <a:r>
              <a:rPr lang="en-US" sz="1200" dirty="0">
                <a:solidFill>
                  <a:srgbClr val="000000"/>
                </a:solidFill>
              </a:rPr>
              <a:t> - tests run, IDE refactorings used, commits at sensible points. The feedback group climbs </a:t>
            </a:r>
            <a:pPr algn="ctr" indent="0" marL="0">
              <a:buNone/>
            </a:pPr>
            <a:r>
              <a:rPr lang="en-US" sz="1200" b="1" dirty="0">
                <a:solidFill>
                  <a:srgbClr val="0000CD"/>
                </a:solidFill>
              </a:rPr>
              <a:t>+22.3</a:t>
            </a:r>
            <a:pPr algn="ctr" indent="0" marL="0">
              <a:buNone/>
            </a:pPr>
            <a:r>
              <a:rPr lang="en-US" sz="1200" dirty="0">
                <a:solidFill>
                  <a:srgbClr val="000000"/>
                </a:solidFill>
              </a:rPr>
              <a:t> across the arc; the baseline group moves </a:t>
            </a:r>
            <a:pPr algn="ctr" indent="0" marL="0">
              <a:buNone/>
            </a:pPr>
            <a:r>
              <a:rPr lang="en-US" sz="1200" b="1" dirty="0">
                <a:solidFill>
                  <a:srgbClr val="B25500"/>
                </a:solidFill>
              </a:rPr>
              <a:t>−2.0</a:t>
            </a:r>
            <a:pPr algn="ctr" indent="0" marL="0">
              <a:spcAft>
                <a:spcPts val="600"/>
              </a:spcAft>
              <a:buNone/>
            </a:pPr>
            <a:r>
              <a:rPr lang="en-US" sz="1200" dirty="0">
                <a:solidFill>
                  <a:srgbClr val="000000"/>
                </a:solidFill>
              </a:rPr>
              <a:t>.</a:t>
            </a:r>
            <a:endParaRPr lang="en-US" sz="1200" dirty="0"/>
          </a:p>
          <a:p>
            <a:pPr algn="ctr" indent="0" marL="0">
              <a:buNone/>
            </a:pPr>
            <a:r>
              <a:rPr lang="en-US" sz="1200" i="1" dirty="0">
                <a:solidFill>
                  <a:srgbClr val="888888"/>
                </a:solidFill>
              </a:rPr>
              <a:t>n = 3 vs n = 2 - directional finding, not a hypothesis test.</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Extension: Agent Traces</a:t>
            </a:r>
            <a:endParaRPr lang="en-US" sz="3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lIns="0" tIns="0" rIns="0" bIns="0" rtlCol="0" anchor="ctr"/>
          <a:lstStyle/>
          <a:p>
            <a:pPr algn="ctr" indent="0" marL="0">
              <a:buNone/>
            </a:pPr>
            <a:r>
              <a:rPr lang="en-US" sz="2400" b="1" dirty="0">
                <a:solidFill>
                  <a:srgbClr val="000000"/>
                </a:solidFill>
              </a:rPr>
              <a:t>Tool doesn't transfer cleanly to agent traces</a:t>
            </a:r>
            <a:endParaRPr lang="en-US" sz="2400" dirty="0"/>
          </a:p>
        </p:txBody>
      </p:sp>
      <p:sp>
        <p:nvSpPr>
          <p:cNvPr id="3" name="Text 1"/>
          <p:cNvSpPr/>
          <p:nvPr/>
        </p:nvSpPr>
        <p:spPr>
          <a:xfrm>
            <a:off x="457200" y="640080"/>
            <a:ext cx="8229600" cy="274320"/>
          </a:xfrm>
          <a:prstGeom prst="rect">
            <a:avLst/>
          </a:prstGeom>
          <a:noFill/>
          <a:ln/>
        </p:spPr>
        <p:txBody>
          <a:bodyPr wrap="square" rtlCol="0" anchor="ctr"/>
          <a:lstStyle/>
          <a:p>
            <a:pPr algn="ctr" indent="0" marL="0">
              <a:buNone/>
            </a:pPr>
            <a:r>
              <a:rPr lang="en-US" sz="1100" i="1" dirty="0">
                <a:solidFill>
                  <a:srgbClr val="555555"/>
                </a:solidFill>
              </a:rPr>
              <a:t>48 sessions, 8 agents (Claude / GPT / Gemini × Claude Code / OpenCode / Cursor CLI), same playbook as the user study.</a:t>
            </a:r>
            <a:endParaRPr lang="en-US" sz="1100" dirty="0"/>
          </a:p>
        </p:txBody>
      </p:sp>
      <p:graphicFrame>
        <p:nvGraphicFramePr>
          <p:cNvPr id="4" name="Chart 0" descr=""/>
          <p:cNvGraphicFramePr/>
          <p:nvPr/>
        </p:nvGraphicFramePr>
        <p:xfrm>
          <a:off x="274320" y="1051560"/>
          <a:ext cx="420624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251960" cy="914400"/>
        </p:xfrm>
        <a:graphic>
          <a:graphicData uri="http://schemas.openxmlformats.org/drawingml/2006/table">
            <a:tbl>
              <a:tblPr/>
              <a:tblGrid>
                <a:gridCol w="1417320"/>
                <a:gridCol w="502920"/>
                <a:gridCol w="2331720"/>
              </a:tblGrid>
              <a:tr h="457200">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DPs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Why under-fires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Manual-Refactor</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b="1" dirty="0">
                          <a:solidFill>
                            <a:srgbClr val="0A7D2A"/>
                          </a:solidFill>
                          <a:latin typeface="Calibri" pitchFamily="34" charset="0"/>
                          <a:ea typeface="Calibri" pitchFamily="34" charset="-122"/>
                          <a:cs typeface="Calibri" pitchFamily="34" charset="-120"/>
                        </a:rPr>
                        <a:t>41</a:t>
                      </a:r>
                      <a:endParaRPr lang="en-US" sz="16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text edits, not IDE menu</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Hygiene</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batched commits don't trip threshold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Rework</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edit bursts collapse to one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Ordering</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same burst-collapse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6" name="Text 2"/>
          <p:cNvSpPr/>
          <p:nvPr/>
        </p:nvSpPr>
        <p:spPr>
          <a:xfrm>
            <a:off x="457200" y="3931920"/>
            <a:ext cx="8229600" cy="1097280"/>
          </a:xfrm>
          <a:prstGeom prst="rect">
            <a:avLst/>
          </a:prstGeom>
          <a:noFill/>
          <a:ln/>
        </p:spPr>
        <p:txBody>
          <a:bodyPr wrap="square" lIns="50800" tIns="50800" rIns="50800" bIns="50800" rtlCol="0" anchor="t"/>
          <a:lstStyle/>
          <a:p>
            <a:pPr algn="ctr" indent="0" marL="0">
              <a:buNone/>
            </a:pPr>
            <a:r>
              <a:rPr lang="en-US" sz="1200" b="1" dirty="0">
                <a:solidFill>
                  <a:srgbClr val="000000"/>
                </a:solidFill>
              </a:rPr>
              <a:t>Score is blind to the difference: </a:t>
            </a:r>
            <a:pPr algn="ctr" indent="0" marL="0">
              <a:buNone/>
            </a:pPr>
            <a:r>
              <a:rPr lang="en-US" sz="1200" dirty="0">
                <a:solidFill>
                  <a:srgbClr val="000000"/>
                </a:solidFill>
              </a:rPr>
              <a:t>feedback ΔJ </a:t>
            </a:r>
            <a:pPr algn="ctr" indent="0" marL="0">
              <a:buNone/>
            </a:pPr>
            <a:r>
              <a:rPr lang="en-US" sz="1200" b="1" dirty="0">
                <a:solidFill>
                  <a:srgbClr val="0000CD"/>
                </a:solidFill>
              </a:rPr>
              <a:t>+3.0</a:t>
            </a:r>
            <a:pPr algn="ctr" indent="0" marL="0">
              <a:buNone/>
            </a:pPr>
            <a:r>
              <a:rPr lang="en-US" sz="1200" dirty="0">
                <a:solidFill>
                  <a:srgbClr val="000000"/>
                </a:solidFill>
              </a:rPr>
              <a:t> vs baseline </a:t>
            </a:r>
            <a:pPr algn="ctr" indent="0" marL="0">
              <a:buNone/>
            </a:pPr>
            <a:r>
              <a:rPr lang="en-US" sz="1200" b="1" dirty="0">
                <a:solidFill>
                  <a:srgbClr val="B25500"/>
                </a:solidFill>
              </a:rPr>
              <a:t>+6.5</a:t>
            </a:r>
            <a:pPr algn="ctr" indent="0" marL="0">
              <a:spcAft>
                <a:spcPts val="600"/>
              </a:spcAft>
              <a:buNone/>
            </a:pPr>
            <a:r>
              <a:rPr lang="en-US" sz="1200" dirty="0">
                <a:solidFill>
                  <a:srgbClr val="000000"/>
                </a:solidFill>
              </a:rPr>
              <a:t>. Yet 5 of 6 agents wrote explicit "I'll do X next session" plans citing prior warnings - the detectors just can't see those changes happen.</a:t>
            </a:r>
            <a:endParaRPr lang="en-US" sz="1200" dirty="0"/>
          </a:p>
          <a:p>
            <a:pPr algn="ctr" indent="0" marL="0">
              <a:buNone/>
            </a:pPr>
            <a:r>
              <a:rPr lang="en-US" sz="1200" i="1" dirty="0">
                <a:solidFill>
                  <a:srgbClr val="888888"/>
                </a:solidFill>
              </a:rPr>
              <a:t>Scope limit by design - adapting detectors for agent traces is future work.</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Conclusion</a:t>
            </a:r>
            <a:endParaRPr lang="en-US" sz="2800" dirty="0"/>
          </a:p>
        </p:txBody>
      </p:sp>
      <p:sp>
        <p:nvSpPr>
          <p:cNvPr id="3" name="Text 1"/>
          <p:cNvSpPr/>
          <p:nvPr/>
        </p:nvSpPr>
        <p:spPr>
          <a:xfrm>
            <a:off x="457200" y="1005840"/>
            <a:ext cx="8229600" cy="777240"/>
          </a:xfrm>
          <a:prstGeom prst="rect">
            <a:avLst/>
          </a:prstGeom>
          <a:noFill/>
          <a:ln/>
        </p:spPr>
        <p:txBody>
          <a:bodyPr wrap="square" rtlCol="0" anchor="ctr"/>
          <a:lstStyle/>
          <a:p>
            <a:pPr algn="ctr" indent="0" marL="0">
              <a:buNone/>
            </a:pPr>
            <a:r>
              <a:rPr lang="en-US" sz="1500" i="1" dirty="0">
                <a:solidFill>
                  <a:srgbClr val="0000CD"/>
                </a:solidFill>
              </a:rPr>
              <a:t>Process-aware refactoring evaluation is tractable, and a small randomised study gives directional evidence that feedback improves measured process discipline.</a:t>
            </a:r>
            <a:endParaRPr lang="en-US" sz="1500" dirty="0"/>
          </a:p>
        </p:txBody>
      </p:sp>
      <p:sp>
        <p:nvSpPr>
          <p:cNvPr id="4" name="Text 2"/>
          <p:cNvSpPr/>
          <p:nvPr/>
        </p:nvSpPr>
        <p:spPr>
          <a:xfrm>
            <a:off x="457200" y="1920240"/>
            <a:ext cx="8229600" cy="265176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A process-quality metric on </a:t>
            </a:r>
            <a:pPr indent="0" marL="0">
              <a:spcAft>
                <a:spcPts val="600"/>
              </a:spcAft>
              <a:buNone/>
            </a:pPr>
            <a:r>
              <a:rPr lang="en-US" sz="1600" i="1" dirty="0">
                <a:solidFill>
                  <a:srgbClr val="000000"/>
                </a:solidFill>
              </a:rPr>
              <a:t>arbitrary sessions</a:t>
            </a:r>
            <a:pPr indent="0" marL="0">
              <a:spcAft>
                <a:spcPts val="600"/>
              </a:spcAft>
              <a:buNone/>
            </a:pPr>
            <a:r>
              <a:rPr lang="en-US" sz="1600" dirty="0">
                <a:solidFill>
                  <a:srgbClr val="000000"/>
                </a:solidFill>
              </a:rPr>
              <a:t> combining endpoint, process, and safety signals in one principled score.</a:t>
            </a:r>
            <a:endParaRPr lang="en-US" sz="1600" dirty="0"/>
          </a:p>
          <a:p>
            <a:pPr marL="342900" indent="-342900">
              <a:spcAft>
                <a:spcPts val="600"/>
              </a:spcAft>
              <a:buSzPct val="100000"/>
              <a:buChar char="•"/>
            </a:pPr>
            <a:r>
              <a:rPr lang="en-US" sz="1600" dirty="0">
                <a:solidFill>
                  <a:srgbClr val="000000"/>
                </a:solidFill>
              </a:rPr>
              <a:t>A divergence-point detector with four actionable kinds, each with a per-kind synthesiser that constructs a concrete alternative trajectory.</a:t>
            </a:r>
            <a:endParaRPr lang="en-US" sz="1600" dirty="0"/>
          </a:p>
          <a:p>
            <a:pPr marL="342900" indent="-342900">
              <a:spcAft>
                <a:spcPts val="600"/>
              </a:spcAft>
              <a:buSzPct val="100000"/>
              <a:buChar char="•"/>
            </a:pPr>
            <a:r>
              <a:rPr lang="en-US" sz="1600" dirty="0">
                <a:solidFill>
                  <a:srgbClr val="000000"/>
                </a:solidFill>
              </a:rPr>
              <a:t>Three datasets -45 injection sessions, 30-session user study, 48-session agent extension - with reproducible analysis (Jupyter notebook reproduces every table and figure).</a:t>
            </a:r>
            <a:endParaRPr lang="en-US" sz="1600" dirty="0"/>
          </a:p>
          <a:p>
            <a:pPr marL="342900" indent="-342900">
              <a:spcAft>
                <a:spcPts val="600"/>
              </a:spcAft>
              <a:buSzPct val="100000"/>
              <a:buChar char="•"/>
            </a:pPr>
            <a:r>
              <a:rPr lang="en-US" sz="1600" dirty="0">
                <a:solidFill>
                  <a:srgbClr val="000000"/>
                </a:solidFill>
              </a:rPr>
              <a:t>A working end-to-end research prototype: IntelliJ plugin, analysis backend, and dashboard.</a:t>
            </a:r>
            <a:endParaRPr lang="en-US" sz="1600" dirty="0"/>
          </a:p>
        </p:txBody>
      </p:sp>
      <p:sp>
        <p:nvSpPr>
          <p:cNvPr id="5" name="Text 3"/>
          <p:cNvSpPr/>
          <p:nvPr/>
        </p:nvSpPr>
        <p:spPr>
          <a:xfrm>
            <a:off x="457200" y="4617720"/>
            <a:ext cx="8229600" cy="457200"/>
          </a:xfrm>
          <a:prstGeom prst="rect">
            <a:avLst/>
          </a:prstGeom>
          <a:noFill/>
          <a:ln/>
        </p:spPr>
        <p:txBody>
          <a:bodyPr wrap="square" lIns="0" tIns="0" rIns="0" bIns="0" rtlCol="0" anchor="ctr"/>
          <a:lstStyle/>
          <a:p>
            <a:pPr algn="ctr" indent="0" marL="0">
              <a:buNone/>
            </a:pPr>
            <a:r>
              <a:rPr lang="en-US" sz="1100" b="1" i="1" dirty="0">
                <a:solidFill>
                  <a:srgbClr val="888888"/>
                </a:solidFill>
              </a:rPr>
              <a:t>Not yet established: </a:t>
            </a:r>
            <a:pPr algn="ctr" indent="0" marL="0">
              <a:buNone/>
            </a:pPr>
            <a:r>
              <a:rPr lang="en-US" sz="1100" i="1" dirty="0">
                <a:solidFill>
                  <a:srgbClr val="888888"/>
                </a:solidFill>
              </a:rPr>
              <a:t>externally calibrated measure of refactoring quality, statistically conclusive behavioural effect, or generalisation beyond Java / IntelliJ / human traces.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Before-and-After: Process-Quality Evaluation of Refactoring Sessions</dc:title>
  <dc:subject>PptxGenJS Presentation</dc:subject>
  <dc:creator>Ethan Hosier</dc:creator>
  <cp:lastModifiedBy>Ethan Hosier</cp:lastModifiedBy>
  <cp:revision>1</cp:revision>
  <dcterms:created xsi:type="dcterms:W3CDTF">2026-06-21T18:12:47Z</dcterms:created>
  <dcterms:modified xsi:type="dcterms:W3CDTF">2026-06-21T18:12:47Z</dcterms:modified>
</cp:coreProperties>
</file>