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Beyond Before-and-After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Process-Quality Evaluation of Refactoring Sessions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</a:rPr>
              <a:t>Scoring the path a developer takes through a refactoring session, and pointing to where a better path existed.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Ethan Hosier  ·  Imperial College London  ·  Department of Computing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</a:rPr>
              <a:t>Supervisor: [Robert Chatley]  ·  Second marker: [Cristian Cadar]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Same destination, different journeys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Two developers refactor the same code and arrive at the same final state.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Developer A: ran tests, committed checkpoints, used IDE refactorings.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Developer B: broke the build twice, added then removed 80 lines, hand-edited what the IDE could do safely.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Which one would you want on your team?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Endpoint-only evaluation cannot tell them apart.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What's missing in prior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Endpoint quality metrics (CK, smells, readability): compare before vs after, ignore the path taken.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Refactoring recommenders / sequence generators: produce new sequences, but do not evaluate the one the developer actually walked.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Gap: no system scores an arbitrary observed refactoring session against an explicit process-quality metric, and shows where a better path was available.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This is the gap the project fills.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Narrowing the design 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Evaluating refactoring as a process is a wide, mostly-unexplored design space. Four requirements shaped what we built.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Quantifiable + comparable score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- one number per trajectory so sessions can be compared.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Builds on composite quality models (Quamoco, QMOOD), adapted from snapshot- to trajectory-level.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Seamless, in-workflow capture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- zero extra developer effort to use the tool.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IDE-event logging is a known-feasible approach (Damevski et al., CodeWatcher).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Actionable, moment-specific feedback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- point to a specific moment AND a "what you could have done instead" alternative.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Inverts prior refactoring recommenders (ReSynth, Refactoring Navigator, search-based refactoring): the synthesised sequence becomes the comparison point against an observed trace.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Efficient alternative synthesis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- the state-action space over a real codebase is too large to enumerate, so we must find efficient methods of identifying "better" alternatives.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Desired outcome: a comparable counterfactual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Given those four requirements, the concrete thing we wanted the tool to produce, for any recorded session: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Solid line - the user's actual trajectory through code states.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Dashed line - synthesised alternative; same start, same finish, measurably higher J(τ).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Divergence point marks where the two paths split; ΔJ quantifies the gap.</a:t>
            </a:r>
            <a:endParaRPr lang="en-US" sz="1600" dirty="0"/>
          </a:p>
        </p:txBody>
      </p:sp>
      <p:pic>
        <p:nvPicPr>
          <p:cNvPr id="4" name="Image 0" descr="images/divergence-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697480"/>
            <a:ext cx="3840480" cy="2276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Demo (part 1): live capture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</a:rPr>
              <a:t>I'll start a short live refactoring session. The tool will analyse it in the background while we walk through the methodology.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the tool does, end to 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IntelliJ plugin: records every edit, refactoring, build, test, and commit during a session.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Analysis backend: reconstructs the trajectory, scores it, and detects divergence points.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Dashboard: surfaces where you diverged, an alternative path, how much better it scores, and why.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2788920"/>
            <a:ext cx="2377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IntelliJ Plugin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82880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7033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Records developer events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Captures initial codebase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788920"/>
            <a:ext cx="2377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Analysis Backend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0" y="3520440"/>
            <a:ext cx="182880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7033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Shadow repo reconstruction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Metric calculation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Divergence synthesis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788920"/>
            <a:ext cx="2377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3520440"/>
            <a:ext cx="182880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7033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Surfaces divergence points in context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Explains alternative paths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3840480"/>
            <a:ext cx="822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5146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events.jsonl + initial-src/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840480"/>
            <a:ext cx="822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7150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analysis-report.json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Scoring a trajectory: J(τ)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J(τ)  =  clip</a:t>
            </a:r>
            <a:pPr algn="ctr" indent="0" marL="0">
              <a:buNone/>
            </a:pPr>
            <a:r>
              <a:rPr lang="en-US" sz="2200" baseline="-40000" dirty="0">
                <a:solidFill>
                  <a:srgbClr val="000000"/>
                </a:solidFill>
              </a:rPr>
              <a:t>[0,100]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 (    50    </a:t>
            </a:r>
            <a:pPr algn="ctr" indent="0" marL="0">
              <a:buNone/>
            </a:pPr>
            <a:r>
              <a:rPr lang="en-US" sz="2200" i="1" dirty="0">
                <a:solidFill>
                  <a:srgbClr val="777777"/>
                </a:solidFill>
              </a:rPr>
              <a:t>(baseline)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   +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1874520"/>
          <a:ext cx="4389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A7D2A"/>
                          </a:solidFill>
                        </a:rPr>
                        <a:t>+50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cleanliness gain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A7D2A"/>
                          </a:solidFill>
                        </a:rPr>
                        <a:t>+11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step-savings bonus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33A1E"/>
                          </a:solidFill>
                        </a:rPr>
                        <a:t>−28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broken build / test rate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33A1E"/>
                          </a:solidFill>
                        </a:rPr>
                        <a:t>−14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skipped-test rate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33A1E"/>
                          </a:solidFill>
                        </a:rPr>
                        <a:t>−11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manual edits the IDE could refactor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33A1E"/>
                          </a:solidFill>
                        </a:rPr>
                        <a:t>−11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intermediate-state lag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33A1E"/>
                          </a:solidFill>
                        </a:rPr>
                        <a:t>−7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55555"/>
                          </a:solidFill>
                        </a:rPr>
                        <a:t>×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commit-gap events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cleanliness sub-score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Six equally-weighted code-quality signals.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Cognitive complexity, coupling (CBO), duplication (CPD), readability, code smells (PMD), cohesion (TCC).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Normalised against the trajectory's own range, so different sessions are comparable.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Equal weights are justified: no trajectory-level calibration data exists, so equal weights are the least-assumptive choice.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Four kinds of divergence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Four categories of process waste - each fitting the four requirements: detectable from the event stream, actionable for the developer, synthesisable as a concrete alternative.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Ordering - right refactorings, wrong sequence.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Manual-Refactor - wrong tool (hand-edit when the IDE could safely have done it).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Rework - wrong churn (added then removed).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Hygiene - missing safety checkpoints (no tests, no commits).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kind gets its own slide next, covering both detection and synthesis.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Ordering: detect + synthesise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What: the right refactorings, performed in a suboptimal order - final state is fine, intermediate states are worse than they needed to be.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Detect: find a subsequence of refactorings whose reordering still validates to the user's terminal state (canonical AST hash, formatting/comments ignored).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Synthesise: build a dependency DAG over the refactorings in the window.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Prefix-trie DFS over valid topological orderings - shares work across common prefixes, rolls back with git checkout on backtrack.</a:t>
            </a:r>
            <a:endParaRPr lang="en-US" sz="1400" dirty="0"/>
          </a:p>
        </p:txBody>
      </p:sp>
      <p:pic>
        <p:nvPicPr>
          <p:cNvPr id="4" name="Image 0" descr="images/reorder-syn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017520"/>
            <a:ext cx="548640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Manual-Refactor: detect + synthesise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What: developer hand-edited something the IDE could have done safely (and with its precondition checks).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Detect: run RefactoringMiner on sliding commit windows; cross-check against the IDE event stream — anything RefactoringMiner finds that the IDE did not emit is a manual refactoring.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Synthesise: apply the equivalent IDE refactoring, then three-way merge the user's other edits back on top.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Wrap-and-patch layer reconciles minor JDT ↔ IntelliJ AST differences (e.g. static modifiers, variable liveness).</a:t>
            </a:r>
            <a:endParaRPr lang="en-US" sz="1300" dirty="0"/>
          </a:p>
        </p:txBody>
      </p:sp>
      <p:pic>
        <p:nvPicPr>
          <p:cNvPr id="4" name="Image 0" descr="images/manual-re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80360"/>
            <a:ext cx="6217920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Rework: detect + synthesise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What: code added and later removed (or vice versa) - net-zero churn, but real cost while it was there.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Detect: hash normalised lines; pair add/remove events by (file, scope, content-hash).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Synthesise: strip both halves from the trajectory; replay the rest of the user's edits unchanged; validate the terminal state matches.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Simplest of the four synthesisers, but high recall - precision and recall both 1.00 on the injection set.</a:t>
            </a:r>
            <a:endParaRPr lang="en-US" sz="1300" dirty="0"/>
          </a:p>
        </p:txBody>
      </p:sp>
      <p:pic>
        <p:nvPicPr>
          <p:cNvPr id="4" name="Image 0" descr="images/r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834640"/>
            <a:ext cx="4389120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Hygiene: detect + synthesise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What: long stretches of work without safety checkpoints - no test runs, no commits.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Detect: 60-second windows with no test-run events; commit-gap events when commits are spaced beyond threshold.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Synthesise: model an alternative cadence that inserts test-run and commit events at the right points.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alternative's J(τ) credits those checkpoints via the skip-tests and commit-gap terms.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Cheap to compute, but consistently surfaces meaningful divergences in the user study.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Comparable divergence magnitudes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Magnitude = J(τ*_final) − J(τ_final).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score gap when the alternative is substituted at the divergence point but the rest of the user's trajectory is left unchanged.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Makes magnitudes comparable across all four divergence kinds.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Lets the dashboard surface each divergence point alongside its score impact, so the highest-impact moments are easy to spot in the session summary.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This is the number the demo will point at.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Demo (part 2): results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</a:rPr>
              <a:t>Now the live session has been analysed: walk through the divergence points the tool found, then show a higher-scoring alternative I prepared earlier.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we wanted to evaluate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Answered by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Is the tool accurate? Does it detect real divergences without false positives?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</a:rPr>
                        <a:t>45 labelled injection sessions, scored against per-kind precision and recall (Slide 18).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Is the process score reliable? Does the ranking hold up when the weights are perturbed?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</a:rPr>
                        <a:t>Injection set + user-study rankable subset, used for the sensitivity sweep and ablation study (Slide 19).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Does the tool change developer behaviour? Fewer divergences over time when feedback is shown?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</a:rPr>
                        <a:t>30-session randomised user study, plus a 48-session agent extension as motivation for future work (Slide 20).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Detector precision &amp; recall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Precision = 1.00 across all four divergence kinds - every detection is valid.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Recall - Rework 1.00, Hygiene 1.00, Manual-Refactor 0.76, Ordering 0.40.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Inter-rater agreement (Cohen's κ) -1.00 for Ordering and Manual-Refactor, 0.86 for Rework, 0.72 for Hygiene.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Ordering recall gap is honest and explained: the synthesiser rejects windows it cannot safely reproduce. A scope limit, not a detector flaw.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Score robustness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Single-knob sensitivity sweep: scale any one weight by {0.1×–10×}, top-1 recommendation is preserved in 96.5% of user-study cases.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Multi-knob Monte Carlo (200 samples): top-1 stability drops to 84.6%; mean Kendall τ = 0.586.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Honest framing - stable near the chosen weights, less stable under arbitrary joint perturbations.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Ablation confirms each process term contributes real signal; endpoint gain alone does not recover the ranking.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User study: does feedback change behaviour?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With-feedback group: 2.7 divergence points per session.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No-feedback baseline: 6.0 divergence points per session -2.2× difference.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Gain-stripped process-score slope across the 6-session arc -+4.47 per session with feedback, −0.40 per session without.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Caveat: n=3 vs n=2 is directional evidence, not a hypothesis test.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 process-quality metric J(τ) combining endpoint, process, and safety signals in one principled score.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 divergence-point detector with four actionable kinds, each with a per-kind synthesiser that constructs a concrete alternative trajectory.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Three datasets -45 injection sessions, 30-session user study, 48-session agent extension - with reproducible analysis (Jupyter notebook reproduces every table and figure).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 deployable end-to-end system: IntelliJ plugin, analysis backend, and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000000"/>
                </a:solidFill>
              </a:rPr>
              <a:t>Refactoring quality isn't just about where you end up - it's about the path you walked to get there.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This work makes that path measurable, comparable, and improvable.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Thank you - happy to take questions.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Before-and-After: Process-Quality Evaluation of Refactoring Sessions</dc:title>
  <dc:subject>PptxGenJS Presentation</dc:subject>
  <dc:creator>Ethan Hosier</dc:creator>
  <cp:lastModifiedBy>Ethan Hosier</cp:lastModifiedBy>
  <cp:revision>1</cp:revision>
  <dcterms:created xsi:type="dcterms:W3CDTF">2026-06-19T01:04:28Z</dcterms:created>
  <dcterms:modified xsi:type="dcterms:W3CDTF">2026-06-19T01:04:28Z</dcterms:modified>
</cp:coreProperties>
</file>